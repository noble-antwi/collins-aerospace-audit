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74"/>
  </p:notesMasterIdLst>
  <p:sldIdLst>
    <p:sldId id="256" r:id="rId2"/>
    <p:sldId id="257" r:id="rId3"/>
    <p:sldId id="263" r:id="rId4"/>
    <p:sldId id="259" r:id="rId5"/>
    <p:sldId id="265" r:id="rId6"/>
    <p:sldId id="264" r:id="rId7"/>
    <p:sldId id="261" r:id="rId8"/>
    <p:sldId id="267" r:id="rId9"/>
    <p:sldId id="269" r:id="rId10"/>
    <p:sldId id="270" r:id="rId11"/>
    <p:sldId id="271" r:id="rId12"/>
    <p:sldId id="272" r:id="rId13"/>
    <p:sldId id="274" r:id="rId14"/>
    <p:sldId id="275" r:id="rId15"/>
    <p:sldId id="276" r:id="rId16"/>
    <p:sldId id="277" r:id="rId17"/>
    <p:sldId id="278" r:id="rId18"/>
    <p:sldId id="280" r:id="rId19"/>
    <p:sldId id="281" r:id="rId20"/>
    <p:sldId id="282" r:id="rId21"/>
    <p:sldId id="283" r:id="rId22"/>
    <p:sldId id="284" r:id="rId23"/>
    <p:sldId id="285" r:id="rId24"/>
    <p:sldId id="286" r:id="rId25"/>
    <p:sldId id="288" r:id="rId26"/>
    <p:sldId id="289" r:id="rId27"/>
    <p:sldId id="287" r:id="rId28"/>
    <p:sldId id="290" r:id="rId29"/>
    <p:sldId id="291" r:id="rId30"/>
    <p:sldId id="292" r:id="rId31"/>
    <p:sldId id="293" r:id="rId32"/>
    <p:sldId id="294" r:id="rId33"/>
    <p:sldId id="295" r:id="rId34"/>
    <p:sldId id="296" r:id="rId35"/>
    <p:sldId id="297" r:id="rId36"/>
    <p:sldId id="298" r:id="rId37"/>
    <p:sldId id="299" r:id="rId38"/>
    <p:sldId id="300" r:id="rId39"/>
    <p:sldId id="301" r:id="rId40"/>
    <p:sldId id="302" r:id="rId41"/>
    <p:sldId id="303" r:id="rId42"/>
    <p:sldId id="304" r:id="rId43"/>
    <p:sldId id="305" r:id="rId44"/>
    <p:sldId id="306" r:id="rId45"/>
    <p:sldId id="307" r:id="rId46"/>
    <p:sldId id="308" r:id="rId47"/>
    <p:sldId id="309" r:id="rId48"/>
    <p:sldId id="310" r:id="rId49"/>
    <p:sldId id="311" r:id="rId50"/>
    <p:sldId id="313" r:id="rId51"/>
    <p:sldId id="314" r:id="rId52"/>
    <p:sldId id="315" r:id="rId53"/>
    <p:sldId id="316" r:id="rId54"/>
    <p:sldId id="317" r:id="rId55"/>
    <p:sldId id="318" r:id="rId56"/>
    <p:sldId id="319" r:id="rId57"/>
    <p:sldId id="320" r:id="rId58"/>
    <p:sldId id="321" r:id="rId59"/>
    <p:sldId id="322" r:id="rId60"/>
    <p:sldId id="323" r:id="rId61"/>
    <p:sldId id="324" r:id="rId62"/>
    <p:sldId id="325" r:id="rId63"/>
    <p:sldId id="326" r:id="rId64"/>
    <p:sldId id="327" r:id="rId65"/>
    <p:sldId id="328" r:id="rId66"/>
    <p:sldId id="329" r:id="rId67"/>
    <p:sldId id="330" r:id="rId68"/>
    <p:sldId id="331" r:id="rId69"/>
    <p:sldId id="332" r:id="rId70"/>
    <p:sldId id="333" r:id="rId71"/>
    <p:sldId id="334" r:id="rId72"/>
    <p:sldId id="335" r:id="rId73"/>
  </p:sldIdLst>
  <p:sldSz cx="9144000" cy="5143500" type="screen16x9"/>
  <p:notesSz cx="6858000" cy="9144000"/>
  <p:embeddedFontLst>
    <p:embeddedFont>
      <p:font typeface="Roboto" panose="02000000000000000000" pitchFamily="2" charset="0"/>
      <p:regular r:id="rId75"/>
      <p:bold r:id="rId76"/>
      <p:italic r:id="rId77"/>
      <p:boldItalic r:id="rId7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02CACD29-2917-4CC0-AED2-2CBBCAF19980}">
  <a:tblStyle styleId="{02CACD29-2917-4CC0-AED2-2CBBCAF19980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77845" autoAdjust="0"/>
  </p:normalViewPr>
  <p:slideViewPr>
    <p:cSldViewPr snapToGrid="0">
      <p:cViewPr varScale="1">
        <p:scale>
          <a:sx n="98" d="100"/>
          <a:sy n="98" d="100"/>
        </p:scale>
        <p:origin x="1018" y="77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notesMaster" Target="notesMasters/notesMaster1.xml"/><Relationship Id="rId79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openxmlformats.org/officeDocument/2006/relationships/tableStyles" Target="tableStyle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font" Target="fonts/font3.fntdata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font" Target="fonts/font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font" Target="fonts/font4.fntdata"/><Relationship Id="rId8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font" Target="fonts/font2.fntdata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c6f919934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c6f919934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c6f919934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c6f919934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711240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c6f919934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c6f919934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>
          <a:extLst>
            <a:ext uri="{FF2B5EF4-FFF2-40B4-BE49-F238E27FC236}">
              <a16:creationId xmlns:a16="http://schemas.microsoft.com/office/drawing/2014/main" id="{6E0E1E65-D950-8A5F-01DC-21F64D66B9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c6f919934_0_15:notes">
            <a:extLst>
              <a:ext uri="{FF2B5EF4-FFF2-40B4-BE49-F238E27FC236}">
                <a16:creationId xmlns:a16="http://schemas.microsoft.com/office/drawing/2014/main" id="{91D6B68F-A068-63EB-5F29-3908857CACD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c6f919934_0_15:notes">
            <a:extLst>
              <a:ext uri="{FF2B5EF4-FFF2-40B4-BE49-F238E27FC236}">
                <a16:creationId xmlns:a16="http://schemas.microsoft.com/office/drawing/2014/main" id="{E8016D38-9622-A4E3-F7F3-A128516C6F1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16454087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>
          <a:extLst>
            <a:ext uri="{FF2B5EF4-FFF2-40B4-BE49-F238E27FC236}">
              <a16:creationId xmlns:a16="http://schemas.microsoft.com/office/drawing/2014/main" id="{F2748091-B1BF-DF7A-720E-47D8CACE64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c6f919934_0_15:notes">
            <a:extLst>
              <a:ext uri="{FF2B5EF4-FFF2-40B4-BE49-F238E27FC236}">
                <a16:creationId xmlns:a16="http://schemas.microsoft.com/office/drawing/2014/main" id="{5E9D5C49-B30E-F5E0-1BF0-BFAC1E3832A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c6f919934_0_15:notes">
            <a:extLst>
              <a:ext uri="{FF2B5EF4-FFF2-40B4-BE49-F238E27FC236}">
                <a16:creationId xmlns:a16="http://schemas.microsoft.com/office/drawing/2014/main" id="{01DE6D91-A1F7-C239-E056-A9086802A1E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32915726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c6f919934_0_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c6f919934_0_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>
          <a:extLst>
            <a:ext uri="{FF2B5EF4-FFF2-40B4-BE49-F238E27FC236}">
              <a16:creationId xmlns:a16="http://schemas.microsoft.com/office/drawing/2014/main" id="{EFC530FB-5352-A8A2-515B-DD28A29AEB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c6f919934_0_24:notes">
            <a:extLst>
              <a:ext uri="{FF2B5EF4-FFF2-40B4-BE49-F238E27FC236}">
                <a16:creationId xmlns:a16="http://schemas.microsoft.com/office/drawing/2014/main" id="{CE082CFE-8BF3-9E78-A2F4-62A6586962C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c6f919934_0_24:notes">
            <a:extLst>
              <a:ext uri="{FF2B5EF4-FFF2-40B4-BE49-F238E27FC236}">
                <a16:creationId xmlns:a16="http://schemas.microsoft.com/office/drawing/2014/main" id="{2D01DDFD-CF0E-0289-D7C8-A51F02DF37C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58526654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>
          <a:extLst>
            <a:ext uri="{FF2B5EF4-FFF2-40B4-BE49-F238E27FC236}">
              <a16:creationId xmlns:a16="http://schemas.microsoft.com/office/drawing/2014/main" id="{5C0270D3-6D7E-9446-913E-5FBA310A75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c6f919934_0_5:notes">
            <a:extLst>
              <a:ext uri="{FF2B5EF4-FFF2-40B4-BE49-F238E27FC236}">
                <a16:creationId xmlns:a16="http://schemas.microsoft.com/office/drawing/2014/main" id="{A51214F7-65B6-BEA8-C0FB-0CBCB64A30C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c6f919934_0_5:notes">
            <a:extLst>
              <a:ext uri="{FF2B5EF4-FFF2-40B4-BE49-F238E27FC236}">
                <a16:creationId xmlns:a16="http://schemas.microsoft.com/office/drawing/2014/main" id="{43CE1759-4C4B-D8C5-7B6F-509DB81FABA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1421124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>
          <a:extLst>
            <a:ext uri="{FF2B5EF4-FFF2-40B4-BE49-F238E27FC236}">
              <a16:creationId xmlns:a16="http://schemas.microsoft.com/office/drawing/2014/main" id="{4ED67B9B-8BF5-0DC9-FD7F-13D2E1C7B2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c6f919934_0_5:notes">
            <a:extLst>
              <a:ext uri="{FF2B5EF4-FFF2-40B4-BE49-F238E27FC236}">
                <a16:creationId xmlns:a16="http://schemas.microsoft.com/office/drawing/2014/main" id="{865F8DA5-4ED2-D5EB-58B0-D800509FE9C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c6f919934_0_5:notes">
            <a:extLst>
              <a:ext uri="{FF2B5EF4-FFF2-40B4-BE49-F238E27FC236}">
                <a16:creationId xmlns:a16="http://schemas.microsoft.com/office/drawing/2014/main" id="{183E9B8F-A7FC-B226-91E7-50708B7685D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5159899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>
          <a:extLst>
            <a:ext uri="{FF2B5EF4-FFF2-40B4-BE49-F238E27FC236}">
              <a16:creationId xmlns:a16="http://schemas.microsoft.com/office/drawing/2014/main" id="{B6184E1C-D36B-9C81-1EB4-D4716EF645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c6f919934_0_5:notes">
            <a:extLst>
              <a:ext uri="{FF2B5EF4-FFF2-40B4-BE49-F238E27FC236}">
                <a16:creationId xmlns:a16="http://schemas.microsoft.com/office/drawing/2014/main" id="{05755666-077F-5E14-96C1-34408892FE8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c6f919934_0_5:notes">
            <a:extLst>
              <a:ext uri="{FF2B5EF4-FFF2-40B4-BE49-F238E27FC236}">
                <a16:creationId xmlns:a16="http://schemas.microsoft.com/office/drawing/2014/main" id="{76AFD03E-F65C-E1B0-7FFA-9E5FA3939FA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66260947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>
          <a:extLst>
            <a:ext uri="{FF2B5EF4-FFF2-40B4-BE49-F238E27FC236}">
              <a16:creationId xmlns:a16="http://schemas.microsoft.com/office/drawing/2014/main" id="{3514B88B-F186-5E81-C3DD-5921F59EFD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c6f919934_0_5:notes">
            <a:extLst>
              <a:ext uri="{FF2B5EF4-FFF2-40B4-BE49-F238E27FC236}">
                <a16:creationId xmlns:a16="http://schemas.microsoft.com/office/drawing/2014/main" id="{96604E90-778C-D189-AEC9-731DBB43DC8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c6f919934_0_5:notes">
            <a:extLst>
              <a:ext uri="{FF2B5EF4-FFF2-40B4-BE49-F238E27FC236}">
                <a16:creationId xmlns:a16="http://schemas.microsoft.com/office/drawing/2014/main" id="{77C335BA-5754-7D04-FFF7-1EA0DD53464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56247995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902546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259327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539093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517013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940155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55468A-8F05-6770-8329-75E5DA1E04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3E53D89-A391-5C0D-C46E-9787C43400F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77D08C7-B599-3146-0E69-A94BB52FCEB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8155921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459815-4E7C-0046-14EF-1D644A5137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BF96E71-042D-6B19-8510-F8BF4F62D34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8A965A7-3F67-A4C9-8F10-4B35B6DF9DC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582761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D2CBF9-560F-27B2-1B3B-283CFDA91B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12424FF-A4F7-81F8-7325-462F019DDD9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3ECDF85-889D-32F4-B7A4-330FFAA0EF1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971371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359061-3641-C95B-D2D7-0CF99CA525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709FFB6-078E-B736-56EF-9738BA3D5BA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61E19CF-EC8D-8850-7BB4-1D28F6E3159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145869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068437-5726-469D-F424-1B915AC34B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5E982B6-9DF1-78AF-9497-919E2FDD025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15AFC7C-D0BE-4748-BC62-D3BD2C52F65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825930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3C1F43-008D-A382-5BA3-33FAA3FD53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10E7162-258D-A5C4-04B1-F1014CA2173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7CF93D9-C69E-F6AE-D700-150ED980782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5004315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303781-2905-1828-2C9A-039E98317E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4D422BA-4A27-958B-235A-6F3544728DF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89F1045-BCD5-1237-9B1E-E113053CA6E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5130904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BF3775-CE40-560C-57BC-B8AEF501DB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ABCB839-E1D0-7B6F-4BCA-C8FF41407FF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CF50C4A-252E-931B-00B5-A43294C12D8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74794584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A75E94-3988-AE9D-D45B-2B355EAFEA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8BA5ED0-F322-76FE-A12F-33CBCF7AC4E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0382795-94E6-10D4-68AE-93DD57FC19C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66768369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252CC4-7921-A9C5-3202-3832201FD1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BAEB8B6-0DFE-50A5-1C31-4D089AA3848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F1C2A14-18C4-5D70-428F-2432F262B79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8207098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74174A-448B-DFCD-4839-6D770CE472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44DCBCC-0BBE-03D5-9B39-21630E8D5EA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C64CEC5-A561-6D66-9713-0EDDE208F2B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2673076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94F742-EFF5-FFEB-12B4-313D4013F1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C945EF1-99F9-9D76-F97D-68ECAE9274A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827FA7B-7D07-C8BC-2910-6F25904F850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68019077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609464-076E-8BDA-CC0A-D55C382979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60B5385-0AB9-6A2A-75C1-C5CAE7E08DE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F8F6293-301A-D8E1-41C5-3F5CF14E76A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020745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3F56B8-ED91-32BC-39AD-4A38E56293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6213E8E-20CD-95BF-B96B-D22533EA331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500ACAC-FB93-CE2A-323C-E2A31E162C0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45435663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8EE361-F21A-F18A-F6D4-315C2F2229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0D9D7FA-D6DF-452C-B1F4-66BB2E36FCD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F82E602-857C-3551-DB42-6D6CE85F718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4442362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A17256-AE5F-F9C0-1D6D-A1DBDC463F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2E6FE3A-BB0B-D73F-FFAA-905D0CEF87A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69ADA5D-E2E7-8E77-FA0F-BF384CCBCD7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7895194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6784BA-D9D5-BC4A-4575-189B0E492B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B31365D-B565-7258-89FC-F75D300A0AB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D4F9792-EF42-619D-1DAF-12955236EC2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8242954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72B13C-4D4B-4769-7BD7-87E9E78ECC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822AAC6-0369-7B6C-F03D-A08815A4346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77EE4CB-8724-BEAB-CC49-4EE4CE7E92F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8430342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442E89-C495-1036-A2DC-ACAB7CC00D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8360F07-3AD8-E47B-8714-FBD551B5B08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985E45E-5A9B-C486-3B36-43BE7B073D9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220456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8BAB35-D508-6185-6293-83BA5957C7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48C8E81-FFC8-044E-5AE0-78A79C4D2A1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7A4681C-1D95-F134-730B-B85BD650110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6097608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18945C-0CC2-07B2-B292-B6F7BFB32F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6301CE4-9C09-1CC5-55F9-FAC7B0FFD81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99AAE88-5606-8CFF-9CF3-B25924E96E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4560753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0E83F9-F1E6-E87A-DF99-928B0053C2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129DD01-C71A-8F92-A033-CA0B36F75E7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E238BDF-3212-293E-BE8D-AA8D8A67620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3822647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3F7B86-2619-9F8E-B3F9-9A78FC35BE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1C6272A-198C-DAF6-E9C0-7B78DFF608F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7D2D97F-0DBD-D625-96EE-B17D0421FA5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0105199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CEF349-5D5F-6DB7-7662-C9A81CDEC8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56A8BAE-517C-2942-4AD0-11C76A0D05D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24F5553-9143-E2B9-8ADF-59E07AAA3D4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804887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48F762-4DA9-32EB-0402-CF910E9A59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3489517-19B0-7C33-78A7-3D284ADA255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A5CEEF9-4504-D9FA-95F6-E1E5FF06EC4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0017883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630EB4-FA5D-DC19-16A5-F8C8E4B0AC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FF1C1C4-803B-C440-520E-F28E152E48B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6BF24E1-1369-CB0B-312C-9482CD9F1E4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5981033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898784-073C-CC58-C6AC-9AC6CF14B5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D024110-701C-325E-7BC8-40F34FFF2AE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DC0D443-27E2-4601-B21E-77185776FD6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1178142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224106-3A2C-3DCC-7FC3-78566482F1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17FEA89-9C43-A565-A0FA-15E667C5EE5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BDEFC73-E528-1007-BF6E-A959BA80DE9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7966679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CD1933-8A60-56E6-7761-92D1F32FB0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BBFCB4B-9AA1-9BCD-707D-89A9A978170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27D29E3-4CAC-ED87-D3BE-53DAC4D3D39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3751183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98D689-1FA0-74B9-699E-66BC2A98F8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E09F6BE-3995-4157-BAA9-A399C753298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89BEC59-999B-B820-36F0-9BE9C9144D9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7546537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57ECBA-BAA9-8888-3162-2663A801B4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88077EA-496D-7455-3D57-9DB24FCE120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4CB8F57-F674-EE09-7482-D032A78D2E4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1078792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9279470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8989378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4114012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0339338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7032469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767EE0-4FBC-7535-8D67-722938C418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EB991B5-8C39-628E-BCCF-32A572BBD5A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E920B57-A4A0-34F9-AA95-019A9B5703B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7565733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DF8B28-8419-C04F-9D6D-23D6855B61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8419883-E1A8-BFE8-489E-8F3614CA3A4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ACCC81D-8AA4-43CB-27B4-85359FCE266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57200" marR="0" lvl="0" indent="-3175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tabLst/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5700269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0F97B7-D70B-A4B6-2F82-9CCBC72BED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A309CA1-F1B8-A50B-A6F1-69EB4020E94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34B8B06-472B-9B13-7B0D-102CAA96A60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1313052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6683A4-8C15-4BFD-A476-C48222B29D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3C0FD2E-FB33-0BE0-5A94-B238536C06B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876F58C-3A53-8E55-9082-B582474E273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3506194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0E54CD-E948-EC67-49D2-A041FE7E0E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FE85BE8-564E-C2FD-207A-B3191CEE8AA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ED8A280-FB27-BE93-1C19-78C366A8879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5414487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2E0E72-5FD4-9ACF-54AF-F47161B917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DDA9F2D-4A0E-7A5C-054E-8C81F7A8EFD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F7C4628-C878-9090-7FAB-F51EEE19FF3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63938856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0CB3E9-6573-C4AD-A88F-F84C974968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7219C93-1AF1-F88A-CAED-FD4DC468ACF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FAF909E-4861-F41A-E0D8-C6B9F2153DA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0209938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6FF676-7EF8-26B5-8447-1A04B1A457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0C158EC-88B1-02C6-1908-2AB4DEEF19C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46ACF19-01ED-C7C6-C537-184EEB70B94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6830247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B32DAC-C728-2B53-ABB4-B69BE5961A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4710B94-3441-1D00-58C9-A5517263A52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FFEA6A8-3DD7-CC89-F607-228BE5960B4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3474002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74B97A-DE6B-8F0D-D3B9-375BC972D6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FFC8782-28AC-7DCF-EF55-D2037C1B923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568067E-F149-65C4-207E-10600896B60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195321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C79C40-55F0-AEAF-C3C3-C9A06B7D75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CDB45FE-DE32-A6F5-A147-17B4A2C4085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0683965-B831-A193-E50A-D8BA9E99C85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4263805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0262AF-311F-EFE0-6BD0-137FFDDD08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A1A2BEC-30F4-C2D7-8DF1-29AA17B8CA9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95C65FB-1602-091C-B1F2-A6EEB160B48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2592397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861D58-B00D-0C89-AA49-EC5963E2F8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2E1C3E5-800B-12E4-7CC5-B05591FAD8D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FC275FA-0175-10AA-35F3-513D175F8B8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1347314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3FF65B-F782-BDE5-70B1-E2FA7C2911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085011A-1C27-566A-1D15-06533BB1B9A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2C24B84-B8CC-0034-7F90-4716AB89A1E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3211003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5410F2-5354-211E-D725-145DCA5989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12C2FD2-E66C-CD97-519E-065C58DFC16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CAB666B-776D-2D60-AD2D-FF350B5C4B5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7827846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7CAF96-0AA9-02BF-6611-5FCE129B6A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9BA52F9-4903-443B-9431-CE0700C545C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B2E5313-1EAE-9D1E-49C2-747B8786FA0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13463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5B9284-530F-4653-C723-9F7F24B1F4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59243D5-05EB-FC60-F876-1EA19A99EE6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339FC9A-CBD6-A716-FDE4-51327078971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4716953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3E4739-E128-62E4-3EA3-581E689283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A6676BF-C343-C4C8-772B-80D3D8F2C5A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19F363A-81A6-BEBF-E5EA-43EFB209CD8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0838949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EFFDC4-C55E-BFCB-8697-97AF18FE29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4AA64C1-442A-2920-6A22-6B7389A5D12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C913216-E767-BDDF-F61A-F47C69D1B9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33314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flipH="1">
            <a:off x="8246400" y="4245925"/>
            <a:ext cx="897600" cy="897600"/>
          </a:xfrm>
          <a:prstGeom prst="rtTriangl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Google Shape;11;p2"/>
          <p:cNvSpPr/>
          <p:nvPr/>
        </p:nvSpPr>
        <p:spPr>
          <a:xfrm flipH="1">
            <a:off x="8246400" y="4245875"/>
            <a:ext cx="897600" cy="897600"/>
          </a:xfrm>
          <a:prstGeom prst="round1Rect">
            <a:avLst>
              <a:gd name="adj" fmla="val 16667"/>
            </a:avLst>
          </a:prstGeom>
          <a:solidFill>
            <a:schemeClr val="lt1">
              <a:alpha val="6808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ctrTitle"/>
          </p:nvPr>
        </p:nvSpPr>
        <p:spPr>
          <a:xfrm>
            <a:off x="390525" y="1819275"/>
            <a:ext cx="8222100" cy="93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ubTitle" idx="1"/>
          </p:nvPr>
        </p:nvSpPr>
        <p:spPr>
          <a:xfrm>
            <a:off x="390525" y="2789130"/>
            <a:ext cx="8222100" cy="43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/>
          <p:nvPr/>
        </p:nvSpPr>
        <p:spPr>
          <a:xfrm rot="10800000" flipH="1">
            <a:off x="0" y="1686000"/>
            <a:ext cx="9144000" cy="34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" name="Google Shape;26;p5"/>
          <p:cNvSpPr/>
          <p:nvPr/>
        </p:nvSpPr>
        <p:spPr>
          <a:xfrm>
            <a:off x="0" y="168600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" name="Google Shape;27;p5"/>
          <p:cNvSpPr txBox="1">
            <a:spLocks noGrp="1"/>
          </p:cNvSpPr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5"/>
          <p:cNvSpPr txBox="1">
            <a:spLocks noGrp="1"/>
          </p:cNvSpPr>
          <p:nvPr>
            <p:ph type="body" idx="1"/>
          </p:nvPr>
        </p:nvSpPr>
        <p:spPr>
          <a:xfrm>
            <a:off x="471900" y="1919075"/>
            <a:ext cx="3999900" cy="271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2"/>
          </p:nvPr>
        </p:nvSpPr>
        <p:spPr>
          <a:xfrm>
            <a:off x="4694250" y="1919075"/>
            <a:ext cx="3999900" cy="271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6"/>
          <p:cNvSpPr/>
          <p:nvPr/>
        </p:nvSpPr>
        <p:spPr>
          <a:xfrm rot="10800000" flipH="1">
            <a:off x="0" y="656400"/>
            <a:ext cx="9144000" cy="448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" name="Google Shape;33;p6"/>
          <p:cNvSpPr/>
          <p:nvPr/>
        </p:nvSpPr>
        <p:spPr>
          <a:xfrm>
            <a:off x="0" y="65635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9"/>
          <p:cNvSpPr/>
          <p:nvPr/>
        </p:nvSpPr>
        <p:spPr>
          <a:xfrm flipH="1">
            <a:off x="0" y="0"/>
            <a:ext cx="45720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" name="Google Shape;47;p9"/>
          <p:cNvSpPr/>
          <p:nvPr/>
        </p:nvSpPr>
        <p:spPr>
          <a:xfrm rot="5400000">
            <a:off x="1946425" y="2517750"/>
            <a:ext cx="51429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" name="Google Shape;48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49" name="Google Shape;49;p9"/>
          <p:cNvSpPr txBox="1">
            <a:spLocks noGrp="1"/>
          </p:cNvSpPr>
          <p:nvPr>
            <p:ph type="subTitle" idx="1"/>
          </p:nvPr>
        </p:nvSpPr>
        <p:spPr>
          <a:xfrm>
            <a:off x="265500" y="2779467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50" name="Google Shape;50;p9"/>
          <p:cNvSpPr txBox="1"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51" name="Google Shape;51;p9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0"/>
          <p:cNvSpPr txBox="1"/>
          <p:nvPr/>
        </p:nvSpPr>
        <p:spPr>
          <a:xfrm rot="10800000" flipH="1">
            <a:off x="0" y="0"/>
            <a:ext cx="9144000" cy="46959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" name="Google Shape;54;p10"/>
          <p:cNvSpPr/>
          <p:nvPr/>
        </p:nvSpPr>
        <p:spPr>
          <a:xfrm rot="10800000" flipH="1">
            <a:off x="0" y="4622725"/>
            <a:ext cx="9144000" cy="741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" name="Google Shape;55;p10"/>
          <p:cNvSpPr txBox="1">
            <a:spLocks noGrp="1"/>
          </p:cNvSpPr>
          <p:nvPr>
            <p:ph type="body" idx="1"/>
          </p:nvPr>
        </p:nvSpPr>
        <p:spPr>
          <a:xfrm>
            <a:off x="57150" y="4696825"/>
            <a:ext cx="8382000" cy="446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1pPr>
          </a:lstStyle>
          <a:p>
            <a:endParaRPr/>
          </a:p>
        </p:txBody>
      </p:sp>
      <p:sp>
        <p:nvSpPr>
          <p:cNvPr id="56" name="Google Shape;56;p10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bg>
      <p:bgPr>
        <a:solidFill>
          <a:schemeClr val="accent4"/>
        </a:solidFill>
        <a:effectLst/>
      </p:bgPr>
    </p:bg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1"/>
          <p:cNvSpPr txBox="1">
            <a:spLocks noGrp="1"/>
          </p:cNvSpPr>
          <p:nvPr>
            <p:ph type="title" hasCustomPrompt="1"/>
          </p:nvPr>
        </p:nvSpPr>
        <p:spPr>
          <a:xfrm>
            <a:off x="475500" y="1258525"/>
            <a:ext cx="82221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9" name="Google Shape;59;p11"/>
          <p:cNvSpPr txBox="1">
            <a:spLocks noGrp="1"/>
          </p:cNvSpPr>
          <p:nvPr>
            <p:ph type="body" idx="1"/>
          </p:nvPr>
        </p:nvSpPr>
        <p:spPr>
          <a:xfrm>
            <a:off x="475500" y="3304625"/>
            <a:ext cx="82221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60" name="Google Shape;60;p11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chemeClr val="accent4"/>
        </a:solidFill>
        <a:effectLst/>
      </p:bgPr>
    </p:bg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2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terial">
    <p:bg>
      <p:bgPr>
        <a:solidFill>
          <a:schemeClr val="dk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Roboto"/>
              <a:buChar char="●"/>
              <a:defRPr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1" r:id="rId2"/>
    <p:sldLayoutId id="2147483652" r:id="rId3"/>
    <p:sldLayoutId id="2147483655" r:id="rId4"/>
    <p:sldLayoutId id="2147483656" r:id="rId5"/>
    <p:sldLayoutId id="2147483657" r:id="rId6"/>
    <p:sldLayoutId id="2147483658" r:id="rId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4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4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4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4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4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4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4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4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4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4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4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4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4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4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4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4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4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4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4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4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4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4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4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4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4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4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4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4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4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3"/>
          <p:cNvSpPr txBox="1">
            <a:spLocks noGrp="1"/>
          </p:cNvSpPr>
          <p:nvPr>
            <p:ph type="ctrTitle"/>
          </p:nvPr>
        </p:nvSpPr>
        <p:spPr>
          <a:xfrm>
            <a:off x="56675" y="0"/>
            <a:ext cx="8909700" cy="2131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500" dirty="0"/>
              <a:t>COLLINS AEROSPACE</a:t>
            </a:r>
            <a:endParaRPr sz="4500"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4500"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dirty="0"/>
              <a:t>IT Audit Findings Report</a:t>
            </a:r>
            <a:endParaRPr sz="3000" dirty="0"/>
          </a:p>
        </p:txBody>
      </p:sp>
      <p:sp>
        <p:nvSpPr>
          <p:cNvPr id="68" name="Google Shape;68;p13"/>
          <p:cNvSpPr txBox="1">
            <a:spLocks noGrp="1"/>
          </p:cNvSpPr>
          <p:nvPr>
            <p:ph type="subTitle" idx="1"/>
          </p:nvPr>
        </p:nvSpPr>
        <p:spPr>
          <a:xfrm>
            <a:off x="56675" y="4710605"/>
            <a:ext cx="8222100" cy="43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Auditors: Noble Antwi (Presenter)  &amp; Krupa Prakash Panchal   | 12/02/2025</a:t>
            </a:r>
            <a:endParaRPr/>
          </a:p>
        </p:txBody>
      </p:sp>
      <p:sp>
        <p:nvSpPr>
          <p:cNvPr id="69" name="Google Shape;69;p13"/>
          <p:cNvSpPr txBox="1">
            <a:spLocks noGrp="1"/>
          </p:cNvSpPr>
          <p:nvPr>
            <p:ph type="ctrTitle"/>
          </p:nvPr>
        </p:nvSpPr>
        <p:spPr>
          <a:xfrm>
            <a:off x="56675" y="1700000"/>
            <a:ext cx="8909700" cy="1816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 </a:t>
            </a:r>
            <a:r>
              <a:rPr lang="en" sz="2300"/>
              <a:t>General Computer Controls Audit – Information Security.</a:t>
            </a:r>
            <a:endParaRPr sz="230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30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Post-Incident Assessment | September - November 2025</a:t>
            </a:r>
            <a:endParaRPr sz="20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4"/>
          <p:cNvSpPr txBox="1">
            <a:spLocks noGrp="1"/>
          </p:cNvSpPr>
          <p:nvPr>
            <p:ph type="title"/>
          </p:nvPr>
        </p:nvSpPr>
        <p:spPr>
          <a:xfrm>
            <a:off x="265500" y="1718250"/>
            <a:ext cx="4045200" cy="170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AGENDA / ROADMAP</a:t>
            </a:r>
            <a:endParaRPr dirty="0"/>
          </a:p>
        </p:txBody>
      </p:sp>
      <p:sp>
        <p:nvSpPr>
          <p:cNvPr id="75" name="Google Shape;75;p14"/>
          <p:cNvSpPr txBox="1">
            <a:spLocks noGrp="1"/>
          </p:cNvSpPr>
          <p:nvPr>
            <p:ph type="body" idx="2"/>
          </p:nvPr>
        </p:nvSpPr>
        <p:spPr>
          <a:xfrm>
            <a:off x="4939500" y="0"/>
            <a:ext cx="4045200" cy="5143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Executive Summary &amp; Context</a:t>
            </a:r>
            <a:endParaRPr/>
          </a:p>
          <a:p>
            <a:pPr marL="457200" lvl="0" indent="-342900" algn="l" rtl="0">
              <a:spcBef>
                <a:spcPts val="1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September 2025 Attack</a:t>
            </a:r>
            <a:endParaRPr/>
          </a:p>
          <a:p>
            <a:pPr marL="457200" lvl="0" indent="-342900" algn="l" rtl="0">
              <a:spcBef>
                <a:spcPts val="1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Audit Methodology &amp; Scope</a:t>
            </a:r>
            <a:endParaRPr/>
          </a:p>
          <a:p>
            <a:pPr marL="457200" lvl="0" indent="-342900" algn="l" rtl="0">
              <a:spcBef>
                <a:spcPts val="1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Five Key Findings (Overview)</a:t>
            </a:r>
            <a:endParaRPr/>
          </a:p>
          <a:p>
            <a:pPr marL="457200" lvl="0" indent="-342900" algn="l" rtl="0">
              <a:spcBef>
                <a:spcPts val="1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Critical Finding Deep Dives</a:t>
            </a:r>
            <a:endParaRPr/>
          </a:p>
          <a:p>
            <a:pPr marL="457200" lvl="0" indent="-342900" algn="l" rtl="0">
              <a:spcBef>
                <a:spcPts val="1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CMMC Compliance Risk Analysis</a:t>
            </a:r>
            <a:endParaRPr/>
          </a:p>
          <a:p>
            <a:pPr marL="457200" lvl="0" indent="-342900" algn="l" rtl="0">
              <a:spcBef>
                <a:spcPts val="1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Remediation Roadmap</a:t>
            </a:r>
            <a:endParaRPr/>
          </a:p>
          <a:p>
            <a:pPr marL="457200" lvl="0" indent="-342900" algn="l" rtl="0">
              <a:spcBef>
                <a:spcPts val="1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Investment &amp; ROI</a:t>
            </a:r>
            <a:endParaRPr/>
          </a:p>
          <a:p>
            <a:pPr marL="457200" lvl="0" indent="-342900" algn="l" rtl="0">
              <a:spcBef>
                <a:spcPts val="1600"/>
              </a:spcBef>
              <a:spcAft>
                <a:spcPts val="1600"/>
              </a:spcAft>
              <a:buSzPts val="1800"/>
              <a:buChar char="●"/>
            </a:pPr>
            <a:r>
              <a:rPr lang="en"/>
              <a:t>Recommendations &amp; Path Forward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DFCA22-6B60-0185-B003-4CA3248712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" dirty="0"/>
              <a:t>EXECUTIVE SUMMARY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39A3206-3859-FD2B-7E66-1BB2F1532B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71900" y="2126894"/>
            <a:ext cx="3999900" cy="2710200"/>
          </a:xfrm>
        </p:spPr>
        <p:txBody>
          <a:bodyPr/>
          <a:lstStyle/>
          <a:p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Assessed information security controls across critical systems</a:t>
            </a:r>
          </a:p>
          <a:p>
            <a:pPr>
              <a:defRPr sz="1200"/>
            </a:pPr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Evaluated CMMC Level 3 readiness (Q2 2026 deadline)</a:t>
            </a:r>
          </a:p>
          <a:p>
            <a:pPr>
              <a:defRPr sz="1200"/>
            </a:pPr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Identified 5 significant findings requiring immediate attention</a:t>
            </a:r>
          </a:p>
          <a:p>
            <a:pPr>
              <a:defRPr sz="1200"/>
            </a:pPr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Frameworks: COBIT 2019, NIST SP 800-53, CMMC 2.0, SOX</a:t>
            </a:r>
          </a:p>
          <a:p>
            <a:pPr marL="139700" indent="0">
              <a:spcBef>
                <a:spcPts val="1400"/>
              </a:spcBef>
              <a:buNone/>
              <a:defRPr sz="1200" b="1"/>
            </a:pPr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                      SEVERITY DISTRIBUTION</a:t>
            </a:r>
          </a:p>
          <a:p>
            <a:pPr algn="ctr">
              <a:defRPr sz="1800" b="1">
                <a:solidFill>
                  <a:srgbClr val="E63946"/>
                </a:solidFill>
              </a:defRPr>
            </a:pPr>
            <a:r>
              <a:rPr lang="en-US" dirty="0">
                <a:solidFill>
                  <a:srgbClr val="FF0000"/>
                </a:solidFill>
              </a:rPr>
              <a:t>2 Critical  |  2 High  |  1 Medium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534F2BC-E286-429C-FF3D-84F9AE8B5EC9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4694100" y="2126894"/>
            <a:ext cx="3999900" cy="2710200"/>
          </a:xfrm>
        </p:spPr>
        <p:txBody>
          <a:bodyPr/>
          <a:lstStyle/>
          <a:p>
            <a:pPr>
              <a:defRPr sz="1200" b="1"/>
            </a:pPr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$2.3B in defense contracts at risk if CMMC certification delayed</a:t>
            </a:r>
          </a:p>
          <a:p>
            <a:pPr>
              <a:defRPr sz="1200"/>
            </a:pPr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September attack: 217 flights cancelled, 7-day recovery</a:t>
            </a:r>
          </a:p>
          <a:p>
            <a:pPr>
              <a:defRPr sz="1200"/>
            </a:pPr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Direct incident costs: $15M+ (forensics, restoration, legal)</a:t>
            </a:r>
          </a:p>
          <a:p>
            <a:pPr>
              <a:defRPr sz="1200"/>
            </a:pPr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SOX control deficiencies identified in financial systems</a:t>
            </a:r>
          </a:p>
          <a:p>
            <a:pPr>
              <a:defRPr sz="1200"/>
            </a:pPr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Customer trust erosion with airline/airport partners</a:t>
            </a:r>
          </a:p>
          <a:p>
            <a:pPr marL="139700" indent="0">
              <a:spcBef>
                <a:spcPts val="1200"/>
              </a:spcBef>
              <a:buNone/>
              <a:defRPr sz="1200" b="1">
                <a:solidFill>
                  <a:srgbClr val="E63946"/>
                </a:solidFill>
              </a:defRPr>
            </a:pPr>
            <a:r>
              <a:rPr lang="en-US" dirty="0"/>
              <a:t>                        </a:t>
            </a:r>
            <a:r>
              <a:rPr lang="en-US" dirty="0">
                <a:solidFill>
                  <a:srgbClr val="FF0000"/>
                </a:solidFill>
              </a:rPr>
              <a:t>KEY INSIGHT</a:t>
            </a:r>
          </a:p>
          <a:p>
            <a:pPr>
              <a:defRPr sz="1100"/>
            </a:pPr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The attack was preventable through implementation of industry-standard controls</a:t>
            </a:r>
            <a:r>
              <a:rPr lang="en-US" dirty="0"/>
              <a:t>.</a:t>
            </a:r>
          </a:p>
          <a:p>
            <a:pPr>
              <a:defRPr sz="1200"/>
            </a:pPr>
            <a:endParaRPr lang="en-US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083F9369-08BA-55D9-292E-9814FE1575F7}"/>
              </a:ext>
            </a:extLst>
          </p:cNvPr>
          <p:cNvSpPr txBox="1">
            <a:spLocks/>
          </p:cNvSpPr>
          <p:nvPr/>
        </p:nvSpPr>
        <p:spPr>
          <a:xfrm>
            <a:off x="983065" y="1463726"/>
            <a:ext cx="2852877" cy="76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>
              <a:defRPr sz="1600" b="1">
                <a:solidFill>
                  <a:srgbClr val="003D7A"/>
                </a:solidFill>
              </a:defRPr>
            </a:pPr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Audit Scope &amp; Findings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D5903EA0-0A3A-89A9-2035-565C4171AA2C}"/>
              </a:ext>
            </a:extLst>
          </p:cNvPr>
          <p:cNvSpPr txBox="1">
            <a:spLocks/>
          </p:cNvSpPr>
          <p:nvPr/>
        </p:nvSpPr>
        <p:spPr>
          <a:xfrm>
            <a:off x="5520430" y="1463726"/>
            <a:ext cx="2852877" cy="76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>
              <a:defRPr sz="1600" b="1">
                <a:solidFill>
                  <a:srgbClr val="003D7A"/>
                </a:solidFill>
              </a:defRPr>
            </a:pPr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Critical Business Impacts</a:t>
            </a:r>
          </a:p>
        </p:txBody>
      </p:sp>
    </p:spTree>
    <p:extLst>
      <p:ext uri="{BB962C8B-B14F-4D97-AF65-F5344CB8AC3E}">
        <p14:creationId xmlns:p14="http://schemas.microsoft.com/office/powerpoint/2010/main" val="22291221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>
            <a:spLocks noGrp="1"/>
          </p:cNvSpPr>
          <p:nvPr>
            <p:ph type="title"/>
          </p:nvPr>
        </p:nvSpPr>
        <p:spPr>
          <a:xfrm>
            <a:off x="265500" y="1718250"/>
            <a:ext cx="4045200" cy="170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US" sz="4000" dirty="0"/>
              <a:t>COMPANY &amp; INCIDENT CONTEXT </a:t>
            </a:r>
            <a:r>
              <a:rPr lang="en-US" dirty="0"/>
              <a:t>-</a:t>
            </a:r>
            <a:br>
              <a:rPr lang="en-US" dirty="0"/>
            </a:br>
            <a:r>
              <a:rPr lang="en-US" sz="3200" dirty="0"/>
              <a:t>Collins   Aerospace Profile</a:t>
            </a:r>
            <a:endParaRPr sz="3200" dirty="0"/>
          </a:p>
        </p:txBody>
      </p:sp>
      <p:sp>
        <p:nvSpPr>
          <p:cNvPr id="87" name="Google Shape;87;p16"/>
          <p:cNvSpPr txBox="1"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US" dirty="0"/>
              <a:t>Formed 2018 (UTC Aerospace + Rockwell Collins merger)</a:t>
            </a:r>
          </a:p>
          <a:p>
            <a:pPr lvl="0"/>
            <a:r>
              <a:rPr lang="en-US" b="1" dirty="0"/>
              <a:t>$28.28B</a:t>
            </a:r>
            <a:r>
              <a:rPr lang="en-US" dirty="0"/>
              <a:t> annual revenue (34% of RTX Corporation)</a:t>
            </a:r>
          </a:p>
          <a:p>
            <a:pPr lvl="0"/>
            <a:r>
              <a:rPr lang="en-US" b="1" dirty="0"/>
              <a:t>80,000</a:t>
            </a:r>
            <a:r>
              <a:rPr lang="en-US" dirty="0"/>
              <a:t> employees globally</a:t>
            </a:r>
          </a:p>
          <a:p>
            <a:pPr lvl="0"/>
            <a:r>
              <a:rPr lang="en-US" dirty="0"/>
              <a:t>Six business units: </a:t>
            </a:r>
          </a:p>
          <a:p>
            <a:pPr lvl="1"/>
            <a:r>
              <a:rPr lang="en-US" dirty="0"/>
              <a:t>Avionics, </a:t>
            </a:r>
          </a:p>
          <a:p>
            <a:pPr lvl="1"/>
            <a:r>
              <a:rPr lang="en-US" dirty="0"/>
              <a:t>Interiors,</a:t>
            </a:r>
          </a:p>
          <a:p>
            <a:pPr lvl="1"/>
            <a:r>
              <a:rPr lang="en-US" dirty="0"/>
              <a:t> Power &amp; Controls, </a:t>
            </a:r>
          </a:p>
          <a:p>
            <a:pPr lvl="1"/>
            <a:r>
              <a:rPr lang="en-US" dirty="0"/>
              <a:t>Mechanical Systems, </a:t>
            </a:r>
          </a:p>
          <a:p>
            <a:pPr lvl="1"/>
            <a:r>
              <a:rPr lang="en-US" dirty="0"/>
              <a:t>Mission Systems, Services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>
          <a:extLst>
            <a:ext uri="{FF2B5EF4-FFF2-40B4-BE49-F238E27FC236}">
              <a16:creationId xmlns:a16="http://schemas.microsoft.com/office/drawing/2014/main" id="{D75900D1-7231-8D0F-8166-12B79662BD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>
            <a:extLst>
              <a:ext uri="{FF2B5EF4-FFF2-40B4-BE49-F238E27FC236}">
                <a16:creationId xmlns:a16="http://schemas.microsoft.com/office/drawing/2014/main" id="{F8C52054-91E3-06C1-9278-B2BDB2BDEAC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65500" y="1718250"/>
            <a:ext cx="4045200" cy="170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US" sz="4000" dirty="0"/>
              <a:t>COMPANY &amp; INCIDENT CONTEXT </a:t>
            </a:r>
            <a:r>
              <a:rPr lang="en-US" dirty="0"/>
              <a:t>-</a:t>
            </a:r>
            <a:br>
              <a:rPr lang="en-US" dirty="0"/>
            </a:br>
            <a:r>
              <a:rPr lang="en-US" sz="3200" dirty="0"/>
              <a:t>Critical Infrastructure Role</a:t>
            </a:r>
            <a:endParaRPr sz="3200" dirty="0"/>
          </a:p>
        </p:txBody>
      </p:sp>
      <p:sp>
        <p:nvSpPr>
          <p:cNvPr id="87" name="Google Shape;87;p16">
            <a:extLst>
              <a:ext uri="{FF2B5EF4-FFF2-40B4-BE49-F238E27FC236}">
                <a16:creationId xmlns:a16="http://schemas.microsoft.com/office/drawing/2014/main" id="{DED563C2-71BD-7FD8-696E-5F945CD31DBA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US" dirty="0"/>
              <a:t>MUSE platform serves </a:t>
            </a:r>
            <a:r>
              <a:rPr lang="en-US" b="1" dirty="0"/>
              <a:t>170+ airports</a:t>
            </a:r>
            <a:r>
              <a:rPr lang="en-US" dirty="0"/>
              <a:t> globally</a:t>
            </a:r>
          </a:p>
          <a:p>
            <a:pPr lvl="0"/>
            <a:r>
              <a:rPr lang="en-US" dirty="0"/>
              <a:t>Automated check-in and baggage handling</a:t>
            </a:r>
          </a:p>
          <a:p>
            <a:pPr lvl="0"/>
            <a:r>
              <a:rPr lang="en-US" dirty="0"/>
              <a:t>Critical to daily aviation operations</a:t>
            </a:r>
          </a:p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80608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>
          <a:extLst>
            <a:ext uri="{FF2B5EF4-FFF2-40B4-BE49-F238E27FC236}">
              <a16:creationId xmlns:a16="http://schemas.microsoft.com/office/drawing/2014/main" id="{7AF6216B-1F31-01A0-2172-6BD0F202A8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>
            <a:extLst>
              <a:ext uri="{FF2B5EF4-FFF2-40B4-BE49-F238E27FC236}">
                <a16:creationId xmlns:a16="http://schemas.microsoft.com/office/drawing/2014/main" id="{A18C4D1C-06CE-D94E-0486-218EC75DF03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65500" y="1718250"/>
            <a:ext cx="4045200" cy="170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US" sz="4000" dirty="0"/>
              <a:t>COMPANY &amp; INCIDENT CONTEXT </a:t>
            </a:r>
            <a:r>
              <a:rPr lang="en-US" dirty="0"/>
              <a:t>-</a:t>
            </a:r>
            <a:br>
              <a:rPr lang="en-US" dirty="0"/>
            </a:br>
            <a:r>
              <a:rPr lang="en-US" sz="3200" dirty="0"/>
              <a:t>September 2025 Incident</a:t>
            </a:r>
            <a:endParaRPr sz="3200" dirty="0"/>
          </a:p>
        </p:txBody>
      </p:sp>
      <p:sp>
        <p:nvSpPr>
          <p:cNvPr id="87" name="Google Shape;87;p16">
            <a:extLst>
              <a:ext uri="{FF2B5EF4-FFF2-40B4-BE49-F238E27FC236}">
                <a16:creationId xmlns:a16="http://schemas.microsoft.com/office/drawing/2014/main" id="{43DD219F-BBC3-D485-2CEE-3519B89FFADF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US" dirty="0"/>
              <a:t>Date: September 19, 2025, 22:45 GMT</a:t>
            </a:r>
          </a:p>
          <a:p>
            <a:pPr lvl="0"/>
            <a:r>
              <a:rPr lang="en-US" dirty="0"/>
              <a:t>Attack vector: Compromised VPN credential (no MFA)</a:t>
            </a:r>
          </a:p>
          <a:p>
            <a:pPr lvl="0"/>
            <a:r>
              <a:rPr lang="en-US" dirty="0"/>
              <a:t>Ransomware: </a:t>
            </a:r>
            <a:r>
              <a:rPr lang="en-US" dirty="0" err="1"/>
              <a:t>HardBit</a:t>
            </a:r>
            <a:r>
              <a:rPr lang="en-US" dirty="0"/>
              <a:t> (Ransomware-as-a-Service)</a:t>
            </a:r>
          </a:p>
          <a:p>
            <a:pPr lvl="0"/>
            <a:r>
              <a:rPr lang="en-US" dirty="0"/>
              <a:t>Systems affected: 1,000+ systems encrypted</a:t>
            </a:r>
          </a:p>
          <a:p>
            <a:pPr lvl="0"/>
            <a:r>
              <a:rPr lang="en-US" dirty="0"/>
              <a:t>Recovery time: 7 days (target RTO: 4 hours)</a:t>
            </a:r>
          </a:p>
        </p:txBody>
      </p:sp>
    </p:spTree>
    <p:extLst>
      <p:ext uri="{BB962C8B-B14F-4D97-AF65-F5344CB8AC3E}">
        <p14:creationId xmlns:p14="http://schemas.microsoft.com/office/powerpoint/2010/main" val="37310521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8"/>
          <p:cNvSpPr/>
          <p:nvPr/>
        </p:nvSpPr>
        <p:spPr>
          <a:xfrm>
            <a:off x="50883" y="2257366"/>
            <a:ext cx="1315530" cy="701672"/>
          </a:xfrm>
          <a:prstGeom prst="homePlate">
            <a:avLst>
              <a:gd name="adj" fmla="val 50000"/>
            </a:avLst>
          </a:prstGeom>
          <a:solidFill>
            <a:schemeClr val="dk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875" tIns="121875" rIns="121875" bIns="1218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p18"/>
          <p:cNvSpPr txBox="1">
            <a:spLocks noGrp="1"/>
          </p:cNvSpPr>
          <p:nvPr>
            <p:ph type="body" idx="4294967295"/>
          </p:nvPr>
        </p:nvSpPr>
        <p:spPr>
          <a:xfrm>
            <a:off x="-101284" y="2366318"/>
            <a:ext cx="1455600" cy="470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>
              <a:lnSpc>
                <a:spcPct val="100000"/>
              </a:lnSpc>
              <a:buNone/>
            </a:pPr>
            <a:r>
              <a:rPr lang="en-US" sz="1000" dirty="0">
                <a:solidFill>
                  <a:schemeClr val="bg1"/>
                </a:solidFill>
              </a:rPr>
              <a:t>SEP 19 (22:45 GMT</a:t>
            </a:r>
            <a:endParaRPr sz="1000" dirty="0">
              <a:solidFill>
                <a:schemeClr val="bg1"/>
              </a:solidFill>
            </a:endParaRPr>
          </a:p>
        </p:txBody>
      </p:sp>
      <p:grpSp>
        <p:nvGrpSpPr>
          <p:cNvPr id="99" name="Google Shape;99;p18"/>
          <p:cNvGrpSpPr/>
          <p:nvPr/>
        </p:nvGrpSpPr>
        <p:grpSpPr>
          <a:xfrm>
            <a:off x="594507" y="1624754"/>
            <a:ext cx="198900" cy="593656"/>
            <a:chOff x="777447" y="1610215"/>
            <a:chExt cx="198900" cy="593656"/>
          </a:xfrm>
        </p:grpSpPr>
        <p:cxnSp>
          <p:nvCxnSpPr>
            <p:cNvPr id="100" name="Google Shape;100;p18"/>
            <p:cNvCxnSpPr/>
            <p:nvPr/>
          </p:nvCxnSpPr>
          <p:spPr>
            <a:xfrm>
              <a:off x="876909" y="1649171"/>
              <a:ext cx="0" cy="5547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101" name="Google Shape;101;p18"/>
            <p:cNvSpPr/>
            <p:nvPr/>
          </p:nvSpPr>
          <p:spPr>
            <a:xfrm>
              <a:off x="777447" y="1610215"/>
              <a:ext cx="198900" cy="1989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2" name="Google Shape;102;p18"/>
          <p:cNvSpPr txBox="1">
            <a:spLocks noGrp="1"/>
          </p:cNvSpPr>
          <p:nvPr>
            <p:ph type="body" idx="4294967295"/>
          </p:nvPr>
        </p:nvSpPr>
        <p:spPr>
          <a:xfrm>
            <a:off x="-65508" y="904138"/>
            <a:ext cx="1693484" cy="65172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Aft>
                <a:spcPts val="1600"/>
              </a:spcAft>
              <a:buNone/>
            </a:pPr>
            <a:r>
              <a:rPr lang="en-US" sz="1000" dirty="0">
                <a:solidFill>
                  <a:schemeClr val="bg2"/>
                </a:solidFill>
              </a:rPr>
              <a:t>Initial Breach: Compromised VPN credential lacking MFA</a:t>
            </a:r>
            <a:endParaRPr sz="1000" dirty="0">
              <a:solidFill>
                <a:schemeClr val="bg2"/>
              </a:solidFill>
            </a:endParaRPr>
          </a:p>
        </p:txBody>
      </p:sp>
      <p:sp>
        <p:nvSpPr>
          <p:cNvPr id="103" name="Google Shape;103;p18"/>
          <p:cNvSpPr/>
          <p:nvPr/>
        </p:nvSpPr>
        <p:spPr>
          <a:xfrm>
            <a:off x="1012521" y="2257366"/>
            <a:ext cx="1316736" cy="704088"/>
          </a:xfrm>
          <a:prstGeom prst="chevron">
            <a:avLst>
              <a:gd name="adj" fmla="val 50000"/>
            </a:avLst>
          </a:prstGeom>
          <a:solidFill>
            <a:schemeClr val="dk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875" tIns="121875" rIns="121875" bIns="1218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" name="Google Shape;104;p18"/>
          <p:cNvSpPr txBox="1">
            <a:spLocks noGrp="1"/>
          </p:cNvSpPr>
          <p:nvPr>
            <p:ph type="body" idx="4294967295"/>
          </p:nvPr>
        </p:nvSpPr>
        <p:spPr>
          <a:xfrm>
            <a:off x="1057395" y="2371587"/>
            <a:ext cx="1315500" cy="470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>
              <a:lnSpc>
                <a:spcPct val="100000"/>
              </a:lnSpc>
              <a:buNone/>
            </a:pPr>
            <a:r>
              <a:rPr lang="en-US" sz="1000" dirty="0">
                <a:solidFill>
                  <a:schemeClr val="lt1"/>
                </a:solidFill>
              </a:rPr>
              <a:t>SEP 19-20 (Overnight)</a:t>
            </a:r>
            <a:endParaRPr sz="1000" dirty="0">
              <a:solidFill>
                <a:schemeClr val="lt1"/>
              </a:solidFill>
            </a:endParaRPr>
          </a:p>
        </p:txBody>
      </p:sp>
      <p:grpSp>
        <p:nvGrpSpPr>
          <p:cNvPr id="105" name="Google Shape;105;p18"/>
          <p:cNvGrpSpPr/>
          <p:nvPr/>
        </p:nvGrpSpPr>
        <p:grpSpPr>
          <a:xfrm>
            <a:off x="1351156" y="2968505"/>
            <a:ext cx="198900" cy="593656"/>
            <a:chOff x="2223534" y="2938958"/>
            <a:chExt cx="198900" cy="593656"/>
          </a:xfrm>
        </p:grpSpPr>
        <p:cxnSp>
          <p:nvCxnSpPr>
            <p:cNvPr id="106" name="Google Shape;106;p18"/>
            <p:cNvCxnSpPr/>
            <p:nvPr/>
          </p:nvCxnSpPr>
          <p:spPr>
            <a:xfrm rot="10800000">
              <a:off x="2322997" y="2938958"/>
              <a:ext cx="0" cy="5547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107" name="Google Shape;107;p18"/>
            <p:cNvSpPr/>
            <p:nvPr/>
          </p:nvSpPr>
          <p:spPr>
            <a:xfrm rot="10800000" flipH="1">
              <a:off x="2223534" y="3333714"/>
              <a:ext cx="198900" cy="1989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8" name="Google Shape;108;p18"/>
          <p:cNvSpPr txBox="1">
            <a:spLocks noGrp="1"/>
          </p:cNvSpPr>
          <p:nvPr>
            <p:ph type="body" idx="4294967295"/>
          </p:nvPr>
        </p:nvSpPr>
        <p:spPr>
          <a:xfrm>
            <a:off x="329206" y="3572231"/>
            <a:ext cx="1700485" cy="76424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Aft>
                <a:spcPts val="1600"/>
              </a:spcAft>
              <a:buNone/>
            </a:pPr>
            <a:r>
              <a:rPr lang="en-US" sz="1000" dirty="0">
                <a:solidFill>
                  <a:schemeClr val="bg2"/>
                </a:solidFill>
              </a:rPr>
              <a:t>Lateral Movement: 16-18 hours undetected reconnaissance</a:t>
            </a:r>
            <a:endParaRPr sz="1000" dirty="0">
              <a:solidFill>
                <a:schemeClr val="bg2"/>
              </a:solidFill>
            </a:endParaRPr>
          </a:p>
        </p:txBody>
      </p:sp>
      <p:grpSp>
        <p:nvGrpSpPr>
          <p:cNvPr id="111" name="Google Shape;111;p18"/>
          <p:cNvGrpSpPr/>
          <p:nvPr/>
        </p:nvGrpSpPr>
        <p:grpSpPr>
          <a:xfrm>
            <a:off x="2501990" y="1685128"/>
            <a:ext cx="198900" cy="593656"/>
            <a:chOff x="3918084" y="1610215"/>
            <a:chExt cx="198900" cy="593656"/>
          </a:xfrm>
        </p:grpSpPr>
        <p:cxnSp>
          <p:nvCxnSpPr>
            <p:cNvPr id="112" name="Google Shape;112;p18"/>
            <p:cNvCxnSpPr/>
            <p:nvPr/>
          </p:nvCxnSpPr>
          <p:spPr>
            <a:xfrm>
              <a:off x="4017546" y="1649171"/>
              <a:ext cx="0" cy="5547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113" name="Google Shape;113;p18"/>
            <p:cNvSpPr/>
            <p:nvPr/>
          </p:nvSpPr>
          <p:spPr>
            <a:xfrm>
              <a:off x="3918084" y="1610215"/>
              <a:ext cx="198900" cy="1989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14" name="Google Shape;114;p18"/>
          <p:cNvSpPr txBox="1">
            <a:spLocks noGrp="1"/>
          </p:cNvSpPr>
          <p:nvPr>
            <p:ph type="body" idx="4294967295"/>
          </p:nvPr>
        </p:nvSpPr>
        <p:spPr>
          <a:xfrm>
            <a:off x="1903700" y="844260"/>
            <a:ext cx="1378742" cy="75993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Aft>
                <a:spcPts val="1600"/>
              </a:spcAft>
              <a:buNone/>
            </a:pPr>
            <a:r>
              <a:rPr lang="en-US" sz="1000" dirty="0">
                <a:solidFill>
                  <a:schemeClr val="bg2"/>
                </a:solidFill>
              </a:rPr>
              <a:t>Ransomware Deployment: Encryption begins across 1,000+ systems</a:t>
            </a:r>
            <a:endParaRPr sz="1000" dirty="0">
              <a:solidFill>
                <a:schemeClr val="bg2"/>
              </a:solidFill>
            </a:endParaRPr>
          </a:p>
        </p:txBody>
      </p:sp>
      <p:sp>
        <p:nvSpPr>
          <p:cNvPr id="116" name="Google Shape;116;p18"/>
          <p:cNvSpPr txBox="1">
            <a:spLocks noGrp="1"/>
          </p:cNvSpPr>
          <p:nvPr>
            <p:ph type="body" idx="4294967295"/>
          </p:nvPr>
        </p:nvSpPr>
        <p:spPr>
          <a:xfrm>
            <a:off x="7318150" y="164176"/>
            <a:ext cx="1315500" cy="470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lt1"/>
                </a:solidFill>
              </a:rPr>
              <a:t>30 mins</a:t>
            </a:r>
            <a:endParaRPr dirty="0">
              <a:solidFill>
                <a:schemeClr val="lt1"/>
              </a:solidFill>
            </a:endParaRPr>
          </a:p>
        </p:txBody>
      </p:sp>
      <p:grpSp>
        <p:nvGrpSpPr>
          <p:cNvPr id="117" name="Google Shape;117;p18"/>
          <p:cNvGrpSpPr/>
          <p:nvPr/>
        </p:nvGrpSpPr>
        <p:grpSpPr>
          <a:xfrm>
            <a:off x="3449637" y="2980571"/>
            <a:ext cx="198900" cy="593656"/>
            <a:chOff x="5958946" y="2938958"/>
            <a:chExt cx="198900" cy="593656"/>
          </a:xfrm>
        </p:grpSpPr>
        <p:cxnSp>
          <p:nvCxnSpPr>
            <p:cNvPr id="118" name="Google Shape;118;p18"/>
            <p:cNvCxnSpPr/>
            <p:nvPr/>
          </p:nvCxnSpPr>
          <p:spPr>
            <a:xfrm rot="10800000">
              <a:off x="6058409" y="2938958"/>
              <a:ext cx="0" cy="5547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119" name="Google Shape;119;p18"/>
            <p:cNvSpPr/>
            <p:nvPr/>
          </p:nvSpPr>
          <p:spPr>
            <a:xfrm rot="10800000" flipH="1">
              <a:off x="5958946" y="3333714"/>
              <a:ext cx="198900" cy="1989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20" name="Google Shape;120;p18"/>
          <p:cNvSpPr txBox="1">
            <a:spLocks noGrp="1"/>
          </p:cNvSpPr>
          <p:nvPr>
            <p:ph type="body" idx="4294967295"/>
          </p:nvPr>
        </p:nvSpPr>
        <p:spPr>
          <a:xfrm>
            <a:off x="2501990" y="3598842"/>
            <a:ext cx="2242800" cy="906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Aft>
                <a:spcPts val="1600"/>
              </a:spcAft>
              <a:buNone/>
            </a:pPr>
            <a:r>
              <a:rPr lang="en-US" sz="1000" dirty="0">
                <a:solidFill>
                  <a:schemeClr val="bg2"/>
                </a:solidFill>
              </a:rPr>
              <a:t>Discovery: Automated check-in systems fail; alerts triggered</a:t>
            </a:r>
            <a:endParaRPr sz="1000" dirty="0">
              <a:solidFill>
                <a:schemeClr val="bg2"/>
              </a:solidFill>
            </a:endParaRPr>
          </a:p>
        </p:txBody>
      </p:sp>
      <p:grpSp>
        <p:nvGrpSpPr>
          <p:cNvPr id="123" name="Google Shape;123;p18"/>
          <p:cNvGrpSpPr/>
          <p:nvPr/>
        </p:nvGrpSpPr>
        <p:grpSpPr>
          <a:xfrm>
            <a:off x="4278931" y="1624754"/>
            <a:ext cx="198900" cy="593656"/>
            <a:chOff x="3918084" y="1610215"/>
            <a:chExt cx="198900" cy="593656"/>
          </a:xfrm>
        </p:grpSpPr>
        <p:cxnSp>
          <p:nvCxnSpPr>
            <p:cNvPr id="124" name="Google Shape;124;p18"/>
            <p:cNvCxnSpPr/>
            <p:nvPr/>
          </p:nvCxnSpPr>
          <p:spPr>
            <a:xfrm>
              <a:off x="4017546" y="1649171"/>
              <a:ext cx="0" cy="5547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125" name="Google Shape;125;p18"/>
            <p:cNvSpPr/>
            <p:nvPr/>
          </p:nvSpPr>
          <p:spPr>
            <a:xfrm>
              <a:off x="3918084" y="1610215"/>
              <a:ext cx="198900" cy="1989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sp>
        <p:nvSpPr>
          <p:cNvPr id="126" name="Google Shape;126;p18"/>
          <p:cNvSpPr txBox="1">
            <a:spLocks noGrp="1"/>
          </p:cNvSpPr>
          <p:nvPr>
            <p:ph type="body" idx="4294967295"/>
          </p:nvPr>
        </p:nvSpPr>
        <p:spPr>
          <a:xfrm>
            <a:off x="3450600" y="691587"/>
            <a:ext cx="1807200" cy="906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Aft>
                <a:spcPts val="1600"/>
              </a:spcAft>
              <a:buNone/>
            </a:pPr>
            <a:r>
              <a:rPr lang="en-US" sz="1000" dirty="0">
                <a:solidFill>
                  <a:schemeClr val="bg2"/>
                </a:solidFill>
              </a:rPr>
              <a:t>Operational Impact: Heathrow, Brussels, Berlin, Dublin manual operations; 217 flights cancelled</a:t>
            </a:r>
            <a:endParaRPr sz="1000" dirty="0">
              <a:solidFill>
                <a:schemeClr val="bg2"/>
              </a:solidFill>
            </a:endParaRPr>
          </a:p>
        </p:txBody>
      </p:sp>
      <p:sp>
        <p:nvSpPr>
          <p:cNvPr id="3" name="Google Shape;103;p18">
            <a:extLst>
              <a:ext uri="{FF2B5EF4-FFF2-40B4-BE49-F238E27FC236}">
                <a16:creationId xmlns:a16="http://schemas.microsoft.com/office/drawing/2014/main" id="{CF65D09D-AD3C-673E-1433-B4D23B96F49D}"/>
              </a:ext>
            </a:extLst>
          </p:cNvPr>
          <p:cNvSpPr/>
          <p:nvPr/>
        </p:nvSpPr>
        <p:spPr>
          <a:xfrm>
            <a:off x="1954687" y="2249474"/>
            <a:ext cx="1316736" cy="704088"/>
          </a:xfrm>
          <a:prstGeom prst="chevron">
            <a:avLst>
              <a:gd name="adj" fmla="val 50000"/>
            </a:avLst>
          </a:prstGeom>
          <a:solidFill>
            <a:schemeClr val="dk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875" tIns="121875" rIns="121875" bIns="1218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Google Shape;103;p18">
            <a:extLst>
              <a:ext uri="{FF2B5EF4-FFF2-40B4-BE49-F238E27FC236}">
                <a16:creationId xmlns:a16="http://schemas.microsoft.com/office/drawing/2014/main" id="{C7E62D1F-0FDE-30C1-7E09-545053D3FF31}"/>
              </a:ext>
            </a:extLst>
          </p:cNvPr>
          <p:cNvSpPr/>
          <p:nvPr/>
        </p:nvSpPr>
        <p:spPr>
          <a:xfrm>
            <a:off x="2902861" y="2237183"/>
            <a:ext cx="1316736" cy="704088"/>
          </a:xfrm>
          <a:prstGeom prst="chevron">
            <a:avLst>
              <a:gd name="adj" fmla="val 50000"/>
            </a:avLst>
          </a:prstGeom>
          <a:solidFill>
            <a:schemeClr val="dk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875" tIns="121875" rIns="121875" bIns="1218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" name="Google Shape;104;p18">
            <a:extLst>
              <a:ext uri="{FF2B5EF4-FFF2-40B4-BE49-F238E27FC236}">
                <a16:creationId xmlns:a16="http://schemas.microsoft.com/office/drawing/2014/main" id="{7BD41579-6999-C251-E4E7-2BDD4E3A9232}"/>
              </a:ext>
            </a:extLst>
          </p:cNvPr>
          <p:cNvSpPr txBox="1">
            <a:spLocks/>
          </p:cNvSpPr>
          <p:nvPr/>
        </p:nvSpPr>
        <p:spPr>
          <a:xfrm>
            <a:off x="2884135" y="2373677"/>
            <a:ext cx="1315500" cy="47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Roboto"/>
              <a:buChar char="●"/>
              <a:defRPr sz="18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 sz="14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 sz="14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 sz="14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 sz="14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 sz="14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 sz="14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 sz="14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2"/>
              </a:buClr>
              <a:buSzPts val="1400"/>
              <a:buFont typeface="Roboto"/>
              <a:buChar char="■"/>
              <a:defRPr sz="14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indent="0" algn="ctr">
              <a:lnSpc>
                <a:spcPct val="100000"/>
              </a:lnSpc>
              <a:buFont typeface="Roboto"/>
              <a:buNone/>
            </a:pPr>
            <a:r>
              <a:rPr lang="en-US" sz="1000" dirty="0">
                <a:solidFill>
                  <a:schemeClr val="lt1"/>
                </a:solidFill>
              </a:rPr>
              <a:t>SEP 20 </a:t>
            </a:r>
          </a:p>
          <a:p>
            <a:pPr marL="0" indent="0" algn="ctr">
              <a:lnSpc>
                <a:spcPct val="100000"/>
              </a:lnSpc>
              <a:buFont typeface="Roboto"/>
              <a:buNone/>
            </a:pPr>
            <a:r>
              <a:rPr lang="en-US" sz="1000" dirty="0">
                <a:solidFill>
                  <a:schemeClr val="lt1"/>
                </a:solidFill>
              </a:rPr>
              <a:t>(08:00)</a:t>
            </a:r>
          </a:p>
        </p:txBody>
      </p:sp>
      <p:sp>
        <p:nvSpPr>
          <p:cNvPr id="6" name="Google Shape;104;p18">
            <a:extLst>
              <a:ext uri="{FF2B5EF4-FFF2-40B4-BE49-F238E27FC236}">
                <a16:creationId xmlns:a16="http://schemas.microsoft.com/office/drawing/2014/main" id="{53F76218-5B22-8BC7-1BBF-2BAE60DABFC5}"/>
              </a:ext>
            </a:extLst>
          </p:cNvPr>
          <p:cNvSpPr txBox="1">
            <a:spLocks/>
          </p:cNvSpPr>
          <p:nvPr/>
        </p:nvSpPr>
        <p:spPr>
          <a:xfrm>
            <a:off x="2075692" y="2347031"/>
            <a:ext cx="1315500" cy="47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Roboto"/>
              <a:buChar char="●"/>
              <a:defRPr sz="18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 sz="14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 sz="14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 sz="14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 sz="14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 sz="14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 sz="14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 sz="14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2"/>
              </a:buClr>
              <a:buSzPts val="1400"/>
              <a:buFont typeface="Roboto"/>
              <a:buChar char="■"/>
              <a:defRPr sz="14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indent="0" algn="ctr">
              <a:lnSpc>
                <a:spcPct val="100000"/>
              </a:lnSpc>
              <a:buNone/>
            </a:pPr>
            <a:r>
              <a:rPr lang="en-US" sz="1000" dirty="0">
                <a:solidFill>
                  <a:schemeClr val="lt1"/>
                </a:solidFill>
              </a:rPr>
              <a:t>SEP 20</a:t>
            </a:r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000" dirty="0">
                <a:solidFill>
                  <a:schemeClr val="lt1"/>
                </a:solidFill>
              </a:rPr>
              <a:t> (Morning)) </a:t>
            </a:r>
          </a:p>
        </p:txBody>
      </p:sp>
      <p:sp>
        <p:nvSpPr>
          <p:cNvPr id="7" name="Google Shape;103;p18">
            <a:extLst>
              <a:ext uri="{FF2B5EF4-FFF2-40B4-BE49-F238E27FC236}">
                <a16:creationId xmlns:a16="http://schemas.microsoft.com/office/drawing/2014/main" id="{171BE8BA-7970-C886-853B-810ACF0AD2CF}"/>
              </a:ext>
            </a:extLst>
          </p:cNvPr>
          <p:cNvSpPr/>
          <p:nvPr/>
        </p:nvSpPr>
        <p:spPr>
          <a:xfrm>
            <a:off x="3859262" y="2227279"/>
            <a:ext cx="1316736" cy="704088"/>
          </a:xfrm>
          <a:prstGeom prst="chevron">
            <a:avLst>
              <a:gd name="adj" fmla="val 50000"/>
            </a:avLst>
          </a:prstGeom>
          <a:solidFill>
            <a:schemeClr val="dk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875" tIns="121875" rIns="121875" bIns="1218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" name="Google Shape;104;p18">
            <a:extLst>
              <a:ext uri="{FF2B5EF4-FFF2-40B4-BE49-F238E27FC236}">
                <a16:creationId xmlns:a16="http://schemas.microsoft.com/office/drawing/2014/main" id="{7A856F21-57B0-6D0C-E9DF-4727DB1FEF4C}"/>
              </a:ext>
            </a:extLst>
          </p:cNvPr>
          <p:cNvSpPr txBox="1">
            <a:spLocks/>
          </p:cNvSpPr>
          <p:nvPr/>
        </p:nvSpPr>
        <p:spPr>
          <a:xfrm>
            <a:off x="3840536" y="2363773"/>
            <a:ext cx="1315500" cy="47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Roboto"/>
              <a:buChar char="●"/>
              <a:defRPr sz="18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 sz="14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 sz="14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 sz="14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 sz="14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 sz="14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 sz="14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 sz="14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2"/>
              </a:buClr>
              <a:buSzPts val="1400"/>
              <a:buFont typeface="Roboto"/>
              <a:buChar char="■"/>
              <a:defRPr sz="14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indent="0" algn="ctr">
              <a:lnSpc>
                <a:spcPct val="100000"/>
              </a:lnSpc>
              <a:buFont typeface="Roboto"/>
              <a:buNone/>
            </a:pPr>
            <a:r>
              <a:rPr lang="en-US" sz="1000" dirty="0">
                <a:solidFill>
                  <a:schemeClr val="lt1"/>
                </a:solidFill>
              </a:rPr>
              <a:t>SEP 20 - 21</a:t>
            </a:r>
          </a:p>
        </p:txBody>
      </p:sp>
      <p:sp>
        <p:nvSpPr>
          <p:cNvPr id="9" name="Google Shape;103;p18">
            <a:extLst>
              <a:ext uri="{FF2B5EF4-FFF2-40B4-BE49-F238E27FC236}">
                <a16:creationId xmlns:a16="http://schemas.microsoft.com/office/drawing/2014/main" id="{43875909-B26E-F374-96FB-08B0C13454BA}"/>
              </a:ext>
            </a:extLst>
          </p:cNvPr>
          <p:cNvSpPr/>
          <p:nvPr/>
        </p:nvSpPr>
        <p:spPr>
          <a:xfrm>
            <a:off x="4815663" y="2229967"/>
            <a:ext cx="1316736" cy="704088"/>
          </a:xfrm>
          <a:prstGeom prst="chevron">
            <a:avLst>
              <a:gd name="adj" fmla="val 50000"/>
            </a:avLst>
          </a:prstGeom>
          <a:solidFill>
            <a:schemeClr val="dk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875" tIns="121875" rIns="121875" bIns="1218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" name="Google Shape;104;p18">
            <a:extLst>
              <a:ext uri="{FF2B5EF4-FFF2-40B4-BE49-F238E27FC236}">
                <a16:creationId xmlns:a16="http://schemas.microsoft.com/office/drawing/2014/main" id="{91E9BCF3-B9E4-E389-53CA-C37F561505F9}"/>
              </a:ext>
            </a:extLst>
          </p:cNvPr>
          <p:cNvSpPr txBox="1">
            <a:spLocks/>
          </p:cNvSpPr>
          <p:nvPr/>
        </p:nvSpPr>
        <p:spPr>
          <a:xfrm>
            <a:off x="4889023" y="2336550"/>
            <a:ext cx="1315500" cy="47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Roboto"/>
              <a:buChar char="●"/>
              <a:defRPr sz="18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 sz="14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 sz="14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 sz="14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 sz="14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 sz="14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 sz="14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 sz="14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2"/>
              </a:buClr>
              <a:buSzPts val="1400"/>
              <a:buFont typeface="Roboto"/>
              <a:buChar char="■"/>
              <a:defRPr sz="14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indent="0" algn="ctr">
              <a:lnSpc>
                <a:spcPct val="100000"/>
              </a:lnSpc>
              <a:buFont typeface="Roboto"/>
              <a:buNone/>
            </a:pPr>
            <a:r>
              <a:rPr lang="en-US" sz="1000" dirty="0">
                <a:solidFill>
                  <a:schemeClr val="lt1"/>
                </a:solidFill>
              </a:rPr>
              <a:t>SEP 24</a:t>
            </a:r>
          </a:p>
        </p:txBody>
      </p:sp>
      <p:grpSp>
        <p:nvGrpSpPr>
          <p:cNvPr id="11" name="Google Shape;123;p18">
            <a:extLst>
              <a:ext uri="{FF2B5EF4-FFF2-40B4-BE49-F238E27FC236}">
                <a16:creationId xmlns:a16="http://schemas.microsoft.com/office/drawing/2014/main" id="{7A5940CA-6F61-37F2-1A87-73CC53E09E6C}"/>
              </a:ext>
            </a:extLst>
          </p:cNvPr>
          <p:cNvGrpSpPr/>
          <p:nvPr/>
        </p:nvGrpSpPr>
        <p:grpSpPr>
          <a:xfrm>
            <a:off x="6243003" y="1637083"/>
            <a:ext cx="198900" cy="593656"/>
            <a:chOff x="3918084" y="1610215"/>
            <a:chExt cx="198900" cy="593656"/>
          </a:xfrm>
        </p:grpSpPr>
        <p:cxnSp>
          <p:nvCxnSpPr>
            <p:cNvPr id="12" name="Google Shape;124;p18">
              <a:extLst>
                <a:ext uri="{FF2B5EF4-FFF2-40B4-BE49-F238E27FC236}">
                  <a16:creationId xmlns:a16="http://schemas.microsoft.com/office/drawing/2014/main" id="{7DB19DF8-7F5A-8909-2CF7-9C738FDD2AFB}"/>
                </a:ext>
              </a:extLst>
            </p:cNvPr>
            <p:cNvCxnSpPr/>
            <p:nvPr/>
          </p:nvCxnSpPr>
          <p:spPr>
            <a:xfrm>
              <a:off x="4017546" y="1649171"/>
              <a:ext cx="0" cy="5547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13" name="Google Shape;125;p18">
              <a:extLst>
                <a:ext uri="{FF2B5EF4-FFF2-40B4-BE49-F238E27FC236}">
                  <a16:creationId xmlns:a16="http://schemas.microsoft.com/office/drawing/2014/main" id="{FF630715-02E7-B7A5-1CAC-2354910D92EA}"/>
                </a:ext>
              </a:extLst>
            </p:cNvPr>
            <p:cNvSpPr/>
            <p:nvPr/>
          </p:nvSpPr>
          <p:spPr>
            <a:xfrm>
              <a:off x="3918084" y="1610215"/>
              <a:ext cx="198900" cy="1989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grpSp>
        <p:nvGrpSpPr>
          <p:cNvPr id="14" name="Google Shape;117;p18">
            <a:extLst>
              <a:ext uri="{FF2B5EF4-FFF2-40B4-BE49-F238E27FC236}">
                <a16:creationId xmlns:a16="http://schemas.microsoft.com/office/drawing/2014/main" id="{6F6B84E5-1B61-526D-7EE7-20773B76DA9D}"/>
              </a:ext>
            </a:extLst>
          </p:cNvPr>
          <p:cNvGrpSpPr/>
          <p:nvPr/>
        </p:nvGrpSpPr>
        <p:grpSpPr>
          <a:xfrm>
            <a:off x="5377956" y="2931367"/>
            <a:ext cx="198900" cy="593656"/>
            <a:chOff x="5958946" y="2938958"/>
            <a:chExt cx="198900" cy="593656"/>
          </a:xfrm>
        </p:grpSpPr>
        <p:cxnSp>
          <p:nvCxnSpPr>
            <p:cNvPr id="15" name="Google Shape;118;p18">
              <a:extLst>
                <a:ext uri="{FF2B5EF4-FFF2-40B4-BE49-F238E27FC236}">
                  <a16:creationId xmlns:a16="http://schemas.microsoft.com/office/drawing/2014/main" id="{A56A8E0F-A055-8A3C-ABD2-0273A98A75C4}"/>
                </a:ext>
              </a:extLst>
            </p:cNvPr>
            <p:cNvCxnSpPr/>
            <p:nvPr/>
          </p:nvCxnSpPr>
          <p:spPr>
            <a:xfrm rot="10800000">
              <a:off x="6058409" y="2938958"/>
              <a:ext cx="0" cy="5547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16" name="Google Shape;119;p18">
              <a:extLst>
                <a:ext uri="{FF2B5EF4-FFF2-40B4-BE49-F238E27FC236}">
                  <a16:creationId xmlns:a16="http://schemas.microsoft.com/office/drawing/2014/main" id="{2E272AEE-33EC-27DE-BFB4-678B0A5D4440}"/>
                </a:ext>
              </a:extLst>
            </p:cNvPr>
            <p:cNvSpPr/>
            <p:nvPr/>
          </p:nvSpPr>
          <p:spPr>
            <a:xfrm rot="10800000" flipH="1">
              <a:off x="5958946" y="3333714"/>
              <a:ext cx="198900" cy="1989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7" name="Google Shape;120;p18">
            <a:extLst>
              <a:ext uri="{FF2B5EF4-FFF2-40B4-BE49-F238E27FC236}">
                <a16:creationId xmlns:a16="http://schemas.microsoft.com/office/drawing/2014/main" id="{1A3B092B-70B7-D079-488C-C4E70D267E48}"/>
              </a:ext>
            </a:extLst>
          </p:cNvPr>
          <p:cNvSpPr txBox="1">
            <a:spLocks/>
          </p:cNvSpPr>
          <p:nvPr/>
        </p:nvSpPr>
        <p:spPr>
          <a:xfrm>
            <a:off x="4734639" y="3553186"/>
            <a:ext cx="2242800" cy="90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Roboto"/>
              <a:buChar char="●"/>
              <a:defRPr sz="18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 sz="14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 sz="14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 sz="14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 sz="14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 sz="14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 sz="14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 sz="14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2"/>
              </a:buClr>
              <a:buSzPts val="1400"/>
              <a:buFont typeface="Roboto"/>
              <a:buChar char="■"/>
              <a:defRPr sz="14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indent="0">
              <a:spcAft>
                <a:spcPts val="1600"/>
              </a:spcAft>
              <a:buNone/>
            </a:pPr>
            <a:r>
              <a:rPr lang="en-US" sz="1000" dirty="0">
                <a:solidFill>
                  <a:schemeClr val="bg2"/>
                </a:solidFill>
              </a:rPr>
              <a:t>Law Enforcement: UK National Crime Agency arrests suspect in West Sussex</a:t>
            </a:r>
          </a:p>
        </p:txBody>
      </p:sp>
      <p:sp>
        <p:nvSpPr>
          <p:cNvPr id="18" name="Google Shape;103;p18">
            <a:extLst>
              <a:ext uri="{FF2B5EF4-FFF2-40B4-BE49-F238E27FC236}">
                <a16:creationId xmlns:a16="http://schemas.microsoft.com/office/drawing/2014/main" id="{2177BE26-5497-EA79-9672-0956F5C0E409}"/>
              </a:ext>
            </a:extLst>
          </p:cNvPr>
          <p:cNvSpPr/>
          <p:nvPr/>
        </p:nvSpPr>
        <p:spPr>
          <a:xfrm>
            <a:off x="5772064" y="2227279"/>
            <a:ext cx="1316736" cy="704088"/>
          </a:xfrm>
          <a:prstGeom prst="chevron">
            <a:avLst>
              <a:gd name="adj" fmla="val 50000"/>
            </a:avLst>
          </a:prstGeom>
          <a:solidFill>
            <a:schemeClr val="dk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875" tIns="121875" rIns="121875" bIns="1218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" name="Google Shape;104;p18">
            <a:extLst>
              <a:ext uri="{FF2B5EF4-FFF2-40B4-BE49-F238E27FC236}">
                <a16:creationId xmlns:a16="http://schemas.microsoft.com/office/drawing/2014/main" id="{D3FC316C-DA36-FD6C-3900-DBDB21BC58A1}"/>
              </a:ext>
            </a:extLst>
          </p:cNvPr>
          <p:cNvSpPr txBox="1">
            <a:spLocks/>
          </p:cNvSpPr>
          <p:nvPr/>
        </p:nvSpPr>
        <p:spPr>
          <a:xfrm>
            <a:off x="5784153" y="2323417"/>
            <a:ext cx="1315500" cy="47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Roboto"/>
              <a:buChar char="●"/>
              <a:defRPr sz="18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 sz="14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 sz="14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 sz="14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 sz="14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 sz="14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 sz="14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 sz="14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2"/>
              </a:buClr>
              <a:buSzPts val="1400"/>
              <a:buFont typeface="Roboto"/>
              <a:buChar char="■"/>
              <a:defRPr sz="14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indent="0" algn="ctr">
              <a:lnSpc>
                <a:spcPct val="100000"/>
              </a:lnSpc>
              <a:buFont typeface="Roboto"/>
              <a:buNone/>
            </a:pPr>
            <a:r>
              <a:rPr lang="en-US" sz="1000" dirty="0">
                <a:solidFill>
                  <a:schemeClr val="lt1"/>
                </a:solidFill>
              </a:rPr>
              <a:t>SEP 25</a:t>
            </a:r>
          </a:p>
        </p:txBody>
      </p:sp>
      <p:sp>
        <p:nvSpPr>
          <p:cNvPr id="20" name="Google Shape;126;p18">
            <a:extLst>
              <a:ext uri="{FF2B5EF4-FFF2-40B4-BE49-F238E27FC236}">
                <a16:creationId xmlns:a16="http://schemas.microsoft.com/office/drawing/2014/main" id="{7AE2F9BE-9B09-0249-5348-AB8C7B838A2E}"/>
              </a:ext>
            </a:extLst>
          </p:cNvPr>
          <p:cNvSpPr txBox="1">
            <a:spLocks/>
          </p:cNvSpPr>
          <p:nvPr/>
        </p:nvSpPr>
        <p:spPr>
          <a:xfrm>
            <a:off x="5427943" y="856436"/>
            <a:ext cx="1807200" cy="90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Roboto"/>
              <a:buChar char="●"/>
              <a:defRPr sz="18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 sz="14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 sz="14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 sz="14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 sz="14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 sz="14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 sz="14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 sz="14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2"/>
              </a:buClr>
              <a:buSzPts val="1400"/>
              <a:buFont typeface="Roboto"/>
              <a:buChar char="■"/>
              <a:defRPr sz="14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indent="0">
              <a:spcAft>
                <a:spcPts val="1600"/>
              </a:spcAft>
              <a:buNone/>
            </a:pPr>
            <a:r>
              <a:rPr lang="en-US" sz="1000" dirty="0">
                <a:solidFill>
                  <a:schemeClr val="bg2"/>
                </a:solidFill>
              </a:rPr>
              <a:t>Official Disclosure: RTX files SEC Form 8-K confirming ransomware</a:t>
            </a:r>
          </a:p>
        </p:txBody>
      </p:sp>
      <p:sp>
        <p:nvSpPr>
          <p:cNvPr id="21" name="Google Shape;103;p18">
            <a:extLst>
              <a:ext uri="{FF2B5EF4-FFF2-40B4-BE49-F238E27FC236}">
                <a16:creationId xmlns:a16="http://schemas.microsoft.com/office/drawing/2014/main" id="{05E6FB64-38A9-8933-33DF-44DF59E37242}"/>
              </a:ext>
            </a:extLst>
          </p:cNvPr>
          <p:cNvSpPr/>
          <p:nvPr/>
        </p:nvSpPr>
        <p:spPr>
          <a:xfrm>
            <a:off x="6755662" y="2236987"/>
            <a:ext cx="1316736" cy="704088"/>
          </a:xfrm>
          <a:prstGeom prst="chevron">
            <a:avLst>
              <a:gd name="adj" fmla="val 50000"/>
            </a:avLst>
          </a:prstGeom>
          <a:solidFill>
            <a:schemeClr val="dk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875" tIns="121875" rIns="121875" bIns="1218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" name="Google Shape;104;p18">
            <a:extLst>
              <a:ext uri="{FF2B5EF4-FFF2-40B4-BE49-F238E27FC236}">
                <a16:creationId xmlns:a16="http://schemas.microsoft.com/office/drawing/2014/main" id="{829560BE-065A-FB1E-D318-0D50E4F434A7}"/>
              </a:ext>
            </a:extLst>
          </p:cNvPr>
          <p:cNvSpPr txBox="1">
            <a:spLocks/>
          </p:cNvSpPr>
          <p:nvPr/>
        </p:nvSpPr>
        <p:spPr>
          <a:xfrm>
            <a:off x="6800589" y="2323417"/>
            <a:ext cx="1315500" cy="47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Roboto"/>
              <a:buChar char="●"/>
              <a:defRPr sz="18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 sz="14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 sz="14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 sz="14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 sz="14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 sz="14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 sz="14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 sz="14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2"/>
              </a:buClr>
              <a:buSzPts val="1400"/>
              <a:buFont typeface="Roboto"/>
              <a:buChar char="■"/>
              <a:defRPr sz="14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indent="0" algn="ctr">
              <a:lnSpc>
                <a:spcPct val="100000"/>
              </a:lnSpc>
              <a:buFont typeface="Roboto"/>
              <a:buNone/>
            </a:pPr>
            <a:r>
              <a:rPr lang="en-US" sz="1000" dirty="0">
                <a:solidFill>
                  <a:schemeClr val="lt1"/>
                </a:solidFill>
              </a:rPr>
              <a:t>SEP 19 -26</a:t>
            </a:r>
          </a:p>
        </p:txBody>
      </p:sp>
      <p:grpSp>
        <p:nvGrpSpPr>
          <p:cNvPr id="23" name="Google Shape;117;p18">
            <a:extLst>
              <a:ext uri="{FF2B5EF4-FFF2-40B4-BE49-F238E27FC236}">
                <a16:creationId xmlns:a16="http://schemas.microsoft.com/office/drawing/2014/main" id="{1828C179-496D-F395-D879-4BB5E10AF4C4}"/>
              </a:ext>
            </a:extLst>
          </p:cNvPr>
          <p:cNvGrpSpPr/>
          <p:nvPr/>
        </p:nvGrpSpPr>
        <p:grpSpPr>
          <a:xfrm>
            <a:off x="7583952" y="2980571"/>
            <a:ext cx="198900" cy="593656"/>
            <a:chOff x="5958946" y="2938958"/>
            <a:chExt cx="198900" cy="593656"/>
          </a:xfrm>
        </p:grpSpPr>
        <p:cxnSp>
          <p:nvCxnSpPr>
            <p:cNvPr id="24" name="Google Shape;118;p18">
              <a:extLst>
                <a:ext uri="{FF2B5EF4-FFF2-40B4-BE49-F238E27FC236}">
                  <a16:creationId xmlns:a16="http://schemas.microsoft.com/office/drawing/2014/main" id="{2E02FA3A-4C60-5D61-A63A-21DC009AC819}"/>
                </a:ext>
              </a:extLst>
            </p:cNvPr>
            <p:cNvCxnSpPr/>
            <p:nvPr/>
          </p:nvCxnSpPr>
          <p:spPr>
            <a:xfrm rot="10800000">
              <a:off x="6058409" y="2938958"/>
              <a:ext cx="0" cy="5547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25" name="Google Shape;119;p18">
              <a:extLst>
                <a:ext uri="{FF2B5EF4-FFF2-40B4-BE49-F238E27FC236}">
                  <a16:creationId xmlns:a16="http://schemas.microsoft.com/office/drawing/2014/main" id="{C99F7C84-168B-4AED-BA2B-3D529588DB2D}"/>
                </a:ext>
              </a:extLst>
            </p:cNvPr>
            <p:cNvSpPr/>
            <p:nvPr/>
          </p:nvSpPr>
          <p:spPr>
            <a:xfrm rot="10800000" flipH="1">
              <a:off x="5958946" y="3333714"/>
              <a:ext cx="198900" cy="1989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6" name="Google Shape;120;p18">
            <a:extLst>
              <a:ext uri="{FF2B5EF4-FFF2-40B4-BE49-F238E27FC236}">
                <a16:creationId xmlns:a16="http://schemas.microsoft.com/office/drawing/2014/main" id="{E410A095-723B-283E-9492-B7680AE1F4A7}"/>
              </a:ext>
            </a:extLst>
          </p:cNvPr>
          <p:cNvSpPr txBox="1">
            <a:spLocks/>
          </p:cNvSpPr>
          <p:nvPr/>
        </p:nvSpPr>
        <p:spPr>
          <a:xfrm>
            <a:off x="7235142" y="3637186"/>
            <a:ext cx="1669109" cy="6992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Roboto"/>
              <a:buChar char="●"/>
              <a:defRPr sz="18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 sz="14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 sz="14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 sz="14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 sz="14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 sz="14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 sz="14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 sz="14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2"/>
              </a:buClr>
              <a:buSzPts val="1400"/>
              <a:buFont typeface="Roboto"/>
              <a:buChar char="■"/>
              <a:defRPr sz="14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indent="0">
              <a:spcAft>
                <a:spcPts val="1600"/>
              </a:spcAft>
              <a:buNone/>
            </a:pPr>
            <a:r>
              <a:rPr lang="en-US" sz="1000" dirty="0">
                <a:solidFill>
                  <a:schemeClr val="bg2"/>
                </a:solidFill>
              </a:rPr>
              <a:t>Recovery Period: </a:t>
            </a:r>
            <a:r>
              <a:rPr lang="en-US" sz="1000" b="1" dirty="0">
                <a:solidFill>
                  <a:schemeClr val="bg2"/>
                </a:solidFill>
              </a:rPr>
              <a:t>7 DAYS TOTAL</a:t>
            </a:r>
            <a:r>
              <a:rPr lang="en-US" sz="1000" dirty="0">
                <a:solidFill>
                  <a:schemeClr val="bg2"/>
                </a:solidFill>
              </a:rPr>
              <a:t> (Target RTO: 4 hours)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558AF007-292C-6DFC-11D2-DEDBFD2248AE}"/>
              </a:ext>
            </a:extLst>
          </p:cNvPr>
          <p:cNvSpPr/>
          <p:nvPr/>
        </p:nvSpPr>
        <p:spPr>
          <a:xfrm>
            <a:off x="0" y="0"/>
            <a:ext cx="9144000" cy="732019"/>
          </a:xfrm>
          <a:prstGeom prst="rect">
            <a:avLst/>
          </a:prstGeom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THE SEPTEMBER 2025 ATTACK - TIMELINE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0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0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0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1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1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9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8" grpId="0" build="p"/>
      <p:bldP spid="114" grpId="0" build="p"/>
      <p:bldP spid="120" grpId="0" build="p"/>
      <p:bldP spid="126" grpId="0" build="p"/>
      <p:bldP spid="17" grpId="0"/>
      <p:bldP spid="20" grpId="0"/>
      <p:bldP spid="26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>
          <a:extLst>
            <a:ext uri="{FF2B5EF4-FFF2-40B4-BE49-F238E27FC236}">
              <a16:creationId xmlns:a16="http://schemas.microsoft.com/office/drawing/2014/main" id="{997D0BE7-04EF-2B3E-D9E6-BA33EF9428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8">
            <a:extLst>
              <a:ext uri="{FF2B5EF4-FFF2-40B4-BE49-F238E27FC236}">
                <a16:creationId xmlns:a16="http://schemas.microsoft.com/office/drawing/2014/main" id="{D9EF71F9-CDD3-59F5-5008-F1BBB0E71289}"/>
              </a:ext>
            </a:extLst>
          </p:cNvPr>
          <p:cNvSpPr/>
          <p:nvPr/>
        </p:nvSpPr>
        <p:spPr>
          <a:xfrm>
            <a:off x="50883" y="2257366"/>
            <a:ext cx="1315530" cy="701672"/>
          </a:xfrm>
          <a:prstGeom prst="homePlate">
            <a:avLst>
              <a:gd name="adj" fmla="val 50000"/>
            </a:avLst>
          </a:prstGeom>
          <a:solidFill>
            <a:schemeClr val="dk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875" tIns="121875" rIns="121875" bIns="1218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p18">
            <a:extLst>
              <a:ext uri="{FF2B5EF4-FFF2-40B4-BE49-F238E27FC236}">
                <a16:creationId xmlns:a16="http://schemas.microsoft.com/office/drawing/2014/main" id="{79D674A3-4A96-E97F-21E6-123C43D606F7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-101284" y="2366318"/>
            <a:ext cx="1455600" cy="470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>
              <a:lnSpc>
                <a:spcPct val="100000"/>
              </a:lnSpc>
              <a:buNone/>
            </a:pPr>
            <a:r>
              <a:rPr lang="en-US" sz="2000" b="1" dirty="0">
                <a:solidFill>
                  <a:schemeClr val="bg1"/>
                </a:solidFill>
              </a:rPr>
              <a:t>170+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endParaRPr sz="2000" dirty="0">
              <a:solidFill>
                <a:schemeClr val="bg1"/>
              </a:solidFill>
            </a:endParaRPr>
          </a:p>
        </p:txBody>
      </p:sp>
      <p:grpSp>
        <p:nvGrpSpPr>
          <p:cNvPr id="99" name="Google Shape;99;p18">
            <a:extLst>
              <a:ext uri="{FF2B5EF4-FFF2-40B4-BE49-F238E27FC236}">
                <a16:creationId xmlns:a16="http://schemas.microsoft.com/office/drawing/2014/main" id="{FFC74276-801A-651B-1D41-E31E8103DAD7}"/>
              </a:ext>
            </a:extLst>
          </p:cNvPr>
          <p:cNvGrpSpPr/>
          <p:nvPr/>
        </p:nvGrpSpPr>
        <p:grpSpPr>
          <a:xfrm>
            <a:off x="402704" y="1658675"/>
            <a:ext cx="198900" cy="593656"/>
            <a:chOff x="777447" y="1610215"/>
            <a:chExt cx="198900" cy="593656"/>
          </a:xfrm>
        </p:grpSpPr>
        <p:cxnSp>
          <p:nvCxnSpPr>
            <p:cNvPr id="100" name="Google Shape;100;p18">
              <a:extLst>
                <a:ext uri="{FF2B5EF4-FFF2-40B4-BE49-F238E27FC236}">
                  <a16:creationId xmlns:a16="http://schemas.microsoft.com/office/drawing/2014/main" id="{5207163B-CB5F-04F9-6D8C-8585FF215D08}"/>
                </a:ext>
              </a:extLst>
            </p:cNvPr>
            <p:cNvCxnSpPr/>
            <p:nvPr/>
          </p:nvCxnSpPr>
          <p:spPr>
            <a:xfrm>
              <a:off x="876909" y="1649171"/>
              <a:ext cx="0" cy="5547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101" name="Google Shape;101;p18">
              <a:extLst>
                <a:ext uri="{FF2B5EF4-FFF2-40B4-BE49-F238E27FC236}">
                  <a16:creationId xmlns:a16="http://schemas.microsoft.com/office/drawing/2014/main" id="{65E5B4C8-1027-23D5-F2CE-7043E75BF869}"/>
                </a:ext>
              </a:extLst>
            </p:cNvPr>
            <p:cNvSpPr/>
            <p:nvPr/>
          </p:nvSpPr>
          <p:spPr>
            <a:xfrm>
              <a:off x="777447" y="1610215"/>
              <a:ext cx="198900" cy="1989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2" name="Google Shape;102;p18">
            <a:extLst>
              <a:ext uri="{FF2B5EF4-FFF2-40B4-BE49-F238E27FC236}">
                <a16:creationId xmlns:a16="http://schemas.microsoft.com/office/drawing/2014/main" id="{EFC1DAE4-D6D7-0400-1705-C128065A9C27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-39246" y="1409092"/>
            <a:ext cx="1467047" cy="39021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Aft>
                <a:spcPts val="1600"/>
              </a:spcAft>
              <a:buNone/>
            </a:pPr>
            <a:r>
              <a:rPr lang="en-US" sz="1000" b="1" dirty="0">
                <a:solidFill>
                  <a:schemeClr val="bg2">
                    <a:lumMod val="50000"/>
                  </a:schemeClr>
                </a:solidFill>
              </a:rPr>
              <a:t>Airports Affected</a:t>
            </a:r>
            <a:endParaRPr sz="1000" b="1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103" name="Google Shape;103;p18">
            <a:extLst>
              <a:ext uri="{FF2B5EF4-FFF2-40B4-BE49-F238E27FC236}">
                <a16:creationId xmlns:a16="http://schemas.microsoft.com/office/drawing/2014/main" id="{913F8FA6-4EAD-4069-9B69-86DB27401945}"/>
              </a:ext>
            </a:extLst>
          </p:cNvPr>
          <p:cNvSpPr/>
          <p:nvPr/>
        </p:nvSpPr>
        <p:spPr>
          <a:xfrm>
            <a:off x="1735484" y="2195360"/>
            <a:ext cx="1316736" cy="704088"/>
          </a:xfrm>
          <a:prstGeom prst="chevron">
            <a:avLst>
              <a:gd name="adj" fmla="val 50000"/>
            </a:avLst>
          </a:prstGeom>
          <a:solidFill>
            <a:schemeClr val="dk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875" tIns="121875" rIns="121875" bIns="1218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" name="Google Shape;104;p18">
            <a:extLst>
              <a:ext uri="{FF2B5EF4-FFF2-40B4-BE49-F238E27FC236}">
                <a16:creationId xmlns:a16="http://schemas.microsoft.com/office/drawing/2014/main" id="{1EC4BEBB-86AA-5306-4031-66277761D2DF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1780358" y="2309581"/>
            <a:ext cx="1315500" cy="470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>
              <a:lnSpc>
                <a:spcPct val="100000"/>
              </a:lnSpc>
              <a:buNone/>
            </a:pPr>
            <a:r>
              <a:rPr lang="en-US" sz="2000" dirty="0">
                <a:solidFill>
                  <a:schemeClr val="bg1"/>
                </a:solidFill>
              </a:rPr>
              <a:t>217</a:t>
            </a:r>
            <a:r>
              <a:rPr lang="en-US" sz="2000" dirty="0"/>
              <a:t> </a:t>
            </a:r>
            <a:endParaRPr sz="2000" dirty="0">
              <a:solidFill>
                <a:schemeClr val="lt1"/>
              </a:solidFill>
            </a:endParaRPr>
          </a:p>
        </p:txBody>
      </p:sp>
      <p:grpSp>
        <p:nvGrpSpPr>
          <p:cNvPr id="105" name="Google Shape;105;p18">
            <a:extLst>
              <a:ext uri="{FF2B5EF4-FFF2-40B4-BE49-F238E27FC236}">
                <a16:creationId xmlns:a16="http://schemas.microsoft.com/office/drawing/2014/main" id="{2B64439C-B1D8-8B6F-61AD-86AE6BBC8C5D}"/>
              </a:ext>
            </a:extLst>
          </p:cNvPr>
          <p:cNvGrpSpPr/>
          <p:nvPr/>
        </p:nvGrpSpPr>
        <p:grpSpPr>
          <a:xfrm>
            <a:off x="2164634" y="2878621"/>
            <a:ext cx="198900" cy="593656"/>
            <a:chOff x="2223534" y="2938958"/>
            <a:chExt cx="198900" cy="593656"/>
          </a:xfrm>
        </p:grpSpPr>
        <p:cxnSp>
          <p:nvCxnSpPr>
            <p:cNvPr id="106" name="Google Shape;106;p18">
              <a:extLst>
                <a:ext uri="{FF2B5EF4-FFF2-40B4-BE49-F238E27FC236}">
                  <a16:creationId xmlns:a16="http://schemas.microsoft.com/office/drawing/2014/main" id="{660C0B89-014F-E1E3-8AAB-51EBEECB102C}"/>
                </a:ext>
              </a:extLst>
            </p:cNvPr>
            <p:cNvCxnSpPr/>
            <p:nvPr/>
          </p:nvCxnSpPr>
          <p:spPr>
            <a:xfrm rot="10800000">
              <a:off x="2322997" y="2938958"/>
              <a:ext cx="0" cy="5547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107" name="Google Shape;107;p18">
              <a:extLst>
                <a:ext uri="{FF2B5EF4-FFF2-40B4-BE49-F238E27FC236}">
                  <a16:creationId xmlns:a16="http://schemas.microsoft.com/office/drawing/2014/main" id="{E2ADA310-3ADF-79EE-2A6F-7FAA51C86AEC}"/>
                </a:ext>
              </a:extLst>
            </p:cNvPr>
            <p:cNvSpPr/>
            <p:nvPr/>
          </p:nvSpPr>
          <p:spPr>
            <a:xfrm rot="10800000" flipH="1">
              <a:off x="2223534" y="3333714"/>
              <a:ext cx="198900" cy="1989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8" name="Google Shape;108;p18">
            <a:extLst>
              <a:ext uri="{FF2B5EF4-FFF2-40B4-BE49-F238E27FC236}">
                <a16:creationId xmlns:a16="http://schemas.microsoft.com/office/drawing/2014/main" id="{D581E70B-B2E4-F8BD-433B-7ABA783A95C0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1628811" y="3375299"/>
            <a:ext cx="1467047" cy="31394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Aft>
                <a:spcPts val="1600"/>
              </a:spcAft>
              <a:buNone/>
            </a:pPr>
            <a:r>
              <a:rPr lang="en-US" sz="1000" b="1" dirty="0">
                <a:solidFill>
                  <a:schemeClr val="bg2">
                    <a:lumMod val="50000"/>
                  </a:schemeClr>
                </a:solidFill>
              </a:rPr>
              <a:t>Flights Cancelled</a:t>
            </a:r>
            <a:endParaRPr sz="1000" b="1" dirty="0">
              <a:solidFill>
                <a:schemeClr val="bg2">
                  <a:lumMod val="50000"/>
                </a:schemeClr>
              </a:solidFill>
            </a:endParaRPr>
          </a:p>
        </p:txBody>
      </p:sp>
      <p:grpSp>
        <p:nvGrpSpPr>
          <p:cNvPr id="111" name="Google Shape;111;p18">
            <a:extLst>
              <a:ext uri="{FF2B5EF4-FFF2-40B4-BE49-F238E27FC236}">
                <a16:creationId xmlns:a16="http://schemas.microsoft.com/office/drawing/2014/main" id="{3CAA4784-2751-680B-04BB-E7A8E7DA61F9}"/>
              </a:ext>
            </a:extLst>
          </p:cNvPr>
          <p:cNvGrpSpPr/>
          <p:nvPr/>
        </p:nvGrpSpPr>
        <p:grpSpPr>
          <a:xfrm>
            <a:off x="3679970" y="1574570"/>
            <a:ext cx="198900" cy="593656"/>
            <a:chOff x="3918084" y="1610215"/>
            <a:chExt cx="198900" cy="593656"/>
          </a:xfrm>
        </p:grpSpPr>
        <p:cxnSp>
          <p:nvCxnSpPr>
            <p:cNvPr id="112" name="Google Shape;112;p18">
              <a:extLst>
                <a:ext uri="{FF2B5EF4-FFF2-40B4-BE49-F238E27FC236}">
                  <a16:creationId xmlns:a16="http://schemas.microsoft.com/office/drawing/2014/main" id="{8CF90CA2-FA4F-3BF5-B8FF-E237184319FB}"/>
                </a:ext>
              </a:extLst>
            </p:cNvPr>
            <p:cNvCxnSpPr/>
            <p:nvPr/>
          </p:nvCxnSpPr>
          <p:spPr>
            <a:xfrm>
              <a:off x="4017546" y="1649171"/>
              <a:ext cx="0" cy="5547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113" name="Google Shape;113;p18">
              <a:extLst>
                <a:ext uri="{FF2B5EF4-FFF2-40B4-BE49-F238E27FC236}">
                  <a16:creationId xmlns:a16="http://schemas.microsoft.com/office/drawing/2014/main" id="{34E4B1F4-97EF-7A11-F641-33118888F8BA}"/>
                </a:ext>
              </a:extLst>
            </p:cNvPr>
            <p:cNvSpPr/>
            <p:nvPr/>
          </p:nvSpPr>
          <p:spPr>
            <a:xfrm>
              <a:off x="3918084" y="1610215"/>
              <a:ext cx="198900" cy="1989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14" name="Google Shape;114;p18">
            <a:extLst>
              <a:ext uri="{FF2B5EF4-FFF2-40B4-BE49-F238E27FC236}">
                <a16:creationId xmlns:a16="http://schemas.microsoft.com/office/drawing/2014/main" id="{93615BE1-EC77-19B3-9831-DAB1BF5D9EC3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3095858" y="1294298"/>
            <a:ext cx="1316736" cy="39021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Aft>
                <a:spcPts val="1600"/>
              </a:spcAft>
              <a:buNone/>
            </a:pPr>
            <a:r>
              <a:rPr lang="en-US" sz="1000" b="1" dirty="0">
                <a:solidFill>
                  <a:schemeClr val="bg2">
                    <a:lumMod val="50000"/>
                  </a:schemeClr>
                </a:solidFill>
              </a:rPr>
              <a:t>Systems Encrypted</a:t>
            </a:r>
            <a:endParaRPr sz="1000" b="1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116" name="Google Shape;116;p18">
            <a:extLst>
              <a:ext uri="{FF2B5EF4-FFF2-40B4-BE49-F238E27FC236}">
                <a16:creationId xmlns:a16="http://schemas.microsoft.com/office/drawing/2014/main" id="{4D9982C7-29CD-C0EE-F55A-D59B4C341462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7318150" y="164176"/>
            <a:ext cx="1315500" cy="470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lt1"/>
                </a:solidFill>
              </a:rPr>
              <a:t>30 mins</a:t>
            </a:r>
            <a:endParaRPr dirty="0">
              <a:solidFill>
                <a:schemeClr val="lt1"/>
              </a:solidFill>
            </a:endParaRPr>
          </a:p>
        </p:txBody>
      </p:sp>
      <p:grpSp>
        <p:nvGrpSpPr>
          <p:cNvPr id="117" name="Google Shape;117;p18">
            <a:extLst>
              <a:ext uri="{FF2B5EF4-FFF2-40B4-BE49-F238E27FC236}">
                <a16:creationId xmlns:a16="http://schemas.microsoft.com/office/drawing/2014/main" id="{A78DDB06-032A-6782-14FA-3E5CE5B00A0C}"/>
              </a:ext>
            </a:extLst>
          </p:cNvPr>
          <p:cNvGrpSpPr/>
          <p:nvPr/>
        </p:nvGrpSpPr>
        <p:grpSpPr>
          <a:xfrm>
            <a:off x="5077704" y="2847281"/>
            <a:ext cx="198900" cy="593656"/>
            <a:chOff x="5958946" y="2938958"/>
            <a:chExt cx="198900" cy="593656"/>
          </a:xfrm>
        </p:grpSpPr>
        <p:cxnSp>
          <p:nvCxnSpPr>
            <p:cNvPr id="118" name="Google Shape;118;p18">
              <a:extLst>
                <a:ext uri="{FF2B5EF4-FFF2-40B4-BE49-F238E27FC236}">
                  <a16:creationId xmlns:a16="http://schemas.microsoft.com/office/drawing/2014/main" id="{4ED47E48-2EB6-91B1-BB00-64EE5E6A8349}"/>
                </a:ext>
              </a:extLst>
            </p:cNvPr>
            <p:cNvCxnSpPr/>
            <p:nvPr/>
          </p:nvCxnSpPr>
          <p:spPr>
            <a:xfrm rot="10800000">
              <a:off x="6058409" y="2938958"/>
              <a:ext cx="0" cy="5547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119" name="Google Shape;119;p18">
              <a:extLst>
                <a:ext uri="{FF2B5EF4-FFF2-40B4-BE49-F238E27FC236}">
                  <a16:creationId xmlns:a16="http://schemas.microsoft.com/office/drawing/2014/main" id="{42DE713A-BB6C-1B2E-BBC0-95A0CD7413DC}"/>
                </a:ext>
              </a:extLst>
            </p:cNvPr>
            <p:cNvSpPr/>
            <p:nvPr/>
          </p:nvSpPr>
          <p:spPr>
            <a:xfrm rot="10800000" flipH="1">
              <a:off x="5958946" y="3333714"/>
              <a:ext cx="198900" cy="1989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20" name="Google Shape;120;p18">
            <a:extLst>
              <a:ext uri="{FF2B5EF4-FFF2-40B4-BE49-F238E27FC236}">
                <a16:creationId xmlns:a16="http://schemas.microsoft.com/office/drawing/2014/main" id="{10CB5255-51D2-AB08-0B19-24543C8B647D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4459105" y="3375299"/>
            <a:ext cx="1689645" cy="31394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Aft>
                <a:spcPts val="1600"/>
              </a:spcAft>
              <a:buNone/>
            </a:pPr>
            <a:r>
              <a:rPr lang="en-US" sz="1000" b="1" dirty="0">
                <a:solidFill>
                  <a:schemeClr val="bg2">
                    <a:lumMod val="50000"/>
                  </a:schemeClr>
                </a:solidFill>
              </a:rPr>
              <a:t>Data Loss Window</a:t>
            </a:r>
            <a:endParaRPr sz="1000" b="1" dirty="0">
              <a:solidFill>
                <a:schemeClr val="bg2">
                  <a:lumMod val="50000"/>
                </a:schemeClr>
              </a:solidFill>
            </a:endParaRPr>
          </a:p>
        </p:txBody>
      </p:sp>
      <p:grpSp>
        <p:nvGrpSpPr>
          <p:cNvPr id="123" name="Google Shape;123;p18">
            <a:extLst>
              <a:ext uri="{FF2B5EF4-FFF2-40B4-BE49-F238E27FC236}">
                <a16:creationId xmlns:a16="http://schemas.microsoft.com/office/drawing/2014/main" id="{C8A43626-7098-F679-BA82-546E546E5432}"/>
              </a:ext>
            </a:extLst>
          </p:cNvPr>
          <p:cNvGrpSpPr/>
          <p:nvPr/>
        </p:nvGrpSpPr>
        <p:grpSpPr>
          <a:xfrm>
            <a:off x="6765125" y="1645557"/>
            <a:ext cx="198900" cy="593656"/>
            <a:chOff x="3918084" y="1610215"/>
            <a:chExt cx="198900" cy="593656"/>
          </a:xfrm>
        </p:grpSpPr>
        <p:cxnSp>
          <p:nvCxnSpPr>
            <p:cNvPr id="124" name="Google Shape;124;p18">
              <a:extLst>
                <a:ext uri="{FF2B5EF4-FFF2-40B4-BE49-F238E27FC236}">
                  <a16:creationId xmlns:a16="http://schemas.microsoft.com/office/drawing/2014/main" id="{13A89E6E-938A-DD46-29C6-C083D8B97FC4}"/>
                </a:ext>
              </a:extLst>
            </p:cNvPr>
            <p:cNvCxnSpPr/>
            <p:nvPr/>
          </p:nvCxnSpPr>
          <p:spPr>
            <a:xfrm>
              <a:off x="4017546" y="1649171"/>
              <a:ext cx="0" cy="5547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125" name="Google Shape;125;p18">
              <a:extLst>
                <a:ext uri="{FF2B5EF4-FFF2-40B4-BE49-F238E27FC236}">
                  <a16:creationId xmlns:a16="http://schemas.microsoft.com/office/drawing/2014/main" id="{FFE09571-9A85-A36C-166C-C0695F9499AD}"/>
                </a:ext>
              </a:extLst>
            </p:cNvPr>
            <p:cNvSpPr/>
            <p:nvPr/>
          </p:nvSpPr>
          <p:spPr>
            <a:xfrm>
              <a:off x="3918084" y="1610215"/>
              <a:ext cx="198900" cy="1989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sp>
        <p:nvSpPr>
          <p:cNvPr id="126" name="Google Shape;126;p18">
            <a:extLst>
              <a:ext uri="{FF2B5EF4-FFF2-40B4-BE49-F238E27FC236}">
                <a16:creationId xmlns:a16="http://schemas.microsoft.com/office/drawing/2014/main" id="{E30C37EC-0D9C-302D-C3DF-22DE46AFE6B0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5942623" y="1395894"/>
            <a:ext cx="2029275" cy="38889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Aft>
                <a:spcPts val="1600"/>
              </a:spcAft>
              <a:buNone/>
            </a:pPr>
            <a:r>
              <a:rPr lang="en-US" sz="1000" b="1" dirty="0">
                <a:solidFill>
                  <a:schemeClr val="bg2">
                    <a:lumMod val="50000"/>
                  </a:schemeClr>
                </a:solidFill>
              </a:rPr>
              <a:t>Passenger Transactions Lost</a:t>
            </a:r>
            <a:endParaRPr sz="1000" b="1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3" name="Google Shape;103;p18">
            <a:extLst>
              <a:ext uri="{FF2B5EF4-FFF2-40B4-BE49-F238E27FC236}">
                <a16:creationId xmlns:a16="http://schemas.microsoft.com/office/drawing/2014/main" id="{D9D97E61-E924-43DB-62F2-D25AC7204232}"/>
              </a:ext>
            </a:extLst>
          </p:cNvPr>
          <p:cNvSpPr/>
          <p:nvPr/>
        </p:nvSpPr>
        <p:spPr>
          <a:xfrm>
            <a:off x="3220502" y="2174533"/>
            <a:ext cx="1316736" cy="704088"/>
          </a:xfrm>
          <a:prstGeom prst="chevron">
            <a:avLst>
              <a:gd name="adj" fmla="val 50000"/>
            </a:avLst>
          </a:prstGeom>
          <a:solidFill>
            <a:schemeClr val="dk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875" tIns="121875" rIns="121875" bIns="1218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Google Shape;103;p18">
            <a:extLst>
              <a:ext uri="{FF2B5EF4-FFF2-40B4-BE49-F238E27FC236}">
                <a16:creationId xmlns:a16="http://schemas.microsoft.com/office/drawing/2014/main" id="{B4C10BB5-127A-C224-FF4A-A1268894EB16}"/>
              </a:ext>
            </a:extLst>
          </p:cNvPr>
          <p:cNvSpPr/>
          <p:nvPr/>
        </p:nvSpPr>
        <p:spPr>
          <a:xfrm>
            <a:off x="4761229" y="2175872"/>
            <a:ext cx="1316736" cy="704088"/>
          </a:xfrm>
          <a:prstGeom prst="chevron">
            <a:avLst>
              <a:gd name="adj" fmla="val 50000"/>
            </a:avLst>
          </a:prstGeom>
          <a:solidFill>
            <a:schemeClr val="dk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875" tIns="121875" rIns="121875" bIns="1218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" name="Google Shape;104;p18">
            <a:extLst>
              <a:ext uri="{FF2B5EF4-FFF2-40B4-BE49-F238E27FC236}">
                <a16:creationId xmlns:a16="http://schemas.microsoft.com/office/drawing/2014/main" id="{1E3083A0-FB23-BD60-A970-75D1AE783FA2}"/>
              </a:ext>
            </a:extLst>
          </p:cNvPr>
          <p:cNvSpPr txBox="1">
            <a:spLocks/>
          </p:cNvSpPr>
          <p:nvPr/>
        </p:nvSpPr>
        <p:spPr>
          <a:xfrm>
            <a:off x="4871206" y="2262679"/>
            <a:ext cx="1315500" cy="47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Roboto"/>
              <a:buChar char="●"/>
              <a:defRPr sz="18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 sz="14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 sz="14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 sz="14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 sz="14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 sz="14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 sz="14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 sz="14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2"/>
              </a:buClr>
              <a:buSzPts val="1400"/>
              <a:buFont typeface="Roboto"/>
              <a:buChar char="■"/>
              <a:defRPr sz="14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indent="0" algn="ctr">
              <a:lnSpc>
                <a:spcPct val="100000"/>
              </a:lnSpc>
              <a:buNone/>
            </a:pPr>
            <a:r>
              <a:rPr lang="en-US" sz="2000" b="1" dirty="0">
                <a:solidFill>
                  <a:schemeClr val="bg1"/>
                </a:solidFill>
              </a:rPr>
              <a:t>6 Days</a:t>
            </a:r>
          </a:p>
        </p:txBody>
      </p:sp>
      <p:sp>
        <p:nvSpPr>
          <p:cNvPr id="6" name="Google Shape;104;p18">
            <a:extLst>
              <a:ext uri="{FF2B5EF4-FFF2-40B4-BE49-F238E27FC236}">
                <a16:creationId xmlns:a16="http://schemas.microsoft.com/office/drawing/2014/main" id="{7A017F67-DF90-6E0D-F19E-D1A87B761A87}"/>
              </a:ext>
            </a:extLst>
          </p:cNvPr>
          <p:cNvSpPr txBox="1">
            <a:spLocks/>
          </p:cNvSpPr>
          <p:nvPr/>
        </p:nvSpPr>
        <p:spPr>
          <a:xfrm>
            <a:off x="3341507" y="2272090"/>
            <a:ext cx="1315500" cy="47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Roboto"/>
              <a:buChar char="●"/>
              <a:defRPr sz="18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 sz="14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 sz="14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 sz="14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 sz="14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 sz="14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 sz="14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 sz="14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2"/>
              </a:buClr>
              <a:buSzPts val="1400"/>
              <a:buFont typeface="Roboto"/>
              <a:buChar char="■"/>
              <a:defRPr sz="14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indent="0" algn="ctr">
              <a:lnSpc>
                <a:spcPct val="100000"/>
              </a:lnSpc>
              <a:buNone/>
            </a:pPr>
            <a:r>
              <a:rPr lang="en-US" sz="2000" b="1" dirty="0">
                <a:solidFill>
                  <a:schemeClr val="bg1"/>
                </a:solidFill>
              </a:rPr>
              <a:t>1,000+</a:t>
            </a:r>
            <a:r>
              <a:rPr lang="en-US" sz="1000" b="1" dirty="0">
                <a:solidFill>
                  <a:schemeClr val="lt1"/>
                </a:solidFill>
              </a:rPr>
              <a:t> </a:t>
            </a:r>
          </a:p>
        </p:txBody>
      </p:sp>
      <p:sp>
        <p:nvSpPr>
          <p:cNvPr id="7" name="Google Shape;103;p18">
            <a:extLst>
              <a:ext uri="{FF2B5EF4-FFF2-40B4-BE49-F238E27FC236}">
                <a16:creationId xmlns:a16="http://schemas.microsoft.com/office/drawing/2014/main" id="{4F8C1A01-F6B0-4973-48F5-B088666F51D2}"/>
              </a:ext>
            </a:extLst>
          </p:cNvPr>
          <p:cNvSpPr/>
          <p:nvPr/>
        </p:nvSpPr>
        <p:spPr>
          <a:xfrm>
            <a:off x="6278780" y="2141240"/>
            <a:ext cx="1316736" cy="704088"/>
          </a:xfrm>
          <a:prstGeom prst="chevron">
            <a:avLst>
              <a:gd name="adj" fmla="val 50000"/>
            </a:avLst>
          </a:prstGeom>
          <a:solidFill>
            <a:schemeClr val="dk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875" tIns="121875" rIns="121875" bIns="1218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" name="Google Shape;104;p18">
            <a:extLst>
              <a:ext uri="{FF2B5EF4-FFF2-40B4-BE49-F238E27FC236}">
                <a16:creationId xmlns:a16="http://schemas.microsoft.com/office/drawing/2014/main" id="{D9CB5E40-BE1B-5C3A-A8A3-64B0848FCE8E}"/>
              </a:ext>
            </a:extLst>
          </p:cNvPr>
          <p:cNvSpPr txBox="1">
            <a:spLocks/>
          </p:cNvSpPr>
          <p:nvPr/>
        </p:nvSpPr>
        <p:spPr>
          <a:xfrm>
            <a:off x="6260054" y="2277734"/>
            <a:ext cx="1315500" cy="47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Roboto"/>
              <a:buChar char="●"/>
              <a:defRPr sz="18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 sz="14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 sz="14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 sz="14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 sz="14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 sz="14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 sz="14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 sz="14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2"/>
              </a:buClr>
              <a:buSzPts val="1400"/>
              <a:buFont typeface="Roboto"/>
              <a:buChar char="■"/>
              <a:defRPr sz="14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indent="0" algn="ctr">
              <a:lnSpc>
                <a:spcPct val="100000"/>
              </a:lnSpc>
              <a:buNone/>
            </a:pPr>
            <a:r>
              <a:rPr lang="en-US" sz="2000" b="1" dirty="0">
                <a:solidFill>
                  <a:schemeClr val="bg1"/>
                </a:solidFill>
              </a:rPr>
              <a:t>2.8M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</a:p>
        </p:txBody>
      </p:sp>
      <p:sp>
        <p:nvSpPr>
          <p:cNvPr id="9" name="Google Shape;103;p18">
            <a:extLst>
              <a:ext uri="{FF2B5EF4-FFF2-40B4-BE49-F238E27FC236}">
                <a16:creationId xmlns:a16="http://schemas.microsoft.com/office/drawing/2014/main" id="{43F75348-E1C5-F170-A84E-7FD20798D69C}"/>
              </a:ext>
            </a:extLst>
          </p:cNvPr>
          <p:cNvSpPr/>
          <p:nvPr/>
        </p:nvSpPr>
        <p:spPr>
          <a:xfrm>
            <a:off x="7704257" y="2132630"/>
            <a:ext cx="1316736" cy="704088"/>
          </a:xfrm>
          <a:prstGeom prst="chevron">
            <a:avLst>
              <a:gd name="adj" fmla="val 50000"/>
            </a:avLst>
          </a:prstGeom>
          <a:solidFill>
            <a:schemeClr val="dk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875" tIns="121875" rIns="121875" bIns="1218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" name="Google Shape;104;p18">
            <a:extLst>
              <a:ext uri="{FF2B5EF4-FFF2-40B4-BE49-F238E27FC236}">
                <a16:creationId xmlns:a16="http://schemas.microsoft.com/office/drawing/2014/main" id="{D42DB7BB-1B7D-1011-FE79-AA92C14C8B24}"/>
              </a:ext>
            </a:extLst>
          </p:cNvPr>
          <p:cNvSpPr txBox="1">
            <a:spLocks/>
          </p:cNvSpPr>
          <p:nvPr/>
        </p:nvSpPr>
        <p:spPr>
          <a:xfrm>
            <a:off x="7777617" y="2239213"/>
            <a:ext cx="1315500" cy="47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Roboto"/>
              <a:buChar char="●"/>
              <a:defRPr sz="18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 sz="14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 sz="14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 sz="14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 sz="14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 sz="14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 sz="14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 sz="14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2"/>
              </a:buClr>
              <a:buSzPts val="1400"/>
              <a:buFont typeface="Roboto"/>
              <a:buChar char="■"/>
              <a:defRPr sz="14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indent="0" algn="ctr">
              <a:lnSpc>
                <a:spcPct val="100000"/>
              </a:lnSpc>
              <a:buNone/>
            </a:pPr>
            <a:r>
              <a:rPr lang="en-US" sz="2000" b="1" dirty="0">
                <a:solidFill>
                  <a:schemeClr val="bg1"/>
                </a:solidFill>
              </a:rPr>
              <a:t>$15M+</a:t>
            </a:r>
          </a:p>
        </p:txBody>
      </p:sp>
      <p:grpSp>
        <p:nvGrpSpPr>
          <p:cNvPr id="14" name="Google Shape;117;p18">
            <a:extLst>
              <a:ext uri="{FF2B5EF4-FFF2-40B4-BE49-F238E27FC236}">
                <a16:creationId xmlns:a16="http://schemas.microsoft.com/office/drawing/2014/main" id="{8F5AC235-EC2F-BFC0-3648-F1D8C7A72362}"/>
              </a:ext>
            </a:extLst>
          </p:cNvPr>
          <p:cNvGrpSpPr/>
          <p:nvPr/>
        </p:nvGrpSpPr>
        <p:grpSpPr>
          <a:xfrm>
            <a:off x="8263175" y="2839666"/>
            <a:ext cx="198900" cy="593656"/>
            <a:chOff x="5958946" y="2938958"/>
            <a:chExt cx="198900" cy="593656"/>
          </a:xfrm>
        </p:grpSpPr>
        <p:cxnSp>
          <p:nvCxnSpPr>
            <p:cNvPr id="15" name="Google Shape;118;p18">
              <a:extLst>
                <a:ext uri="{FF2B5EF4-FFF2-40B4-BE49-F238E27FC236}">
                  <a16:creationId xmlns:a16="http://schemas.microsoft.com/office/drawing/2014/main" id="{47DF52B7-81CF-5C49-E3A4-3EB5348A0290}"/>
                </a:ext>
              </a:extLst>
            </p:cNvPr>
            <p:cNvCxnSpPr/>
            <p:nvPr/>
          </p:nvCxnSpPr>
          <p:spPr>
            <a:xfrm rot="10800000">
              <a:off x="6058409" y="2938958"/>
              <a:ext cx="0" cy="5547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16" name="Google Shape;119;p18">
              <a:extLst>
                <a:ext uri="{FF2B5EF4-FFF2-40B4-BE49-F238E27FC236}">
                  <a16:creationId xmlns:a16="http://schemas.microsoft.com/office/drawing/2014/main" id="{073605BA-0076-9EF9-9D9F-F6A286DE0F45}"/>
                </a:ext>
              </a:extLst>
            </p:cNvPr>
            <p:cNvSpPr/>
            <p:nvPr/>
          </p:nvSpPr>
          <p:spPr>
            <a:xfrm rot="10800000" flipH="1">
              <a:off x="5958946" y="3333714"/>
              <a:ext cx="198900" cy="1989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7" name="Google Shape;120;p18">
            <a:extLst>
              <a:ext uri="{FF2B5EF4-FFF2-40B4-BE49-F238E27FC236}">
                <a16:creationId xmlns:a16="http://schemas.microsoft.com/office/drawing/2014/main" id="{F47BA966-016D-C397-2BCE-43E4D0858196}"/>
              </a:ext>
            </a:extLst>
          </p:cNvPr>
          <p:cNvSpPr txBox="1">
            <a:spLocks/>
          </p:cNvSpPr>
          <p:nvPr/>
        </p:nvSpPr>
        <p:spPr>
          <a:xfrm>
            <a:off x="7512250" y="3394013"/>
            <a:ext cx="2242800" cy="3951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Roboto"/>
              <a:buChar char="●"/>
              <a:defRPr sz="18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 sz="14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 sz="14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 sz="14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 sz="14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 sz="14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 sz="14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 sz="14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2"/>
              </a:buClr>
              <a:buSzPts val="1400"/>
              <a:buFont typeface="Roboto"/>
              <a:buChar char="■"/>
              <a:defRPr sz="14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indent="0">
              <a:spcAft>
                <a:spcPts val="1600"/>
              </a:spcAft>
              <a:buNone/>
            </a:pPr>
            <a:r>
              <a:rPr lang="en-US" sz="1000" b="1" dirty="0">
                <a:solidFill>
                  <a:schemeClr val="bg2">
                    <a:lumMod val="50000"/>
                  </a:schemeClr>
                </a:solidFill>
              </a:rPr>
              <a:t>Direct Response Costs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9DA6E819-B0DF-B706-BA4B-F8335D9A503C}"/>
              </a:ext>
            </a:extLst>
          </p:cNvPr>
          <p:cNvSpPr/>
          <p:nvPr/>
        </p:nvSpPr>
        <p:spPr>
          <a:xfrm>
            <a:off x="0" y="0"/>
            <a:ext cx="9144000" cy="732019"/>
          </a:xfrm>
          <a:prstGeom prst="rect">
            <a:avLst/>
          </a:prstGeom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THE SEPTEMBER 2025 ATTACK   IMPACT BY NUMBERS</a:t>
            </a:r>
          </a:p>
        </p:txBody>
      </p:sp>
    </p:spTree>
    <p:extLst>
      <p:ext uri="{BB962C8B-B14F-4D97-AF65-F5344CB8AC3E}">
        <p14:creationId xmlns:p14="http://schemas.microsoft.com/office/powerpoint/2010/main" val="3740361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1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7" dur="2000"/>
                                        <p:tgtEl>
                                          <p:spTgt spid="10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1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4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1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1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1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">
          <a:extLst>
            <a:ext uri="{FF2B5EF4-FFF2-40B4-BE49-F238E27FC236}">
              <a16:creationId xmlns:a16="http://schemas.microsoft.com/office/drawing/2014/main" id="{09045E31-B002-3836-8A18-8502F4FB67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4">
            <a:extLst>
              <a:ext uri="{FF2B5EF4-FFF2-40B4-BE49-F238E27FC236}">
                <a16:creationId xmlns:a16="http://schemas.microsoft.com/office/drawing/2014/main" id="{BD22313B-1E32-61AB-BC5B-958FD353CD3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65500" y="1718250"/>
            <a:ext cx="4045200" cy="170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US" sz="3600" b="1" dirty="0"/>
              <a:t>AUDIT METHODOLOGY &amp; APPROACH- </a:t>
            </a:r>
            <a:br>
              <a:rPr lang="en-US" dirty="0"/>
            </a:br>
            <a:r>
              <a:rPr lang="en-US" sz="2400" dirty="0">
                <a:solidFill>
                  <a:schemeClr val="bg2">
                    <a:lumMod val="50000"/>
                  </a:schemeClr>
                </a:solidFill>
              </a:rPr>
              <a:t>Phase 1 : Planning (Weeks 1-2) - 78 hours</a:t>
            </a:r>
            <a:endParaRPr sz="24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75" name="Google Shape;75;p14">
            <a:extLst>
              <a:ext uri="{FF2B5EF4-FFF2-40B4-BE49-F238E27FC236}">
                <a16:creationId xmlns:a16="http://schemas.microsoft.com/office/drawing/2014/main" id="{ACA9DB10-EFB8-03FD-C73A-5A994E13961A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4939500" y="0"/>
            <a:ext cx="4045200" cy="5143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US" dirty="0"/>
              <a:t>Prior audit review</a:t>
            </a:r>
          </a:p>
          <a:p>
            <a:pPr lvl="0"/>
            <a:r>
              <a:rPr lang="en-US" dirty="0"/>
              <a:t>IT documentation</a:t>
            </a:r>
          </a:p>
          <a:p>
            <a:pPr lvl="0"/>
            <a:r>
              <a:rPr lang="en-US" dirty="0"/>
              <a:t>incident analysis</a:t>
            </a:r>
          </a:p>
          <a:p>
            <a:pPr lvl="0"/>
            <a:r>
              <a:rPr lang="en-US" dirty="0"/>
              <a:t>preliminary risk assessment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4835656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">
          <a:extLst>
            <a:ext uri="{FF2B5EF4-FFF2-40B4-BE49-F238E27FC236}">
              <a16:creationId xmlns:a16="http://schemas.microsoft.com/office/drawing/2014/main" id="{2A167ABF-BC28-6C71-5B38-B134DD99A0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4">
            <a:extLst>
              <a:ext uri="{FF2B5EF4-FFF2-40B4-BE49-F238E27FC236}">
                <a16:creationId xmlns:a16="http://schemas.microsoft.com/office/drawing/2014/main" id="{04E75D4F-D492-1822-6333-CEA1F27EEDE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65500" y="1718250"/>
            <a:ext cx="4045200" cy="170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US" sz="3600" b="1" dirty="0"/>
              <a:t>AUDIT METHODOLOGY &amp; APPROACH- </a:t>
            </a:r>
            <a:br>
              <a:rPr lang="en-US" dirty="0"/>
            </a:br>
            <a:r>
              <a:rPr lang="en-US" sz="2400" dirty="0">
                <a:solidFill>
                  <a:schemeClr val="bg2">
                    <a:lumMod val="50000"/>
                  </a:schemeClr>
                </a:solidFill>
              </a:rPr>
              <a:t>Phase 2: Fieldwork (Weeks 3-8) - 312 hours</a:t>
            </a:r>
            <a:endParaRPr sz="24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75" name="Google Shape;75;p14">
            <a:extLst>
              <a:ext uri="{FF2B5EF4-FFF2-40B4-BE49-F238E27FC236}">
                <a16:creationId xmlns:a16="http://schemas.microsoft.com/office/drawing/2014/main" id="{2B2D6BCA-55AE-0433-9ED1-7AF7A2935EC5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4939500" y="0"/>
            <a:ext cx="4045200" cy="5143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US" dirty="0"/>
              <a:t>67 control objectives tested across Information Security</a:t>
            </a:r>
          </a:p>
          <a:p>
            <a:r>
              <a:rPr lang="en-US" dirty="0"/>
              <a:t>247 user accounts analyzed; 89 privileged accounts reviewed</a:t>
            </a:r>
          </a:p>
          <a:p>
            <a:pPr lvl="0"/>
            <a:r>
              <a:rPr lang="en-US" dirty="0"/>
              <a:t>156 backup systems validated; 47 vendors assessed</a:t>
            </a:r>
          </a:p>
          <a:p>
            <a:pPr lvl="0"/>
            <a:r>
              <a:rPr lang="en-US" dirty="0"/>
              <a:t>34 critical systems configuration reviews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4220608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">
          <a:extLst>
            <a:ext uri="{FF2B5EF4-FFF2-40B4-BE49-F238E27FC236}">
              <a16:creationId xmlns:a16="http://schemas.microsoft.com/office/drawing/2014/main" id="{1FFA5C97-F646-99DB-1322-E1F5825E93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4">
            <a:extLst>
              <a:ext uri="{FF2B5EF4-FFF2-40B4-BE49-F238E27FC236}">
                <a16:creationId xmlns:a16="http://schemas.microsoft.com/office/drawing/2014/main" id="{4D2029EC-C127-6675-07E4-488C35B681C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65500" y="1718250"/>
            <a:ext cx="4045200" cy="170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sz="3600" b="1" dirty="0"/>
              <a:t>AUDIT METHODOLOGY &amp; APPROACH- </a:t>
            </a:r>
            <a:br>
              <a:rPr lang="en-US" dirty="0"/>
            </a:br>
            <a:r>
              <a:rPr lang="en-US" sz="2400" dirty="0">
                <a:solidFill>
                  <a:schemeClr val="bg2">
                    <a:lumMod val="50000"/>
                  </a:schemeClr>
                </a:solidFill>
              </a:rPr>
              <a:t>Phase 3: Reporting (Weeks 9-10) - 95 hours</a:t>
            </a:r>
            <a:br>
              <a:rPr lang="en-US" sz="2400" dirty="0"/>
            </a:br>
            <a:endParaRPr sz="2400" dirty="0"/>
          </a:p>
        </p:txBody>
      </p:sp>
      <p:sp>
        <p:nvSpPr>
          <p:cNvPr id="75" name="Google Shape;75;p14">
            <a:extLst>
              <a:ext uri="{FF2B5EF4-FFF2-40B4-BE49-F238E27FC236}">
                <a16:creationId xmlns:a16="http://schemas.microsoft.com/office/drawing/2014/main" id="{F59758FD-1885-D003-AD1B-B74DA3CA9586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4939500" y="0"/>
            <a:ext cx="4045200" cy="5143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US" dirty="0"/>
              <a:t>Root cause analysis</a:t>
            </a:r>
          </a:p>
          <a:p>
            <a:pPr lvl="0"/>
            <a:r>
              <a:rPr lang="en-US" dirty="0"/>
              <a:t>Management validation</a:t>
            </a:r>
          </a:p>
          <a:p>
            <a:pPr lvl="0"/>
            <a:r>
              <a:rPr lang="en-US" dirty="0"/>
              <a:t>Recommendation development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7499657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">
          <a:extLst>
            <a:ext uri="{FF2B5EF4-FFF2-40B4-BE49-F238E27FC236}">
              <a16:creationId xmlns:a16="http://schemas.microsoft.com/office/drawing/2014/main" id="{5FC951A3-18F1-0209-8905-BEE380B1BB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4">
            <a:extLst>
              <a:ext uri="{FF2B5EF4-FFF2-40B4-BE49-F238E27FC236}">
                <a16:creationId xmlns:a16="http://schemas.microsoft.com/office/drawing/2014/main" id="{8181A880-E2CA-8105-06D1-27F317E2EB3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65500" y="1718250"/>
            <a:ext cx="4045200" cy="170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sz="3600" b="1" dirty="0"/>
              <a:t>AUDIT METHODOLOGY &amp; APPROACH- </a:t>
            </a:r>
            <a:br>
              <a:rPr lang="en-US" dirty="0"/>
            </a:br>
            <a:r>
              <a:rPr lang="en-US" sz="2400" dirty="0">
                <a:highlight>
                  <a:srgbClr val="FFFF00"/>
                </a:highlight>
              </a:rPr>
              <a:t>Frameworks Applied</a:t>
            </a:r>
            <a:br>
              <a:rPr lang="en-US" sz="2400" dirty="0"/>
            </a:br>
            <a:endParaRPr sz="2400" dirty="0"/>
          </a:p>
        </p:txBody>
      </p:sp>
      <p:sp>
        <p:nvSpPr>
          <p:cNvPr id="75" name="Google Shape;75;p14">
            <a:extLst>
              <a:ext uri="{FF2B5EF4-FFF2-40B4-BE49-F238E27FC236}">
                <a16:creationId xmlns:a16="http://schemas.microsoft.com/office/drawing/2014/main" id="{C7137ACE-65D0-F3D8-2404-C8550CDD8727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4939500" y="0"/>
            <a:ext cx="4045200" cy="5143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US" dirty="0"/>
              <a:t>COBIT 2019</a:t>
            </a:r>
          </a:p>
          <a:p>
            <a:pPr lvl="0"/>
            <a:r>
              <a:rPr lang="en-US" dirty="0"/>
              <a:t>NIST SP 800-53 Rev. 5</a:t>
            </a:r>
          </a:p>
          <a:p>
            <a:pPr lvl="0"/>
            <a:r>
              <a:rPr lang="en-US" dirty="0"/>
              <a:t>NIST SP 800-171/172</a:t>
            </a:r>
          </a:p>
          <a:p>
            <a:pPr lvl="0"/>
            <a:r>
              <a:rPr lang="en-US" dirty="0"/>
              <a:t>CMMC 2.0</a:t>
            </a:r>
          </a:p>
          <a:p>
            <a:pPr lvl="0"/>
            <a:r>
              <a:rPr lang="en-US" dirty="0"/>
              <a:t>NIST CSF</a:t>
            </a:r>
          </a:p>
          <a:p>
            <a:r>
              <a:rPr lang="en-US" dirty="0"/>
              <a:t>SOX Section 404</a:t>
            </a:r>
          </a:p>
          <a:p>
            <a:pPr lvl="0"/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4039871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7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7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7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41E6D1-8558-30A9-59DC-E035A38597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>
                <a:solidFill>
                  <a:schemeClr val="bg2">
                    <a:lumMod val="50000"/>
                  </a:schemeClr>
                </a:solidFill>
              </a:rPr>
              <a:t>FINDINGS OVERVIEW - ALL 5 FINDINGS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F8B139E-EF53-0510-2DC7-0C4BA7C4BB8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>
                <a:solidFill>
                  <a:schemeClr val="bg2">
                    <a:lumMod val="50000"/>
                  </a:schemeClr>
                </a:solidFill>
                <a:highlight>
                  <a:srgbClr val="FF0000"/>
                </a:highlight>
              </a:rPr>
              <a:t>Finding #1 - Inadequate Multi-Factor Authentication (MFA) Implementation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A378088-9E15-684A-2B86-25F16C27F577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rPr lang="en-US" dirty="0"/>
              <a:t>60.5% of VPN accounts lack MFA; 35.3% of privileged accounts bypass MFA; 23 service accounts lack certificate-based authentication and automated rotation</a:t>
            </a:r>
          </a:p>
          <a:p>
            <a:r>
              <a:rPr lang="en-US" dirty="0"/>
              <a:t>Direct attack vector for September breach</a:t>
            </a:r>
          </a:p>
          <a:p>
            <a:r>
              <a:rPr lang="en-US" b="1" dirty="0"/>
              <a:t>Compliance Impact:</a:t>
            </a:r>
            <a:r>
              <a:rPr lang="en-US" dirty="0"/>
              <a:t> CMMC / SOX</a:t>
            </a:r>
          </a:p>
        </p:txBody>
      </p:sp>
    </p:spTree>
    <p:extLst>
      <p:ext uri="{BB962C8B-B14F-4D97-AF65-F5344CB8AC3E}">
        <p14:creationId xmlns:p14="http://schemas.microsoft.com/office/powerpoint/2010/main" val="27163360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22E8A9-36DF-6C32-9154-4297E23598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D7219B-63F3-D36B-ECC3-241F3F71E1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>
                <a:solidFill>
                  <a:schemeClr val="bg2">
                    <a:lumMod val="50000"/>
                  </a:schemeClr>
                </a:solidFill>
              </a:rPr>
              <a:t>FINDINGS OVERVIEW - ALL 5 FINDINGS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E90BEE2-C4CB-1DB3-9080-A84B61DC54D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>
                <a:solidFill>
                  <a:srgbClr val="312C11"/>
                </a:solidFill>
                <a:highlight>
                  <a:srgbClr val="FF00FF"/>
                </a:highlight>
              </a:rPr>
              <a:t>Finding #2 - Insufficient Privileged Access Reviews &amp; Excessive Permissions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8B8DACA-EA90-EB85-9B0C-2CFD4D47E53D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rPr lang="en-US" dirty="0"/>
              <a:t>No reviews in 30 months; 12 orphaned accounts from terminated employees; segregation of duties violations</a:t>
            </a:r>
          </a:p>
          <a:p>
            <a:r>
              <a:rPr lang="en-US" dirty="0"/>
              <a:t>Expanded attack surface; insider threat risk</a:t>
            </a:r>
          </a:p>
          <a:p>
            <a:r>
              <a:rPr lang="en-US" b="1" dirty="0"/>
              <a:t>Compliance Impact:</a:t>
            </a:r>
            <a:r>
              <a:rPr lang="en-US" dirty="0"/>
              <a:t> CMMC / SOX</a:t>
            </a:r>
          </a:p>
        </p:txBody>
      </p:sp>
    </p:spTree>
    <p:extLst>
      <p:ext uri="{BB962C8B-B14F-4D97-AF65-F5344CB8AC3E}">
        <p14:creationId xmlns:p14="http://schemas.microsoft.com/office/powerpoint/2010/main" val="33247840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2AA542-48FE-B110-9FBF-8B31A8F019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201FB0-2FED-EF7B-3D8B-00A4B283DB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>
                <a:solidFill>
                  <a:schemeClr val="bg2">
                    <a:lumMod val="50000"/>
                  </a:schemeClr>
                </a:solidFill>
              </a:rPr>
              <a:t>FINDINGS OVERVIEW - ALL 5 FINDINGS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462AC67-942C-076E-23D6-7A99E3E3DBC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>
                <a:solidFill>
                  <a:srgbClr val="312C11"/>
                </a:solidFill>
                <a:highlight>
                  <a:srgbClr val="FF00FF"/>
                </a:highlight>
              </a:rPr>
              <a:t>Finding #3 - </a:t>
            </a:r>
            <a:r>
              <a:rPr lang="en-US" dirty="0">
                <a:solidFill>
                  <a:schemeClr val="bg2">
                    <a:lumMod val="50000"/>
                  </a:schemeClr>
                </a:solidFill>
                <a:highlight>
                  <a:srgbClr val="FF00FF"/>
                </a:highlight>
              </a:rPr>
              <a:t>Inadequate Incident Response Capabilities &amp; Documentation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4D3F0A0-27DD-470E-FC07-AA25DAE557D4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rPr lang="en-US" dirty="0"/>
              <a:t>IR plan not updated since 2021; no formal CSIRT; 16-18 hour detection delay; incomplete forensic evidence</a:t>
            </a:r>
          </a:p>
          <a:p>
            <a:r>
              <a:rPr lang="en-US" dirty="0"/>
              <a:t>Extended attacker dwell time; incomplete root cause analysis</a:t>
            </a:r>
          </a:p>
          <a:p>
            <a:r>
              <a:rPr lang="en-US" b="1" dirty="0"/>
              <a:t>Compliance Impact:</a:t>
            </a:r>
            <a:r>
              <a:rPr lang="en-US" dirty="0"/>
              <a:t> CMMC</a:t>
            </a:r>
          </a:p>
        </p:txBody>
      </p:sp>
    </p:spTree>
    <p:extLst>
      <p:ext uri="{BB962C8B-B14F-4D97-AF65-F5344CB8AC3E}">
        <p14:creationId xmlns:p14="http://schemas.microsoft.com/office/powerpoint/2010/main" val="24599278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D10540-6BA1-B93E-5311-A85EDAAEF6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B8EA27-1D57-A0F5-F5A7-9E9DD7C424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>
                <a:solidFill>
                  <a:schemeClr val="bg2">
                    <a:lumMod val="50000"/>
                  </a:schemeClr>
                </a:solidFill>
              </a:rPr>
              <a:t>FINDINGS OVERVIEW - ALL 5 FINDINGS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7C2A191-81E3-B192-B7D0-A850A0D0AB2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>
                <a:solidFill>
                  <a:srgbClr val="312C11"/>
                </a:solidFill>
                <a:highlight>
                  <a:srgbClr val="FF0000"/>
                </a:highlight>
              </a:rPr>
              <a:t>Finding #4 - </a:t>
            </a:r>
            <a:r>
              <a:rPr lang="en-US" dirty="0">
                <a:solidFill>
                  <a:schemeClr val="bg2">
                    <a:lumMod val="50000"/>
                  </a:schemeClr>
                </a:solidFill>
                <a:highlight>
                  <a:srgbClr val="FF0000"/>
                </a:highlight>
              </a:rPr>
              <a:t>Inadequate Backup and Disaster Recovery Procedures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331AF07-5A2F-32AE-FC52-F2DFFEBCCBB0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rPr lang="en-US" dirty="0"/>
              <a:t>No air-gapped backups; 23% failure rate; 6 days data loss; last restoration test Nov 2022</a:t>
            </a:r>
          </a:p>
          <a:p>
            <a:r>
              <a:rPr lang="en-US" dirty="0"/>
              <a:t>7-day recovery vs 4-hour RTO; catastrophic data loss risk</a:t>
            </a:r>
          </a:p>
          <a:p>
            <a:r>
              <a:rPr lang="en-US" b="1" dirty="0"/>
              <a:t>Compliance Impact:</a:t>
            </a:r>
            <a:r>
              <a:rPr lang="en-US" dirty="0"/>
              <a:t> CMMC / SOX</a:t>
            </a:r>
          </a:p>
        </p:txBody>
      </p:sp>
    </p:spTree>
    <p:extLst>
      <p:ext uri="{BB962C8B-B14F-4D97-AF65-F5344CB8AC3E}">
        <p14:creationId xmlns:p14="http://schemas.microsoft.com/office/powerpoint/2010/main" val="10223008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23B1C9-2BCD-3369-25FE-1080607EF9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AD6F63-110F-1B28-13A0-0B199F5963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>
                <a:solidFill>
                  <a:schemeClr val="bg2">
                    <a:lumMod val="50000"/>
                  </a:schemeClr>
                </a:solidFill>
              </a:rPr>
              <a:t>FINDINGS OVERVIEW - ALL 5 FINDINGS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BB260C6-7DFB-661D-920F-9C8CDF4AF11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>
                <a:solidFill>
                  <a:srgbClr val="312C11"/>
                </a:solidFill>
                <a:highlight>
                  <a:srgbClr val="FF00FF"/>
                </a:highlight>
              </a:rPr>
              <a:t>Finding #5 </a:t>
            </a:r>
            <a:r>
              <a:rPr lang="en-US" dirty="0">
                <a:solidFill>
                  <a:schemeClr val="bg2">
                    <a:lumMod val="50000"/>
                  </a:schemeClr>
                </a:solidFill>
                <a:highlight>
                  <a:srgbClr val="FF00FF"/>
                </a:highlight>
              </a:rPr>
              <a:t>- Insufficient Vendor Security Management &amp; Third-Party Risk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CFD33F0-0E1B-F5A2-7F7B-5C956E9F7F6A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rPr lang="en-US" dirty="0"/>
              <a:t>No vendor assessments; 47 vendors with production access; 8 terminated vendors still have access</a:t>
            </a:r>
          </a:p>
          <a:p>
            <a:r>
              <a:rPr lang="en-US" dirty="0"/>
              <a:t>Supply chain attack risk; data breach exposure</a:t>
            </a:r>
          </a:p>
          <a:p>
            <a:r>
              <a:rPr lang="en-US" b="1" dirty="0"/>
              <a:t>Compliance Impact:</a:t>
            </a:r>
            <a:r>
              <a:rPr lang="en-US" dirty="0"/>
              <a:t> CMMC</a:t>
            </a:r>
          </a:p>
        </p:txBody>
      </p:sp>
    </p:spTree>
    <p:extLst>
      <p:ext uri="{BB962C8B-B14F-4D97-AF65-F5344CB8AC3E}">
        <p14:creationId xmlns:p14="http://schemas.microsoft.com/office/powerpoint/2010/main" val="33324134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E41EEA-9AC2-3152-9177-0CA1A2CF81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FB756D-E553-C214-BCC2-4BF704D29E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>
                <a:solidFill>
                  <a:schemeClr val="bg2">
                    <a:lumMod val="50000"/>
                  </a:schemeClr>
                </a:solidFill>
              </a:rPr>
              <a:t>FINDING #1 DEEP DIVE - MFA DEFICIENCY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C89E640-A73D-9014-AE5A-35A5CEF3189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What We Found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DA33960-36ED-E285-269F-F3974A5E2595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rPr lang="en-US" sz="1600" b="1" dirty="0"/>
              <a:t>60.5%</a:t>
            </a:r>
            <a:r>
              <a:rPr lang="en-US" sz="1600" dirty="0"/>
              <a:t> of VPN accounts (89 of 147) lack MFA</a:t>
            </a:r>
          </a:p>
          <a:p>
            <a:r>
              <a:rPr lang="en-US" sz="1600" b="1" dirty="0"/>
              <a:t>35.3%</a:t>
            </a:r>
            <a:r>
              <a:rPr lang="en-US" sz="1600" dirty="0"/>
              <a:t> of privileged accounts (12 of 34) bypass MFA requirement</a:t>
            </a:r>
          </a:p>
          <a:p>
            <a:r>
              <a:rPr lang="en-US" sz="1600" b="1" dirty="0"/>
              <a:t>23 service accounts</a:t>
            </a:r>
            <a:r>
              <a:rPr lang="en-US" sz="1600" dirty="0"/>
              <a:t> with static passwords lacking certificate-based authentication and automated rotation (18+ months without rotation)</a:t>
            </a:r>
          </a:p>
          <a:p>
            <a:r>
              <a:rPr lang="en-US" sz="1600" dirty="0"/>
              <a:t>Several service accounts enabled for interactive login (security risk)</a:t>
            </a:r>
          </a:p>
          <a:p>
            <a:r>
              <a:rPr lang="en-US" sz="1600" dirty="0"/>
              <a:t>Emergency access procedures lack MFA verification</a:t>
            </a:r>
          </a:p>
          <a:p>
            <a:r>
              <a:rPr lang="en-US" sz="1600" dirty="0"/>
              <a:t>No centralized Privileged Access Management (PAM) solution</a:t>
            </a:r>
          </a:p>
        </p:txBody>
      </p:sp>
    </p:spTree>
    <p:extLst>
      <p:ext uri="{BB962C8B-B14F-4D97-AF65-F5344CB8AC3E}">
        <p14:creationId xmlns:p14="http://schemas.microsoft.com/office/powerpoint/2010/main" val="37839560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5" dur="10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28F4E8-1CE8-AB98-02A7-B493683B2F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CF6010-B458-6BBF-3D36-EA9AD9BC18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>
                <a:solidFill>
                  <a:schemeClr val="bg2">
                    <a:lumMod val="50000"/>
                  </a:schemeClr>
                </a:solidFill>
              </a:rPr>
              <a:t>FINDING #1 DEEP DIVE - MFA DEFICIENCY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DDBA04C-FC09-C9BE-0035-9B8D7FEC973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Root Cause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EF7FFCB-D7AF-1412-C22A-5749870F076C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rPr lang="en-US" sz="1600" dirty="0"/>
              <a:t>Legacy VPN infrastructure from pre-merger era scheduled for Q4 2025 replacement. Management deferred MFA implementation to avoid "throwaway work" on infrastructure being replaced. Decision made without formal risk assessment or compensating controls implementation.</a:t>
            </a:r>
          </a:p>
        </p:txBody>
      </p:sp>
    </p:spTree>
    <p:extLst>
      <p:ext uri="{BB962C8B-B14F-4D97-AF65-F5344CB8AC3E}">
        <p14:creationId xmlns:p14="http://schemas.microsoft.com/office/powerpoint/2010/main" val="22253671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8E34B6-D3B6-4797-3112-EA74B5AB24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49E1A6-7C6E-7B78-35FB-6B978D4888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>
                <a:solidFill>
                  <a:schemeClr val="bg2">
                    <a:lumMod val="50000"/>
                  </a:schemeClr>
                </a:solidFill>
              </a:rPr>
              <a:t>FINDING #1 DEEP DIVE - MFA DEFICIENCY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FCC0DC4-1E8F-D4AF-FCD9-F5FA5FA114E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Business Impact &amp; Standards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3F01E7A-921B-5E06-2E55-8E27B7545307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rPr lang="en-US" sz="1600" b="1" dirty="0"/>
              <a:t>OPERATIONAL:</a:t>
            </a:r>
            <a:r>
              <a:rPr lang="en-US" sz="1600" dirty="0"/>
              <a:t> 170+ airports disrupted, 217 flights cancelled, 7-day recovery</a:t>
            </a:r>
          </a:p>
          <a:p>
            <a:r>
              <a:rPr lang="en-US" sz="1600" b="1" dirty="0"/>
              <a:t>FINANCIAL:</a:t>
            </a:r>
            <a:r>
              <a:rPr lang="en-US" sz="1600" dirty="0"/>
              <a:t> $15M+ incident response costs; potential insurance premium increases</a:t>
            </a:r>
          </a:p>
          <a:p>
            <a:r>
              <a:rPr lang="en-US" sz="1600" b="1" dirty="0"/>
              <a:t>COMPLIANCE:</a:t>
            </a:r>
            <a:r>
              <a:rPr lang="en-US" sz="1600" dirty="0"/>
              <a:t> CMMC Level 3 gap (NIST 800-171 Control 3.5.3); SOX ITGC deficiency</a:t>
            </a:r>
          </a:p>
          <a:p>
            <a:r>
              <a:rPr lang="en-US" sz="1600" b="1" dirty="0"/>
              <a:t>STRATEGIC:</a:t>
            </a:r>
            <a:r>
              <a:rPr lang="en-US" sz="1600" dirty="0"/>
              <a:t> $2.3B defense contracts at risk if CMMC certification delayed past Q2 2026</a:t>
            </a:r>
          </a:p>
          <a:p>
            <a:r>
              <a:rPr lang="en-US" sz="1600" b="1" dirty="0"/>
              <a:t>REPUTATIONAL:</a:t>
            </a:r>
            <a:r>
              <a:rPr lang="en-US" sz="1600" dirty="0"/>
              <a:t> Customer trust erosion with airline and airport partners</a:t>
            </a:r>
          </a:p>
        </p:txBody>
      </p:sp>
    </p:spTree>
    <p:extLst>
      <p:ext uri="{BB962C8B-B14F-4D97-AF65-F5344CB8AC3E}">
        <p14:creationId xmlns:p14="http://schemas.microsoft.com/office/powerpoint/2010/main" val="34131120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616859-EA87-AB54-16F9-7793C5429D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84886D-B369-5449-3385-A3443DA006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>
                <a:solidFill>
                  <a:schemeClr val="bg2">
                    <a:lumMod val="50000"/>
                  </a:schemeClr>
                </a:solidFill>
              </a:rPr>
              <a:t>FINDING #1 DEEP DIVE - MFA DEFICIENCY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59268CF-AC00-95CB-0401-AA9F74A4153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Standards Violated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0BBEADD-027F-E4F9-4608-A27D3D49D226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rPr lang="en-US" sz="1600" dirty="0"/>
              <a:t>NIST SP 800-53: IA-2(1), IA-2(2) - MFA for privileged and network access</a:t>
            </a:r>
          </a:p>
          <a:p>
            <a:r>
              <a:rPr lang="en-US" sz="1600" dirty="0"/>
              <a:t>CMMC 2.0: AC.L2-3.1.12 - MFA requirement for privileged users</a:t>
            </a:r>
          </a:p>
          <a:p>
            <a:r>
              <a:rPr lang="en-US" sz="1600" dirty="0"/>
              <a:t>NIST SP 800-171: Control 3.5.3 - MFA for network and privileged access</a:t>
            </a:r>
          </a:p>
          <a:p>
            <a:r>
              <a:rPr lang="en-US" sz="1600" dirty="0"/>
              <a:t>COBIT 2019: DSS05.04, APO13.01 - Identity and access management</a:t>
            </a:r>
          </a:p>
          <a:p>
            <a:r>
              <a:rPr lang="en-US" sz="1600" dirty="0"/>
              <a:t>NIST CSF: PR.AC-1, PR.AC-7 - Identity management and authentication</a:t>
            </a:r>
          </a:p>
        </p:txBody>
      </p:sp>
    </p:spTree>
    <p:extLst>
      <p:ext uri="{BB962C8B-B14F-4D97-AF65-F5344CB8AC3E}">
        <p14:creationId xmlns:p14="http://schemas.microsoft.com/office/powerpoint/2010/main" val="38584757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EE8D93-AA70-38AC-25ED-2757AE15DC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7C91EF-6AAA-D603-0068-1F1FF5F83D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>
                <a:solidFill>
                  <a:schemeClr val="bg2">
                    <a:lumMod val="50000"/>
                  </a:schemeClr>
                </a:solidFill>
              </a:rPr>
              <a:t>FINDING #1 DEEP DIVE - MFA DEFICIENCY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EEF5EC1-9B41-9F79-F1E1-8D560083B85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RECOMMENDATIONS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61A9FE1-6719-CD5D-1B6C-261C84439E05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rPr lang="en-US" sz="1600" dirty="0"/>
              <a:t>Emergency MFA deployment (Dec 2025)</a:t>
            </a:r>
          </a:p>
          <a:p>
            <a:r>
              <a:rPr lang="en-US" sz="1600" dirty="0"/>
              <a:t>AM solution (Apr 2026)</a:t>
            </a:r>
          </a:p>
          <a:p>
            <a:r>
              <a:rPr lang="en-US" sz="1600" dirty="0"/>
              <a:t>Zero Trust architecture roadmap </a:t>
            </a:r>
          </a:p>
          <a:p>
            <a:r>
              <a:rPr lang="en-US" sz="1600" dirty="0"/>
              <a:t>Conditional access policies </a:t>
            </a:r>
          </a:p>
          <a:p>
            <a:r>
              <a:rPr lang="en-US" sz="1600" dirty="0"/>
              <a:t>Certificate-based auth for service accounts</a:t>
            </a:r>
          </a:p>
        </p:txBody>
      </p:sp>
    </p:spTree>
    <p:extLst>
      <p:ext uri="{BB962C8B-B14F-4D97-AF65-F5344CB8AC3E}">
        <p14:creationId xmlns:p14="http://schemas.microsoft.com/office/powerpoint/2010/main" val="9925101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BF6441-6249-E7B6-1FFE-09417A997C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9A0294-66DF-792A-635D-9FEAFA9C99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>
                <a:solidFill>
                  <a:schemeClr val="bg2">
                    <a:lumMod val="50000"/>
                  </a:schemeClr>
                </a:solidFill>
              </a:rPr>
              <a:t>FINDING #4 DEEP DIVE - BACKUP/DR DEFICIENCY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A79ABFD-3B69-EE4F-A2A4-54BD59B4962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What We Found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4B963F5-00F8-3C0E-30E4-7DA58B9651D0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rPr lang="en-US" sz="1600" b="1" dirty="0"/>
              <a:t>No air-gapped backups</a:t>
            </a:r>
            <a:r>
              <a:rPr lang="en-US" sz="1600" dirty="0"/>
              <a:t> - all backup storage network-accessible</a:t>
            </a:r>
          </a:p>
          <a:p>
            <a:r>
              <a:rPr lang="en-US" sz="1600" b="1" dirty="0"/>
              <a:t>23% backup failure rate</a:t>
            </a:r>
            <a:r>
              <a:rPr lang="en-US" sz="1600" dirty="0"/>
              <a:t> over 90 days (undetected avg 11 days)</a:t>
            </a:r>
          </a:p>
          <a:p>
            <a:r>
              <a:rPr lang="en-US" sz="1600" b="1" dirty="0"/>
              <a:t>6 days of data loss</a:t>
            </a:r>
            <a:r>
              <a:rPr lang="en-US" sz="1600" dirty="0"/>
              <a:t> - most recent usable MUSE backup predated attack</a:t>
            </a:r>
          </a:p>
          <a:p>
            <a:r>
              <a:rPr lang="en-US" sz="1600" b="1" dirty="0"/>
              <a:t>2.8M passenger transactions</a:t>
            </a:r>
            <a:r>
              <a:rPr lang="en-US" sz="1600" dirty="0"/>
              <a:t> lost requiring manual reconstruction</a:t>
            </a:r>
          </a:p>
          <a:p>
            <a:r>
              <a:rPr lang="en-US" sz="1600" dirty="0"/>
              <a:t>Last full restoration test: </a:t>
            </a:r>
            <a:r>
              <a:rPr lang="en-US" sz="1600" b="1" dirty="0"/>
              <a:t>November 2022</a:t>
            </a:r>
            <a:r>
              <a:rPr lang="en-US" sz="1600" dirty="0"/>
              <a:t> (3 years ago)</a:t>
            </a:r>
          </a:p>
          <a:p>
            <a:r>
              <a:rPr lang="en-US" sz="1600" dirty="0"/>
              <a:t>No off-site replication (single data center concentration risk)</a:t>
            </a:r>
          </a:p>
        </p:txBody>
      </p:sp>
    </p:spTree>
    <p:extLst>
      <p:ext uri="{BB962C8B-B14F-4D97-AF65-F5344CB8AC3E}">
        <p14:creationId xmlns:p14="http://schemas.microsoft.com/office/powerpoint/2010/main" val="306854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5" dur="10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830C9E-BB6E-C06D-8106-F5F7E39BA0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3B512D-0B77-7AB0-4DDC-9F19931AE2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>
                <a:solidFill>
                  <a:schemeClr val="bg2">
                    <a:lumMod val="50000"/>
                  </a:schemeClr>
                </a:solidFill>
              </a:rPr>
              <a:t>FINDING #4 DEEP DIVE - BACKUP/DR DEFICIENCY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708FB51-5B4F-B666-FA9D-374DE047D6A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What We Found (Cont’d)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024B2E3-1873-A618-F0D7-EA66114BDE08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rPr lang="en-US" sz="1600" dirty="0"/>
              <a:t>No geographic separation of backup infrastructure</a:t>
            </a:r>
          </a:p>
          <a:p>
            <a:r>
              <a:rPr lang="en-US" sz="1600" dirty="0"/>
              <a:t>RTOs/RPOs not formally documented for critical systems</a:t>
            </a:r>
          </a:p>
          <a:p>
            <a:r>
              <a:rPr lang="en-US" sz="1600" dirty="0"/>
              <a:t>Incomplete backup coverage (MUSE app configs, 15% engineering data, AD GPOs not backed up)</a:t>
            </a:r>
          </a:p>
          <a:p>
            <a:r>
              <a:rPr lang="en-US" sz="1600" dirty="0"/>
              <a:t>No Business Impact Analysis conducted</a:t>
            </a:r>
          </a:p>
        </p:txBody>
      </p:sp>
    </p:spTree>
    <p:extLst>
      <p:ext uri="{BB962C8B-B14F-4D97-AF65-F5344CB8AC3E}">
        <p14:creationId xmlns:p14="http://schemas.microsoft.com/office/powerpoint/2010/main" val="5110339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AE32AE-84F5-595C-217B-6117417612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029120-4C96-278A-39C4-6FCD577415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>
                <a:solidFill>
                  <a:schemeClr val="bg2">
                    <a:lumMod val="50000"/>
                  </a:schemeClr>
                </a:solidFill>
              </a:rPr>
              <a:t>FINDING #4 DEEP DIVE - BACKUP/DR DEFICIENCY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8E3712B-2BAA-38CB-1ACB-9D05C5930CE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3-2-1-1-0 Rule &amp; Impact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0B4B7FF-6228-90A1-4A49-68B1FEC80C36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rPr lang="en-US" sz="1600" b="1" dirty="0"/>
              <a:t>3</a:t>
            </a:r>
            <a:r>
              <a:rPr lang="en-US" sz="1600" dirty="0"/>
              <a:t> - Copies of data (1 primary + 2 backups) </a:t>
            </a:r>
          </a:p>
          <a:p>
            <a:r>
              <a:rPr lang="nb-NO" sz="1600" b="1" dirty="0"/>
              <a:t>2</a:t>
            </a:r>
            <a:r>
              <a:rPr lang="nb-NO" sz="1600" dirty="0"/>
              <a:t> - Different media types (disk, tape, cloud) </a:t>
            </a:r>
          </a:p>
          <a:p>
            <a:r>
              <a:rPr lang="en-US" sz="1600" b="1" dirty="0"/>
              <a:t>1</a:t>
            </a:r>
            <a:r>
              <a:rPr lang="en-US" sz="1600" dirty="0"/>
              <a:t> - Off-site copy (geographic separation) </a:t>
            </a:r>
          </a:p>
          <a:p>
            <a:r>
              <a:rPr lang="en-US" sz="1600" b="1" dirty="0"/>
              <a:t>1</a:t>
            </a:r>
            <a:r>
              <a:rPr lang="en-US" sz="1600" dirty="0"/>
              <a:t> - Offline/air-gapped copy (ransomware-proof)</a:t>
            </a:r>
          </a:p>
          <a:p>
            <a:r>
              <a:rPr lang="en-US" sz="1600" b="1" dirty="0"/>
              <a:t>0</a:t>
            </a:r>
            <a:r>
              <a:rPr lang="en-US" sz="1600" dirty="0"/>
              <a:t> - Errors (verified integrity)</a:t>
            </a:r>
          </a:p>
        </p:txBody>
      </p:sp>
    </p:spTree>
    <p:extLst>
      <p:ext uri="{BB962C8B-B14F-4D97-AF65-F5344CB8AC3E}">
        <p14:creationId xmlns:p14="http://schemas.microsoft.com/office/powerpoint/2010/main" val="39815767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14F241-DBBB-9C74-053B-AD58A6638A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EA5E80-5BC1-0DF6-FA9B-C074312F92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>
                <a:solidFill>
                  <a:schemeClr val="bg2">
                    <a:lumMod val="50000"/>
                  </a:schemeClr>
                </a:solidFill>
              </a:rPr>
              <a:t>FINDING #4 DEEP DIVE - BACKUP/DR DEFICIENCY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2A5D013-D493-1F47-542B-9A00AE760CC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Current Status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4729B47-C93E-98EF-3398-903FB0C739D6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rPr lang="en-US" sz="1600" dirty="0"/>
              <a:t>Collins Aerospace meets ZERO of these requirements</a:t>
            </a:r>
          </a:p>
        </p:txBody>
      </p:sp>
    </p:spTree>
    <p:extLst>
      <p:ext uri="{BB962C8B-B14F-4D97-AF65-F5344CB8AC3E}">
        <p14:creationId xmlns:p14="http://schemas.microsoft.com/office/powerpoint/2010/main" val="8757653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75B6D8-EAB1-E791-03BF-DB35C80FBA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640EA8-9CCE-B80F-D4E5-81537F90BD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>
                <a:solidFill>
                  <a:schemeClr val="bg2">
                    <a:lumMod val="50000"/>
                  </a:schemeClr>
                </a:solidFill>
              </a:rPr>
              <a:t>FINDING #4 DEEP DIVE - BACKUP/DR DEFICIENCY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C0EE19-21FA-E96E-C8A6-C2550158E85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Root Cause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9D9B89-AAE5-F94D-0CDB-533C5CE4530E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rPr lang="en-US" sz="1600" dirty="0"/>
              <a:t>Backup infrastructure deployed 2017-2018 with no major upgrades despite significant business growth. </a:t>
            </a:r>
          </a:p>
          <a:p>
            <a:r>
              <a:rPr lang="en-US" sz="1600" dirty="0"/>
              <a:t>Backup modernization budget requests rejected in FY2023 and FY2024 citing "adequate existing capabilities.“</a:t>
            </a:r>
          </a:p>
          <a:p>
            <a:r>
              <a:rPr lang="en-US" sz="1600" dirty="0"/>
              <a:t>Only 2 backup administrators for enterprise-scale environment (insufficient staffing). </a:t>
            </a:r>
          </a:p>
          <a:p>
            <a:r>
              <a:rPr lang="en-US" sz="1600" dirty="0"/>
              <a:t>Post-merger infrastructure fragmentation never addressed. Management lacked understanding of ransomware impact on backups.</a:t>
            </a:r>
          </a:p>
        </p:txBody>
      </p:sp>
    </p:spTree>
    <p:extLst>
      <p:ext uri="{BB962C8B-B14F-4D97-AF65-F5344CB8AC3E}">
        <p14:creationId xmlns:p14="http://schemas.microsoft.com/office/powerpoint/2010/main" val="27408662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E833E1-A263-5DE0-3068-D60E6389D3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95492D-888B-9192-8F4D-815BF40AF6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>
                <a:solidFill>
                  <a:schemeClr val="bg2">
                    <a:lumMod val="50000"/>
                  </a:schemeClr>
                </a:solidFill>
              </a:rPr>
              <a:t>FINDING #4 DEEP DIVE - BACKUP/DR DEFICIENCY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7B890D3-4D31-261E-4C9A-3E59042336F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Standards Violated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59A1CC9-C7B6-3FF9-AB00-29C8EB5C8E18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rPr lang="en-US" sz="1600" dirty="0"/>
              <a:t>NIST SP 800-53: CP-9, CP-9(1), CP-9(3), CP-10</a:t>
            </a:r>
          </a:p>
          <a:p>
            <a:r>
              <a:rPr lang="en-US" sz="1600" dirty="0"/>
              <a:t>CMMC 2.0: RE.L2-3.14.1; NIST SP 800-172 Control 3.14.1e (Level 3 specific)</a:t>
            </a:r>
          </a:p>
          <a:p>
            <a:r>
              <a:rPr lang="en-US" sz="1600" dirty="0"/>
              <a:t>COBIT 2019: DSS04.07, DSS04.08</a:t>
            </a:r>
          </a:p>
          <a:p>
            <a:r>
              <a:rPr lang="pt-BR" sz="1600" dirty="0"/>
              <a:t>ISO 27001: Controls 5.29, 5.30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15676084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1AC390-BC32-BACA-BA7C-5C8CD1359A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29EC77-50EC-DA0E-A4AA-927EB340E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>
                <a:solidFill>
                  <a:schemeClr val="bg2">
                    <a:lumMod val="50000"/>
                  </a:schemeClr>
                </a:solidFill>
              </a:rPr>
              <a:t>FINDING #2: PRIVILEGED ACCESS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C25B063-FDCA-98B5-959C-2818B428BFA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What We Found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29127B1-5967-6F45-010C-1AE39B93E553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rPr lang="en-US" sz="1600" dirty="0"/>
              <a:t>No privileged access reviews since </a:t>
            </a:r>
            <a:r>
              <a:rPr lang="en-US" sz="1600" b="1" dirty="0"/>
              <a:t>March 2023</a:t>
            </a:r>
            <a:r>
              <a:rPr lang="en-US" sz="1600" dirty="0"/>
              <a:t> (30 months)</a:t>
            </a:r>
          </a:p>
          <a:p>
            <a:r>
              <a:rPr lang="en-US" sz="1600" b="1" dirty="0"/>
              <a:t>47 permanent domain administrators</a:t>
            </a:r>
            <a:r>
              <a:rPr lang="en-US" sz="1600" dirty="0"/>
              <a:t> (excessive)</a:t>
            </a:r>
          </a:p>
          <a:p>
            <a:r>
              <a:rPr lang="en-US" sz="1600" b="1" dirty="0"/>
              <a:t>34 standing AWS administrators</a:t>
            </a:r>
            <a:r>
              <a:rPr lang="en-US" sz="1600" dirty="0"/>
              <a:t> (should use just-in-time)</a:t>
            </a:r>
          </a:p>
          <a:p>
            <a:r>
              <a:rPr lang="en-US" sz="1600" b="1" dirty="0"/>
              <a:t>12 orphaned accounts</a:t>
            </a:r>
            <a:r>
              <a:rPr lang="en-US" sz="1600" dirty="0"/>
              <a:t> from terminated employees (8-26 months post-termination)</a:t>
            </a:r>
          </a:p>
          <a:p>
            <a:r>
              <a:rPr lang="en-US" sz="1600" b="1" dirty="0"/>
              <a:t>18 stale service accounts</a:t>
            </a:r>
            <a:r>
              <a:rPr lang="en-US" sz="1600" dirty="0"/>
              <a:t> with unclear ownership</a:t>
            </a:r>
          </a:p>
          <a:p>
            <a:r>
              <a:rPr lang="en-US" sz="1600" b="1" dirty="0"/>
              <a:t>9 shared administrative accounts</a:t>
            </a:r>
            <a:r>
              <a:rPr lang="en-US" sz="1600" dirty="0"/>
              <a:t> (untraceable activity)</a:t>
            </a:r>
          </a:p>
          <a:p>
            <a:r>
              <a:rPr lang="en-US" sz="1600" b="1" dirty="0"/>
              <a:t>5 segregation of duties violations</a:t>
            </a:r>
            <a:r>
              <a:rPr lang="en-US" sz="1600" dirty="0"/>
              <a:t> (developers with production DB admin)</a:t>
            </a:r>
          </a:p>
        </p:txBody>
      </p:sp>
    </p:spTree>
    <p:extLst>
      <p:ext uri="{BB962C8B-B14F-4D97-AF65-F5344CB8AC3E}">
        <p14:creationId xmlns:p14="http://schemas.microsoft.com/office/powerpoint/2010/main" val="20820923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5" dur="10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45C5E8-CBEE-6711-5F28-7B7FA69091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58B44C-2DE3-2B0D-17C1-A70E10DDF6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>
                <a:solidFill>
                  <a:schemeClr val="bg2">
                    <a:lumMod val="50000"/>
                  </a:schemeClr>
                </a:solidFill>
              </a:rPr>
              <a:t>FINDING #2: PRIVILEGED ACCESS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E9D2C7B-2459-8809-7127-6C0FA3BCB62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Root Cause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187E0AB-9D39-B8DE-4D07-D3364E3D21D4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rPr lang="en-US" sz="1600" dirty="0"/>
              <a:t>No formal Privileged Access Management policy</a:t>
            </a:r>
          </a:p>
          <a:p>
            <a:r>
              <a:rPr lang="en-US" sz="1600" dirty="0"/>
              <a:t>Organizational silos preventing cross-functional reviews</a:t>
            </a:r>
          </a:p>
          <a:p>
            <a:r>
              <a:rPr lang="en-US" sz="1600" dirty="0"/>
              <a:t>Cultural acceptance of over-</a:t>
            </a:r>
            <a:r>
              <a:rPr lang="en-US" sz="1600" dirty="0" err="1"/>
              <a:t>permissioning</a:t>
            </a:r>
            <a:endParaRPr lang="en-US" sz="1600" dirty="0"/>
          </a:p>
          <a:p>
            <a:r>
              <a:rPr lang="en-US" sz="1600" dirty="0"/>
              <a:t>No PAM technology platform</a:t>
            </a:r>
          </a:p>
          <a:p>
            <a:r>
              <a:rPr lang="en-US" sz="1600" dirty="0"/>
              <a:t>Insufficient HR-IT integration for termination workflows</a:t>
            </a:r>
          </a:p>
          <a:p>
            <a:r>
              <a:rPr lang="en-US" sz="1600" dirty="0"/>
              <a:t>Understaffed security team (8 people)</a:t>
            </a:r>
          </a:p>
        </p:txBody>
      </p:sp>
    </p:spTree>
    <p:extLst>
      <p:ext uri="{BB962C8B-B14F-4D97-AF65-F5344CB8AC3E}">
        <p14:creationId xmlns:p14="http://schemas.microsoft.com/office/powerpoint/2010/main" val="32596609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5" dur="10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2B8512-6F3A-324B-B66B-5DAB57B241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556C83-9925-9773-83D7-274E2814E7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>
                <a:solidFill>
                  <a:schemeClr val="bg2">
                    <a:lumMod val="50000"/>
                  </a:schemeClr>
                </a:solidFill>
              </a:rPr>
              <a:t>FINDING #2: PRIVILEGED ACCESS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26E4FDB-A0BE-CBBA-5219-6E403768B9B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Business Impact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B148898-D6C7-0F47-B02A-EB0BAAD03454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rPr lang="en-US" sz="1600" dirty="0"/>
              <a:t>Expanded attack surface; insider threat exposure</a:t>
            </a:r>
          </a:p>
          <a:p>
            <a:r>
              <a:rPr lang="en-US" sz="1600" dirty="0"/>
              <a:t>Lateral movement facilitation</a:t>
            </a:r>
          </a:p>
          <a:p>
            <a:r>
              <a:rPr lang="en-US" sz="1600" dirty="0"/>
              <a:t>CMMC Level 3 gap; SOX material weakness risk</a:t>
            </a:r>
          </a:p>
          <a:p>
            <a:r>
              <a:rPr lang="en-US" sz="1600" dirty="0"/>
              <a:t>$5-8M annual risk exposure</a:t>
            </a:r>
          </a:p>
          <a:p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6527496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74A8FD-34C9-D083-262C-59C79F8122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F2A722-33EA-30A0-6DFC-7AAC576B20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>
                <a:solidFill>
                  <a:schemeClr val="bg2">
                    <a:lumMod val="50000"/>
                  </a:schemeClr>
                </a:solidFill>
              </a:rPr>
              <a:t>FINDING #2: PRIVILEGED ACCESS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671B88B-92FF-9F30-914B-0013959BFAB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Standards Violated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82224B1-91FE-A490-8996-73953F424B15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rPr lang="en-US" sz="1600" dirty="0"/>
              <a:t>NIST SP 800-53: AC-2, AC-6</a:t>
            </a:r>
          </a:p>
          <a:p>
            <a:r>
              <a:rPr lang="en-US" sz="1600" dirty="0"/>
              <a:t>CMMC 2.0: AC.L2-3.1.5</a:t>
            </a:r>
          </a:p>
          <a:p>
            <a:r>
              <a:rPr lang="pt-BR" sz="1600" dirty="0"/>
              <a:t>NIST SP 800-172: Control 3.1.1e</a:t>
            </a:r>
          </a:p>
          <a:p>
            <a:r>
              <a:rPr lang="en-US" sz="1600" dirty="0"/>
              <a:t>COBIT 2019: DSS05.04</a:t>
            </a:r>
          </a:p>
          <a:p>
            <a:r>
              <a:rPr lang="en-US" sz="1600" dirty="0"/>
              <a:t>SOX Section 404</a:t>
            </a:r>
          </a:p>
        </p:txBody>
      </p:sp>
    </p:spTree>
    <p:extLst>
      <p:ext uri="{BB962C8B-B14F-4D97-AF65-F5344CB8AC3E}">
        <p14:creationId xmlns:p14="http://schemas.microsoft.com/office/powerpoint/2010/main" val="35504983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B98E57-36D1-B2D0-1D65-2C3CB0C2B7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147F1B-F436-D4CE-E8CA-200343836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>
                <a:solidFill>
                  <a:schemeClr val="bg2">
                    <a:lumMod val="50000"/>
                  </a:schemeClr>
                </a:solidFill>
              </a:rPr>
              <a:t>FINDING #3: INCIDENT RESPONSE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123DE9A-23E5-8936-4D50-38B1FF8AA1A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What We Found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348243-1E38-9358-5235-FD0B0BF343B9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rPr lang="en-US" sz="1600" dirty="0"/>
              <a:t>IR plan last updated </a:t>
            </a:r>
            <a:r>
              <a:rPr lang="en-US" sz="1600" b="1" dirty="0"/>
              <a:t>August 2021</a:t>
            </a:r>
            <a:r>
              <a:rPr lang="en-US" sz="1600" dirty="0"/>
              <a:t> (4+ years old)</a:t>
            </a:r>
          </a:p>
          <a:p>
            <a:r>
              <a:rPr lang="en-US" sz="1600" dirty="0"/>
              <a:t>No formal CSIRT with 24/7 coverage</a:t>
            </a:r>
          </a:p>
          <a:p>
            <a:r>
              <a:rPr lang="en-US" sz="1600" dirty="0"/>
              <a:t>EDR on only </a:t>
            </a:r>
            <a:r>
              <a:rPr lang="en-US" sz="1600" b="1" dirty="0"/>
              <a:t>64% servers / 71% workstations</a:t>
            </a:r>
          </a:p>
          <a:p>
            <a:r>
              <a:rPr lang="en-US" sz="1600" b="1" dirty="0"/>
              <a:t>16-18 hour detection delay</a:t>
            </a:r>
            <a:r>
              <a:rPr lang="en-US" sz="1600" dirty="0"/>
              <a:t> in September attack</a:t>
            </a:r>
          </a:p>
          <a:p>
            <a:r>
              <a:rPr lang="en-US" sz="1600" dirty="0"/>
              <a:t>No forensic evidence preservation protocol (systems powered off without memory capture)</a:t>
            </a:r>
          </a:p>
        </p:txBody>
      </p:sp>
    </p:spTree>
    <p:extLst>
      <p:ext uri="{BB962C8B-B14F-4D97-AF65-F5344CB8AC3E}">
        <p14:creationId xmlns:p14="http://schemas.microsoft.com/office/powerpoint/2010/main" val="18443104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732D28-3462-49F2-E64D-4F33E45566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4EC569-8EFA-11BA-4101-3ECB5A4E34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>
                <a:solidFill>
                  <a:schemeClr val="bg2">
                    <a:lumMod val="50000"/>
                  </a:schemeClr>
                </a:solidFill>
              </a:rPr>
              <a:t>FINDING #3: INCIDENT RESPONSE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DA9F15C-88AA-1D24-17EE-A4F764B0F5F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What We Found (Cont’d)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89AB613-6146-B6C9-24EF-D69A99FA120C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rPr lang="en-US" sz="1600" dirty="0"/>
              <a:t>No tabletop exercises ever conducted</a:t>
            </a:r>
          </a:p>
          <a:p>
            <a:r>
              <a:rPr lang="en-US" sz="1600" dirty="0"/>
              <a:t>No pre-established law enforcement relationships</a:t>
            </a:r>
          </a:p>
          <a:p>
            <a:r>
              <a:rPr lang="en-US" sz="1600" dirty="0"/>
              <a:t>No forensic vendor retainers</a:t>
            </a:r>
          </a:p>
          <a:p>
            <a:r>
              <a:rPr lang="en-US" sz="1600" dirty="0"/>
              <a:t>Incident documentation incomplete</a:t>
            </a:r>
          </a:p>
        </p:txBody>
      </p:sp>
    </p:spTree>
    <p:extLst>
      <p:ext uri="{BB962C8B-B14F-4D97-AF65-F5344CB8AC3E}">
        <p14:creationId xmlns:p14="http://schemas.microsoft.com/office/powerpoint/2010/main" val="5665966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2275B8-D256-2681-C8A9-4556EE380F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1179AD-A7E0-31BC-4AD5-3A05511E29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>
                <a:solidFill>
                  <a:schemeClr val="bg2">
                    <a:lumMod val="50000"/>
                  </a:schemeClr>
                </a:solidFill>
              </a:rPr>
              <a:t>FINDING #3: INCIDENT RESPONSE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D7C9451-55DC-1935-9F90-184C05098ED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Root Cause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9602B9E-0B31-B8A7-BE6D-74070C12F411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rPr lang="en-US" sz="1600" dirty="0"/>
              <a:t>Lack of executive prioritization</a:t>
            </a:r>
          </a:p>
          <a:p>
            <a:r>
              <a:rPr lang="en-US" sz="1600" dirty="0"/>
              <a:t>Resource constraints (8-person security team)</a:t>
            </a:r>
          </a:p>
          <a:p>
            <a:r>
              <a:rPr lang="en-US" sz="1600" dirty="0"/>
              <a:t>Rapid M&amp;A growth outpacing security capabilities</a:t>
            </a:r>
          </a:p>
          <a:p>
            <a:r>
              <a:rPr lang="en-US" sz="1600" dirty="0"/>
              <a:t>Cultural complacency ("didn't think it would happen")</a:t>
            </a:r>
          </a:p>
          <a:p>
            <a:r>
              <a:rPr lang="en-US" sz="1600" dirty="0"/>
              <a:t>No cyber insurance engagement</a:t>
            </a:r>
          </a:p>
        </p:txBody>
      </p:sp>
    </p:spTree>
    <p:extLst>
      <p:ext uri="{BB962C8B-B14F-4D97-AF65-F5344CB8AC3E}">
        <p14:creationId xmlns:p14="http://schemas.microsoft.com/office/powerpoint/2010/main" val="13580373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FEBF6A-2490-E19C-9382-AD03C51B32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8AD99C-018F-FB41-5E84-4E4F7B0474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>
                <a:solidFill>
                  <a:schemeClr val="bg2">
                    <a:lumMod val="50000"/>
                  </a:schemeClr>
                </a:solidFill>
              </a:rPr>
              <a:t>FINDING #3: INCIDENT RESPONSE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05D098D-82BB-303B-A515-17DD8692B30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Business Impact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89E761-1945-4D55-6B48-7BA4912E4718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rPr lang="en-US" sz="1600" dirty="0"/>
              <a:t>Extended detection time allowed ransomware spread</a:t>
            </a:r>
          </a:p>
          <a:p>
            <a:r>
              <a:rPr lang="en-US" sz="1600" dirty="0"/>
              <a:t>5-7 day recovery vs. 4-hour RTO</a:t>
            </a:r>
          </a:p>
          <a:p>
            <a:r>
              <a:rPr lang="en-US" sz="1600" dirty="0"/>
              <a:t>Incomplete root cause analysis</a:t>
            </a:r>
          </a:p>
          <a:p>
            <a:r>
              <a:rPr lang="en-US" sz="1600" dirty="0"/>
              <a:t>Regulatory exposure (GDPR, SEC)</a:t>
            </a:r>
          </a:p>
          <a:p>
            <a:r>
              <a:rPr lang="en-US" sz="1600" dirty="0"/>
              <a:t>$7-9M incremental costs</a:t>
            </a:r>
          </a:p>
          <a:p>
            <a:r>
              <a:rPr lang="en-US" sz="1600" dirty="0"/>
              <a:t>Ongoing forensic investigation $150K/month</a:t>
            </a:r>
          </a:p>
          <a:p>
            <a:endParaRPr lang="en-US" sz="1600" dirty="0"/>
          </a:p>
          <a:p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39419859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5" dur="10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6675B2-132C-B0A9-F7FE-5590C33C7A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B4AD59-A07D-5123-8DD1-3E817C018B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>
                <a:solidFill>
                  <a:schemeClr val="bg2">
                    <a:lumMod val="50000"/>
                  </a:schemeClr>
                </a:solidFill>
              </a:rPr>
              <a:t>FINDING #5: </a:t>
            </a:r>
            <a:r>
              <a:rPr lang="en-US" sz="3600" dirty="0"/>
              <a:t>VENDOR SECURITY RISK</a:t>
            </a:r>
            <a:endParaRPr lang="en-US" sz="36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80B6647-247E-62B3-7F83-C88A9C54E2F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What We Found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797B7EE-E9FF-CA77-41E8-0812C4081A0D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rPr lang="en-US" sz="1600" b="1" dirty="0"/>
              <a:t>47 vendors</a:t>
            </a:r>
            <a:r>
              <a:rPr lang="en-US" sz="1600" dirty="0"/>
              <a:t> with production system access</a:t>
            </a:r>
          </a:p>
          <a:p>
            <a:r>
              <a:rPr lang="en-US" sz="1600" b="1" dirty="0"/>
              <a:t>18 vendors</a:t>
            </a:r>
            <a:r>
              <a:rPr lang="en-US" sz="1600" dirty="0"/>
              <a:t> with standing VPN access (should be just-in-time)</a:t>
            </a:r>
          </a:p>
          <a:p>
            <a:r>
              <a:rPr lang="en-US" sz="1600" b="1" dirty="0"/>
              <a:t>12 vendors</a:t>
            </a:r>
            <a:r>
              <a:rPr lang="en-US" sz="1600" dirty="0"/>
              <a:t> sharing credentials (no individual accountability)</a:t>
            </a:r>
          </a:p>
          <a:p>
            <a:r>
              <a:rPr lang="en-US" sz="1600" b="1" dirty="0"/>
              <a:t>7 vendors</a:t>
            </a:r>
            <a:r>
              <a:rPr lang="en-US" sz="1600" dirty="0"/>
              <a:t> with domain administrator privileges (excessive)</a:t>
            </a:r>
          </a:p>
          <a:p>
            <a:r>
              <a:rPr lang="en-US" sz="1600" b="1" dirty="0"/>
              <a:t>8 terminated vendor contracts</a:t>
            </a:r>
            <a:r>
              <a:rPr lang="en-US" sz="1600" dirty="0"/>
              <a:t> with active access (3-12 months post-termination)</a:t>
            </a:r>
          </a:p>
        </p:txBody>
      </p:sp>
    </p:spTree>
    <p:extLst>
      <p:ext uri="{BB962C8B-B14F-4D97-AF65-F5344CB8AC3E}">
        <p14:creationId xmlns:p14="http://schemas.microsoft.com/office/powerpoint/2010/main" val="13824791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FCB386-FD47-43D6-E619-2FF681731E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C507B7-BE38-B77A-DBF4-B7EA48CC35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>
                <a:solidFill>
                  <a:schemeClr val="bg2">
                    <a:lumMod val="50000"/>
                  </a:schemeClr>
                </a:solidFill>
              </a:rPr>
              <a:t>FINDING #5: </a:t>
            </a:r>
            <a:r>
              <a:rPr lang="en-US" sz="3600" dirty="0"/>
              <a:t>VENDOR SECURITY RISK</a:t>
            </a:r>
            <a:endParaRPr lang="en-US" sz="36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DDE503A-C3B7-3155-CE08-36F2052E01E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What We Found (cont’d)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4CCEE14-F3A8-26F8-6B83-91B6C5376C10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rPr lang="en-US" sz="1600" dirty="0"/>
              <a:t>No ongoing vendor security monitoring or compliance validation</a:t>
            </a:r>
          </a:p>
          <a:p>
            <a:r>
              <a:rPr lang="en-US" sz="1600" dirty="0"/>
              <a:t>No Cloud Service Provider (CSP) compliance reviews for AWS/Azure environments</a:t>
            </a:r>
          </a:p>
          <a:p>
            <a:r>
              <a:rPr lang="en-US" sz="1600" dirty="0"/>
              <a:t>No Software Bill of Materials (SBOM) for third-party applications</a:t>
            </a:r>
          </a:p>
        </p:txBody>
      </p:sp>
    </p:spTree>
    <p:extLst>
      <p:ext uri="{BB962C8B-B14F-4D97-AF65-F5344CB8AC3E}">
        <p14:creationId xmlns:p14="http://schemas.microsoft.com/office/powerpoint/2010/main" val="41832217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8F2FBE-FE07-AA9F-6FDD-37750475C9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136BB0-2585-35D2-51BA-5F7E1ACAFA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>
                <a:solidFill>
                  <a:schemeClr val="bg2">
                    <a:lumMod val="50000"/>
                  </a:schemeClr>
                </a:solidFill>
              </a:rPr>
              <a:t>FINDING #5: </a:t>
            </a:r>
            <a:r>
              <a:rPr lang="en-US" sz="3600" dirty="0"/>
              <a:t>VENDOR SECURITY RISK</a:t>
            </a:r>
            <a:endParaRPr lang="en-US" sz="36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336E6DA-C169-E4D2-ACB7-B22A5163C03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Process Gaps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B8A67A6-B7E3-1B55-A90B-0A93810D6EAF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rPr lang="en-US" sz="1600" dirty="0"/>
              <a:t>No formal vendor security assessment program</a:t>
            </a:r>
          </a:p>
          <a:p>
            <a:r>
              <a:rPr lang="en-US" sz="1600" dirty="0"/>
              <a:t>Fragmented vendor management across departments (IT, Procurement, Business Units)</a:t>
            </a:r>
          </a:p>
          <a:p>
            <a:r>
              <a:rPr lang="en-US" sz="1600" dirty="0"/>
              <a:t>Procurement focuses on commercial terms, not security requirements</a:t>
            </a:r>
          </a:p>
          <a:p>
            <a:r>
              <a:rPr lang="en-US" sz="1600" dirty="0"/>
              <a:t>No dedicated Third-Party Risk Management (TPRM) team</a:t>
            </a:r>
          </a:p>
        </p:txBody>
      </p:sp>
    </p:spTree>
    <p:extLst>
      <p:ext uri="{BB962C8B-B14F-4D97-AF65-F5344CB8AC3E}">
        <p14:creationId xmlns:p14="http://schemas.microsoft.com/office/powerpoint/2010/main" val="33493626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38FF84-F2AA-4330-BDE4-CC9328600C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1434FE-9087-11F9-E30F-F38E32229D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>
                <a:solidFill>
                  <a:schemeClr val="bg2">
                    <a:lumMod val="50000"/>
                  </a:schemeClr>
                </a:solidFill>
              </a:rPr>
              <a:t>FINDING #5: </a:t>
            </a:r>
            <a:r>
              <a:rPr lang="en-US" sz="3600" dirty="0"/>
              <a:t>VENDOR SECURITY RISK</a:t>
            </a:r>
            <a:endParaRPr lang="en-US" sz="36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CE125B6-3B08-4BDA-6B5B-C071859F25F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Process Gaps (Cont’d)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3F0FECF-AA09-9222-0792-F13E9560BBDD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rPr lang="en-US" sz="1600" dirty="0"/>
              <a:t>No vendor access request/approval workflow</a:t>
            </a:r>
          </a:p>
          <a:p>
            <a:r>
              <a:rPr lang="en-US" sz="1600" dirty="0"/>
              <a:t>No regular vendor access recertification</a:t>
            </a:r>
          </a:p>
          <a:p>
            <a:r>
              <a:rPr lang="en-US" sz="1600" dirty="0"/>
              <a:t>Vendor offboarding process non-existent</a:t>
            </a:r>
          </a:p>
        </p:txBody>
      </p:sp>
    </p:spTree>
    <p:extLst>
      <p:ext uri="{BB962C8B-B14F-4D97-AF65-F5344CB8AC3E}">
        <p14:creationId xmlns:p14="http://schemas.microsoft.com/office/powerpoint/2010/main" val="17888021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651B2F-99FA-981A-A99B-BEB6843341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7443C7-21DB-A7D4-C82C-2BA32BD403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>
                <a:solidFill>
                  <a:schemeClr val="bg2">
                    <a:lumMod val="50000"/>
                  </a:schemeClr>
                </a:solidFill>
              </a:rPr>
              <a:t>FINDING #5: </a:t>
            </a:r>
            <a:r>
              <a:rPr lang="en-US" sz="3600" dirty="0"/>
              <a:t>VENDOR SECURITY RISK</a:t>
            </a:r>
            <a:endParaRPr lang="en-US" sz="36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7CC1273-664B-74D9-A4B3-D95D3543C6F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Root Cause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AEAB527-11FC-295D-F384-7616E5F53FCA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rPr lang="en-US" sz="1600" dirty="0"/>
              <a:t>Legacy vendor relationships predate current security standards</a:t>
            </a:r>
          </a:p>
          <a:p>
            <a:r>
              <a:rPr lang="en-US" sz="1600" dirty="0"/>
              <a:t>Shadow IT from rapid cloud/SaaS adoption</a:t>
            </a:r>
          </a:p>
          <a:p>
            <a:r>
              <a:rPr lang="en-US" sz="1600" dirty="0"/>
              <a:t>Lack of business unit awareness of security requirements</a:t>
            </a:r>
          </a:p>
          <a:p>
            <a:r>
              <a:rPr lang="en-US" sz="1600" dirty="0"/>
              <a:t>No centralized vendor risk visibility</a:t>
            </a:r>
          </a:p>
        </p:txBody>
      </p:sp>
    </p:spTree>
    <p:extLst>
      <p:ext uri="{BB962C8B-B14F-4D97-AF65-F5344CB8AC3E}">
        <p14:creationId xmlns:p14="http://schemas.microsoft.com/office/powerpoint/2010/main" val="24030162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D65B22-C831-335D-56C0-2818228B9F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F79023-C4DC-44FA-2ABC-D4E7B9B48E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>
                <a:solidFill>
                  <a:schemeClr val="bg2">
                    <a:lumMod val="50000"/>
                  </a:schemeClr>
                </a:solidFill>
              </a:rPr>
              <a:t>FINDING #5: </a:t>
            </a:r>
            <a:r>
              <a:rPr lang="en-US" sz="3600" dirty="0"/>
              <a:t>VENDOR SECURITY RISK</a:t>
            </a:r>
            <a:endParaRPr lang="en-US" sz="36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B2645B3-D7C3-AACB-F8A8-FEB19342C9E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Business Impact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6DFBB95-6CFE-89ED-89B7-C1F452BDA8B8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rPr lang="en-US" sz="1600" b="1" dirty="0"/>
              <a:t>SUPPLY CHAIN RISK:</a:t>
            </a:r>
            <a:r>
              <a:rPr lang="en-US" sz="1600" dirty="0"/>
              <a:t> 30% of breaches occur via third parties (industry data)</a:t>
            </a:r>
          </a:p>
          <a:p>
            <a:r>
              <a:rPr lang="en-US" sz="1600" b="1" dirty="0"/>
              <a:t>DATA BREACH EXPOSURE:</a:t>
            </a:r>
            <a:r>
              <a:rPr lang="en-US" sz="1600" dirty="0"/>
              <a:t> Vendors handle customer PII and financial data</a:t>
            </a:r>
          </a:p>
          <a:p>
            <a:r>
              <a:rPr lang="en-US" sz="1600" b="1" dirty="0"/>
              <a:t>COMPLIANCE GAP:</a:t>
            </a:r>
            <a:r>
              <a:rPr lang="en-US" sz="1600" dirty="0"/>
              <a:t> CMMC Level 3 requires vendor security controls; SOX gap for service providers</a:t>
            </a:r>
          </a:p>
          <a:p>
            <a:r>
              <a:rPr lang="en-US" sz="1600" b="1" dirty="0"/>
              <a:t>OPERATIONAL DISRUPTION RISK:</a:t>
            </a:r>
            <a:r>
              <a:rPr lang="en-US" sz="1600" dirty="0"/>
              <a:t> Dependency on vendors without security validation</a:t>
            </a:r>
          </a:p>
          <a:p>
            <a:r>
              <a:rPr lang="en-US" sz="1600" b="1" dirty="0"/>
              <a:t>REGULATORY RISK:</a:t>
            </a:r>
            <a:r>
              <a:rPr lang="en-US" sz="1600" dirty="0"/>
              <a:t> FAR/DFARS flow-down requirements not enforced</a:t>
            </a:r>
          </a:p>
          <a:p>
            <a:r>
              <a:rPr lang="en-US" sz="1600" b="1" dirty="0"/>
              <a:t>ANNUAL RISK EXPOSURE:</a:t>
            </a:r>
            <a:r>
              <a:rPr lang="en-US" sz="1600" dirty="0"/>
              <a:t> $3-5M</a:t>
            </a:r>
          </a:p>
        </p:txBody>
      </p:sp>
    </p:spTree>
    <p:extLst>
      <p:ext uri="{BB962C8B-B14F-4D97-AF65-F5344CB8AC3E}">
        <p14:creationId xmlns:p14="http://schemas.microsoft.com/office/powerpoint/2010/main" val="41823591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5" dur="10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52553A-392C-02BA-835D-B0F07D3332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17C39E-AEA2-0117-F09C-6A2A222397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>
                <a:solidFill>
                  <a:schemeClr val="bg2">
                    <a:lumMod val="50000"/>
                  </a:schemeClr>
                </a:solidFill>
              </a:rPr>
              <a:t>FINDING #5: </a:t>
            </a:r>
            <a:r>
              <a:rPr lang="en-US" sz="3600" dirty="0"/>
              <a:t>VENDOR SECURITY RISK</a:t>
            </a:r>
            <a:endParaRPr lang="en-US" sz="36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3E87CA9-75F4-C274-82E5-FFE659BA3A2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Standards Violated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4A3EEEB-F8A2-2ECF-C665-C6B080D1A6B0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rPr lang="nb-NO" sz="1600" dirty="0"/>
              <a:t>NIST SP 800-53: SA-9, CA-3, SA-12, SR-3</a:t>
            </a:r>
          </a:p>
          <a:p>
            <a:r>
              <a:rPr lang="en-US" sz="1600" dirty="0"/>
              <a:t>CMMC 2.0: CA.L2-3.12.2, SA.L2-3.13.1</a:t>
            </a:r>
          </a:p>
          <a:p>
            <a:r>
              <a:rPr lang="pt-BR" sz="1600" dirty="0"/>
              <a:t>NIST SP 800-172: Control 3.12.1e</a:t>
            </a:r>
          </a:p>
          <a:p>
            <a:r>
              <a:rPr lang="en-US" sz="1600" dirty="0"/>
              <a:t>COBIT 2019: APO10.01, APO10.04, APO10.05</a:t>
            </a:r>
          </a:p>
          <a:p>
            <a:r>
              <a:rPr lang="en-US" sz="1600" dirty="0"/>
              <a:t>NIST CSF: ID.SC-1, ID.SC-2, ID.SC-3</a:t>
            </a:r>
          </a:p>
          <a:p>
            <a:r>
              <a:rPr lang="pt-BR" sz="1600" dirty="0"/>
              <a:t>ISO 27001: Controls 5.19, 5.20, 5.21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26515620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5" dur="10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FB08BD-D0CE-0581-7198-FC6C860FC3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8C22FE-B012-7468-2DD0-55047FC0CD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>
                <a:solidFill>
                  <a:schemeClr val="bg2">
                    <a:lumMod val="50000"/>
                  </a:schemeClr>
                </a:solidFill>
              </a:rPr>
              <a:t>FINDING #5: </a:t>
            </a:r>
            <a:r>
              <a:rPr lang="en-US" sz="3600" dirty="0"/>
              <a:t>VENDOR SECURITY RISK</a:t>
            </a:r>
            <a:endParaRPr lang="en-US" sz="36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D0CAB74-BFF3-68DE-AB78-8769E1259D7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Recommendations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A8C524-60F0-54EB-1BCB-7AF8CF2C81CB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rPr lang="en-US" sz="1600" dirty="0"/>
              <a:t>Emergency vendor access review and termination (Dec 2025)</a:t>
            </a:r>
          </a:p>
          <a:p>
            <a:r>
              <a:rPr lang="en-US" sz="1600" dirty="0"/>
              <a:t>Vendor risk tiering framework (Feb 2026)</a:t>
            </a:r>
          </a:p>
          <a:p>
            <a:r>
              <a:rPr lang="en-US" sz="1600" dirty="0"/>
              <a:t>TPRM platform deployment (Jun 2026)</a:t>
            </a:r>
          </a:p>
          <a:p>
            <a:r>
              <a:rPr lang="en-US" sz="1600" dirty="0"/>
              <a:t>Cloud Security Posture Management (CSPM) for AWS/Azure</a:t>
            </a:r>
          </a:p>
          <a:p>
            <a:r>
              <a:rPr lang="en-US" sz="1600" dirty="0"/>
              <a:t>Software Composition Analysis for SBOM</a:t>
            </a:r>
          </a:p>
          <a:p>
            <a:r>
              <a:rPr lang="en-US" sz="1600" dirty="0"/>
              <a:t>Quarterly vendor security assessments</a:t>
            </a:r>
          </a:p>
        </p:txBody>
      </p:sp>
    </p:spTree>
    <p:extLst>
      <p:ext uri="{BB962C8B-B14F-4D97-AF65-F5344CB8AC3E}">
        <p14:creationId xmlns:p14="http://schemas.microsoft.com/office/powerpoint/2010/main" val="27925284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5" dur="10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A7B718-D56B-A720-5AFB-2CAFE1A9A7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FF2705-A40F-60B5-9E66-D2E17C41B7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>
                <a:solidFill>
                  <a:schemeClr val="bg2">
                    <a:lumMod val="50000"/>
                  </a:schemeClr>
                </a:solidFill>
              </a:rPr>
              <a:t>CMMC LEVEL 3 COMPLIANCE RISK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2E71F2A-EC02-5ABB-83AA-FCF31466530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CMMC Level 3 Requirements: Level 2 Foundation (110 controls)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31D84A0-9C12-BF53-63C4-C3E1350A3F3D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rPr lang="en-US" sz="1600" dirty="0"/>
              <a:t>Complete NIST SP 800-171 implementation (all 17 families, 110 requirements)</a:t>
            </a:r>
          </a:p>
          <a:p>
            <a:r>
              <a:rPr lang="en-US" sz="1600" dirty="0"/>
              <a:t>Perfect score from C3PAO (Certified Third-Party Assessment Organization) required first</a:t>
            </a:r>
          </a:p>
          <a:p>
            <a:r>
              <a:rPr lang="en-US" sz="1600" dirty="0"/>
              <a:t>No Plan of Action &amp; Milestones (POA&amp;M) items allowed before advancing to Level 3</a:t>
            </a:r>
          </a:p>
          <a:p>
            <a:r>
              <a:rPr lang="en-US" sz="1600" dirty="0"/>
              <a:t>Documentation of all security controls</a:t>
            </a:r>
          </a:p>
          <a:p>
            <a:r>
              <a:rPr lang="en-US" sz="1600" dirty="0"/>
              <a:t>Evidence of implementation and effectiveness</a:t>
            </a:r>
          </a:p>
        </p:txBody>
      </p:sp>
    </p:spTree>
    <p:extLst>
      <p:ext uri="{BB962C8B-B14F-4D97-AF65-F5344CB8AC3E}">
        <p14:creationId xmlns:p14="http://schemas.microsoft.com/office/powerpoint/2010/main" val="38554266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2F4067-8433-1A95-8E16-411FFA29D6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19B38D-033E-14C9-F286-75B186DFC6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>
                <a:solidFill>
                  <a:schemeClr val="bg2">
                    <a:lumMod val="50000"/>
                  </a:schemeClr>
                </a:solidFill>
              </a:rPr>
              <a:t>CMMC LEVEL 3 COMPLIANCE RISK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443E79B-FEEA-4DCF-13C4-CC21A813F48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Enhanced Controls (24 additional controls)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0D1DF90-01A9-CDE1-BF14-ECA662D4568A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rPr lang="en-US" sz="1600" dirty="0"/>
              <a:t>NIST SP 800-172 advanced security requirements</a:t>
            </a:r>
          </a:p>
          <a:p>
            <a:r>
              <a:rPr lang="en-US" sz="1600" dirty="0"/>
              <a:t>Protection against Advanced Persistent Threats (APTs)</a:t>
            </a:r>
          </a:p>
          <a:p>
            <a:r>
              <a:rPr lang="en-US" sz="1600" dirty="0"/>
              <a:t>Enhanced access control, audit, network security, incident response</a:t>
            </a:r>
          </a:p>
          <a:p>
            <a:r>
              <a:rPr lang="en-US" sz="1600" dirty="0"/>
              <a:t>Government-led assessment by DIBCAC (Defense Industrial Base Cybersecurity Assessment Center)</a:t>
            </a:r>
          </a:p>
          <a:p>
            <a:r>
              <a:rPr lang="en-US" sz="1600" dirty="0"/>
              <a:t>Triennial assessment cycle (every 3 years)</a:t>
            </a:r>
          </a:p>
          <a:p>
            <a:r>
              <a:rPr lang="en-US" sz="1600" dirty="0"/>
              <a:t>No third-party assessor - direct government evaluation</a:t>
            </a:r>
          </a:p>
        </p:txBody>
      </p:sp>
    </p:spTree>
    <p:extLst>
      <p:ext uri="{BB962C8B-B14F-4D97-AF65-F5344CB8AC3E}">
        <p14:creationId xmlns:p14="http://schemas.microsoft.com/office/powerpoint/2010/main" val="8390909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5" dur="10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C1BE08-18BC-AAEA-2526-7572CCAB86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1C12A2-905A-0C33-969B-0278B17708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>
                <a:solidFill>
                  <a:schemeClr val="bg2">
                    <a:lumMod val="50000"/>
                  </a:schemeClr>
                </a:solidFill>
              </a:rPr>
              <a:t>CMMC LEVEL 3 COMPLIANCE RISK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09399B9-F3E5-B2F1-3B9A-7308B817B42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Assessment Process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7497DA7-2326-675A-E2D6-09854DEFD164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rPr lang="en-US" sz="1600" dirty="0"/>
              <a:t>Achieve Level 2 certification (C3PAO assessment)</a:t>
            </a:r>
          </a:p>
          <a:p>
            <a:r>
              <a:rPr lang="en-US" sz="1600" dirty="0"/>
              <a:t>Remediate all gaps (no POA&amp;M allowed)</a:t>
            </a:r>
          </a:p>
          <a:p>
            <a:r>
              <a:rPr lang="en-US" sz="1600" dirty="0"/>
              <a:t>Request Level 3 assessment from DIBCAC</a:t>
            </a:r>
          </a:p>
          <a:p>
            <a:r>
              <a:rPr lang="en-US" sz="1600" dirty="0"/>
              <a:t>Government conducts on-site assessment</a:t>
            </a:r>
          </a:p>
          <a:p>
            <a:r>
              <a:rPr lang="en-US" sz="1600" dirty="0"/>
              <a:t>Certification valid for 3 years</a:t>
            </a:r>
          </a:p>
          <a:p>
            <a:r>
              <a:rPr lang="en-US" sz="1600" dirty="0"/>
              <a:t>No extension granted</a:t>
            </a:r>
          </a:p>
        </p:txBody>
      </p:sp>
    </p:spTree>
    <p:extLst>
      <p:ext uri="{BB962C8B-B14F-4D97-AF65-F5344CB8AC3E}">
        <p14:creationId xmlns:p14="http://schemas.microsoft.com/office/powerpoint/2010/main" val="35054265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5" dur="10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5772DB-3C6C-1C90-6AA8-88E2D62E5B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D038B4-BA86-E227-E176-CBC3CBE820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>
                <a:solidFill>
                  <a:schemeClr val="bg2">
                    <a:lumMod val="50000"/>
                  </a:schemeClr>
                </a:solidFill>
              </a:rPr>
              <a:t>CMMC LEVEL 3 COMPLIANCE RISK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72DF828-E610-4DF6-0C84-242BB75E4D1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CMMC Gaps by Finding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CE4AD16-2839-D645-FD62-F13822653450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rPr lang="en-US" sz="1600" dirty="0"/>
              <a:t>MFA Deficiency – CRITICAL</a:t>
            </a:r>
          </a:p>
          <a:p>
            <a:r>
              <a:rPr lang="en-US" sz="1600" dirty="0"/>
              <a:t>Privileged Access – HIGH</a:t>
            </a:r>
          </a:p>
          <a:p>
            <a:r>
              <a:rPr lang="en-US" sz="1600" dirty="0"/>
              <a:t>Incident Response - HIGH</a:t>
            </a:r>
          </a:p>
          <a:p>
            <a:r>
              <a:rPr lang="en-US" sz="1600" dirty="0"/>
              <a:t>Backup/DR - CRITICAL</a:t>
            </a:r>
          </a:p>
          <a:p>
            <a:r>
              <a:rPr lang="en-US" sz="1600" dirty="0"/>
              <a:t>Vendor Security  - MEDIUM</a:t>
            </a:r>
          </a:p>
          <a:p>
            <a:pPr marL="114300" indent="0">
              <a:buNone/>
            </a:pPr>
            <a:endParaRPr lang="en-US" sz="1600" b="1" i="1" dirty="0"/>
          </a:p>
          <a:p>
            <a:pPr marL="114300" indent="0">
              <a:buNone/>
            </a:pPr>
            <a:r>
              <a:rPr lang="en-US" sz="1600" b="1" i="1" dirty="0"/>
              <a:t>CURRENT READINESS:</a:t>
            </a:r>
            <a:r>
              <a:rPr lang="en-US" sz="1600" i="1" dirty="0"/>
              <a:t> 4 of 5 findings directly violate CMMC Level 3 requirements. Without immediate remediation, we will NOT achieve certification by Q2 2026 deadline</a:t>
            </a:r>
            <a:endParaRPr lang="en-US" sz="1600" dirty="0"/>
          </a:p>
          <a:p>
            <a:r>
              <a:rPr lang="en-US" sz="16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1965324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5" dur="10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D86B73-083B-B781-2999-A3A8540A38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REMEDIATION ROADMAP - OVERVIEW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95DE05E8-A3FE-B113-9D3A-0FEFC526564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53446464"/>
              </p:ext>
            </p:extLst>
          </p:nvPr>
        </p:nvGraphicFramePr>
        <p:xfrm>
          <a:off x="64314" y="1756154"/>
          <a:ext cx="9079686" cy="3387348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3026562">
                  <a:extLst>
                    <a:ext uri="{9D8B030D-6E8A-4147-A177-3AD203B41FA5}">
                      <a16:colId xmlns:a16="http://schemas.microsoft.com/office/drawing/2014/main" val="4054643000"/>
                    </a:ext>
                  </a:extLst>
                </a:gridCol>
                <a:gridCol w="3026562">
                  <a:extLst>
                    <a:ext uri="{9D8B030D-6E8A-4147-A177-3AD203B41FA5}">
                      <a16:colId xmlns:a16="http://schemas.microsoft.com/office/drawing/2014/main" val="4190634261"/>
                    </a:ext>
                  </a:extLst>
                </a:gridCol>
                <a:gridCol w="3026562">
                  <a:extLst>
                    <a:ext uri="{9D8B030D-6E8A-4147-A177-3AD203B41FA5}">
                      <a16:colId xmlns:a16="http://schemas.microsoft.com/office/drawing/2014/main" val="1247956779"/>
                    </a:ext>
                  </a:extLst>
                </a:gridCol>
              </a:tblGrid>
              <a:tr h="56455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000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IMMEDIATE (0-30 Days)</a:t>
                      </a:r>
                    </a:p>
                    <a:p>
                      <a:endParaRPr lang="en-US" sz="1000" dirty="0">
                        <a:solidFill>
                          <a:schemeClr val="bg2">
                            <a:lumMod val="50000"/>
                          </a:schemeClr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000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SHORT-TERM (30-90 Days)</a:t>
                      </a:r>
                    </a:p>
                    <a:p>
                      <a:endParaRPr lang="en-US" sz="1000" dirty="0">
                        <a:solidFill>
                          <a:schemeClr val="bg2">
                            <a:lumMod val="50000"/>
                          </a:schemeClr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000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MEDIUM-TERM (90-180 Days)</a:t>
                      </a:r>
                    </a:p>
                    <a:p>
                      <a:endParaRPr lang="en-US" sz="1000" dirty="0">
                        <a:solidFill>
                          <a:schemeClr val="bg2">
                            <a:lumMod val="50000"/>
                          </a:schemeClr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31946011"/>
                  </a:ext>
                </a:extLst>
              </a:tr>
              <a:tr h="56455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000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Emergency MFA deployment</a:t>
                      </a:r>
                    </a:p>
                    <a:p>
                      <a:endParaRPr lang="en-US" sz="1000" dirty="0">
                        <a:solidFill>
                          <a:schemeClr val="bg2">
                            <a:lumMod val="50000"/>
                          </a:schemeClr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PAM solution deployment</a:t>
                      </a:r>
                      <a:endParaRPr lang="en-US" sz="1000" dirty="0">
                        <a:solidFill>
                          <a:schemeClr val="bg2">
                            <a:lumMod val="50000"/>
                          </a:schemeClr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000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Zero Trust architecture</a:t>
                      </a:r>
                    </a:p>
                    <a:p>
                      <a:endParaRPr lang="en-US" sz="1000" dirty="0">
                        <a:solidFill>
                          <a:schemeClr val="bg2">
                            <a:lumMod val="50000"/>
                          </a:schemeClr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6482164"/>
                  </a:ext>
                </a:extLst>
              </a:tr>
              <a:tr h="564558"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  <a:defRPr sz="900"/>
                      </a:pPr>
                      <a:r>
                        <a:rPr lang="en-US" sz="1000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Air-gapped backup infrastructure</a:t>
                      </a:r>
                      <a:endParaRPr lang="en-US" sz="1000" dirty="0">
                        <a:solidFill>
                          <a:schemeClr val="bg2">
                            <a:lumMod val="50000"/>
                          </a:schemeClr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Off-site backup replication</a:t>
                      </a:r>
                      <a:endParaRPr lang="en-US" sz="1000" dirty="0">
                        <a:solidFill>
                          <a:schemeClr val="bg2">
                            <a:lumMod val="50000"/>
                          </a:schemeClr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000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Immutable backups</a:t>
                      </a:r>
                    </a:p>
                    <a:p>
                      <a:endParaRPr lang="en-US" sz="1000" dirty="0">
                        <a:solidFill>
                          <a:schemeClr val="bg2">
                            <a:lumMod val="50000"/>
                          </a:schemeClr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61079916"/>
                  </a:ext>
                </a:extLst>
              </a:tr>
              <a:tr h="564558">
                <a:tc>
                  <a:txBody>
                    <a:bodyPr/>
                    <a:lstStyle/>
                    <a:p>
                      <a:r>
                        <a:rPr lang="en-US" sz="1000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Privileged access emergency audit</a:t>
                      </a:r>
                      <a:endParaRPr lang="en-US" sz="1000" dirty="0">
                        <a:solidFill>
                          <a:schemeClr val="bg2">
                            <a:lumMod val="50000"/>
                          </a:schemeClr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CSIRT formation &amp; training</a:t>
                      </a:r>
                      <a:endParaRPr lang="en-US" sz="1000" dirty="0">
                        <a:solidFill>
                          <a:schemeClr val="bg2">
                            <a:lumMod val="50000"/>
                          </a:schemeClr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SOAR platform deployment</a:t>
                      </a:r>
                      <a:endParaRPr lang="en-US" sz="1000" dirty="0">
                        <a:solidFill>
                          <a:schemeClr val="bg2">
                            <a:lumMod val="50000"/>
                          </a:schemeClr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40024147"/>
                  </a:ext>
                </a:extLst>
              </a:tr>
              <a:tr h="56455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000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 IR plan rapid update</a:t>
                      </a:r>
                    </a:p>
                    <a:p>
                      <a:endParaRPr lang="en-US" sz="1000" dirty="0">
                        <a:solidFill>
                          <a:schemeClr val="bg2">
                            <a:lumMod val="50000"/>
                          </a:schemeClr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Backup restoration testing</a:t>
                      </a:r>
                      <a:endParaRPr lang="en-US" sz="1000" dirty="0">
                        <a:solidFill>
                          <a:schemeClr val="bg2">
                            <a:lumMod val="50000"/>
                          </a:schemeClr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Business Impact Analysis</a:t>
                      </a:r>
                      <a:endParaRPr lang="en-US" sz="1000" dirty="0">
                        <a:solidFill>
                          <a:schemeClr val="bg2">
                            <a:lumMod val="50000"/>
                          </a:schemeClr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14590543"/>
                  </a:ext>
                </a:extLst>
              </a:tr>
              <a:tr h="56455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000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Vendor access review</a:t>
                      </a:r>
                    </a:p>
                    <a:p>
                      <a:endParaRPr lang="en-US" sz="1000" dirty="0">
                        <a:solidFill>
                          <a:schemeClr val="bg2">
                            <a:lumMod val="50000"/>
                          </a:schemeClr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Vendor risk tiering</a:t>
                      </a:r>
                      <a:endParaRPr lang="en-US" sz="1000" dirty="0">
                        <a:solidFill>
                          <a:schemeClr val="bg2">
                            <a:lumMod val="50000"/>
                          </a:schemeClr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TPRM platform</a:t>
                      </a:r>
                      <a:endParaRPr lang="en-US" sz="1000" dirty="0">
                        <a:solidFill>
                          <a:schemeClr val="bg2">
                            <a:lumMod val="50000"/>
                          </a:schemeClr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5131427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02850930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486061-9714-A9E4-9CCB-DC48E60552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750" y="514225"/>
            <a:ext cx="8222100" cy="767700"/>
          </a:xfrm>
        </p:spPr>
        <p:txBody>
          <a:bodyPr/>
          <a:lstStyle/>
          <a:p>
            <a:r>
              <a:rPr lang="en-US" dirty="0"/>
              <a:t>REMEDIATION ROADMAP - DETAILED TIMELINE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78F7737E-5D5B-D2FD-F944-6FFDC9D1A5FC}"/>
              </a:ext>
            </a:extLst>
          </p:cNvPr>
          <p:cNvSpPr txBox="1">
            <a:spLocks/>
          </p:cNvSpPr>
          <p:nvPr/>
        </p:nvSpPr>
        <p:spPr>
          <a:xfrm>
            <a:off x="830510" y="1686187"/>
            <a:ext cx="4449751" cy="5201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r>
              <a:rPr lang="en-US" sz="2000" dirty="0">
                <a:solidFill>
                  <a:schemeClr val="bg2">
                    <a:lumMod val="50000"/>
                  </a:schemeClr>
                </a:solidFill>
              </a:rPr>
              <a:t>DECEMBER 2025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016F6D05-D796-1604-D258-EA7F21602B22}"/>
              </a:ext>
            </a:extLst>
          </p:cNvPr>
          <p:cNvSpPr txBox="1">
            <a:spLocks/>
          </p:cNvSpPr>
          <p:nvPr/>
        </p:nvSpPr>
        <p:spPr>
          <a:xfrm>
            <a:off x="4950903" y="1619075"/>
            <a:ext cx="4449751" cy="5201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r>
              <a:rPr lang="en-US" sz="2000" dirty="0">
                <a:solidFill>
                  <a:schemeClr val="bg2">
                    <a:lumMod val="50000"/>
                  </a:schemeClr>
                </a:solidFill>
              </a:rPr>
              <a:t>JANUARY 2026:</a:t>
            </a: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A7DC1CB4-83FA-02E8-7692-2ABB9D5877C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70026" y="1768997"/>
            <a:ext cx="4379725" cy="50167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000" b="0" i="0" u="none" strike="noStrike" cap="none" normalizeH="0" baseline="0" dirty="0">
              <a:ln>
                <a:noFill/>
              </a:ln>
              <a:solidFill>
                <a:schemeClr val="bg2">
                  <a:lumMod val="50000"/>
                </a:schemeClr>
              </a:solidFill>
              <a:effectLst/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Week 1: Executive approval and budget authorization </a:t>
            </a:r>
          </a:p>
          <a:p>
            <a:pPr marL="0" marR="0" lvl="0" indent="0" algn="just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Week 2: MFA solution procurement (leveraging existing identity platform) </a:t>
            </a:r>
          </a:p>
          <a:p>
            <a:pPr marL="0" marR="0" lvl="0" indent="0" algn="just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Week 2-3: Emergency MFA deployment to VPN infrastructure </a:t>
            </a:r>
          </a:p>
          <a:p>
            <a:pPr marL="0" marR="0" lvl="0" indent="0" algn="just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Week 3: Air-gapped backup infrastructure procurement </a:t>
            </a:r>
          </a:p>
          <a:p>
            <a:pPr marL="0" marR="0" lvl="0" indent="0" algn="just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Week 3-4: Privileged access emergency audit </a:t>
            </a:r>
          </a:p>
          <a:p>
            <a:pPr marL="0" marR="0" lvl="0" indent="0" algn="just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Week 4: MFA deployment to privileged accounts </a:t>
            </a:r>
          </a:p>
          <a:p>
            <a:pPr marL="0" marR="0" lvl="0" indent="0" algn="just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Week 4: Vendor access review completion </a:t>
            </a:r>
          </a:p>
          <a:p>
            <a:pPr marL="0" marR="0" lvl="0" indent="0" algn="just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1000" dirty="0">
              <a:solidFill>
                <a:schemeClr val="bg2">
                  <a:lumMod val="50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000" b="0" i="0" u="none" strike="noStrike" cap="none" normalizeH="0" baseline="0" dirty="0">
              <a:ln>
                <a:noFill/>
              </a:ln>
              <a:solidFill>
                <a:schemeClr val="bg2">
                  <a:lumMod val="50000"/>
                </a:schemeClr>
              </a:solidFill>
              <a:effectLst/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1000" dirty="0">
              <a:solidFill>
                <a:schemeClr val="bg2">
                  <a:lumMod val="50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000" b="0" i="0" u="none" strike="noStrike" cap="none" normalizeH="0" baseline="0" dirty="0">
              <a:ln>
                <a:noFill/>
              </a:ln>
              <a:solidFill>
                <a:schemeClr val="bg2">
                  <a:lumMod val="50000"/>
                </a:schemeClr>
              </a:solidFill>
              <a:effectLst/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1000" dirty="0">
              <a:solidFill>
                <a:schemeClr val="bg2">
                  <a:lumMod val="50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000" b="0" i="0" u="none" strike="noStrike" cap="none" normalizeH="0" baseline="0" dirty="0">
              <a:ln>
                <a:noFill/>
              </a:ln>
              <a:solidFill>
                <a:schemeClr val="bg2">
                  <a:lumMod val="50000"/>
                </a:schemeClr>
              </a:solidFill>
              <a:effectLst/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1000" dirty="0">
              <a:solidFill>
                <a:schemeClr val="bg2">
                  <a:lumMod val="50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000" b="0" i="0" u="none" strike="noStrike" cap="none" normalizeH="0" baseline="0" dirty="0">
              <a:ln>
                <a:noFill/>
              </a:ln>
              <a:solidFill>
                <a:schemeClr val="bg2">
                  <a:lumMod val="50000"/>
                </a:schemeClr>
              </a:solidFill>
              <a:effectLst/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0423C035-FF13-3672-4520-02BA1F1A9624}"/>
              </a:ext>
            </a:extLst>
          </p:cNvPr>
          <p:cNvSpPr>
            <a:spLocks noGrp="1" noChangeArrowheads="1"/>
          </p:cNvSpPr>
          <p:nvPr>
            <p:ph type="body" idx="2"/>
          </p:nvPr>
        </p:nvSpPr>
        <p:spPr bwMode="auto">
          <a:xfrm>
            <a:off x="4572000" y="1686187"/>
            <a:ext cx="3446777" cy="22467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000" b="0" i="0" u="none" strike="noStrike" cap="none" normalizeH="0" baseline="0" dirty="0">
              <a:ln>
                <a:noFill/>
              </a:ln>
              <a:solidFill>
                <a:schemeClr val="bg2">
                  <a:lumMod val="50000"/>
                </a:schemeClr>
              </a:solidFill>
              <a:effectLst/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Week 1-2: Air-gapped backup infrastructure deployment 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Week 2: Off-site backup location contract negotiation 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Week 2-4: PAM solution vendor evaluation and selection 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Week 3: IR plan update completion 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Week 4: Backup monitoring deployment 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Ongoing: Daily MFA adoption monitoring </a:t>
            </a:r>
          </a:p>
        </p:txBody>
      </p:sp>
    </p:spTree>
    <p:extLst>
      <p:ext uri="{BB962C8B-B14F-4D97-AF65-F5344CB8AC3E}">
        <p14:creationId xmlns:p14="http://schemas.microsoft.com/office/powerpoint/2010/main" val="3812911906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BA70E1-D4EE-EC51-69C3-D3FC4DEC92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13289B-7290-C6AB-33CA-F4D6A4621F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750" y="514225"/>
            <a:ext cx="8222100" cy="767700"/>
          </a:xfrm>
        </p:spPr>
        <p:txBody>
          <a:bodyPr/>
          <a:lstStyle/>
          <a:p>
            <a:r>
              <a:rPr lang="en-US" dirty="0"/>
              <a:t>REMEDIATION ROADMAP - DETAILED TIMELINE (CONT’D)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1B9CB12B-E22D-D409-0A50-889DA995D87D}"/>
              </a:ext>
            </a:extLst>
          </p:cNvPr>
          <p:cNvSpPr txBox="1">
            <a:spLocks/>
          </p:cNvSpPr>
          <p:nvPr/>
        </p:nvSpPr>
        <p:spPr>
          <a:xfrm>
            <a:off x="830510" y="1686187"/>
            <a:ext cx="4449751" cy="5201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r>
              <a:rPr lang="en-US" sz="2000" dirty="0">
                <a:solidFill>
                  <a:schemeClr val="bg2">
                    <a:lumMod val="50000"/>
                  </a:schemeClr>
                </a:solidFill>
              </a:rPr>
              <a:t>FEBRUARY 2026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F7F241DA-DDC0-0091-7E38-4844A063ACFD}"/>
              </a:ext>
            </a:extLst>
          </p:cNvPr>
          <p:cNvSpPr txBox="1">
            <a:spLocks/>
          </p:cNvSpPr>
          <p:nvPr/>
        </p:nvSpPr>
        <p:spPr>
          <a:xfrm>
            <a:off x="4950903" y="1619075"/>
            <a:ext cx="4449751" cy="5201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r>
              <a:rPr lang="en-US" sz="2000" dirty="0">
                <a:solidFill>
                  <a:schemeClr val="bg2">
                    <a:lumMod val="50000"/>
                  </a:schemeClr>
                </a:solidFill>
              </a:rPr>
              <a:t>MARCH 2026</a:t>
            </a: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2775A9D8-C317-6AB5-3E94-5ED19DC8C38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1" y="1791779"/>
            <a:ext cx="4160938" cy="47089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000" b="0" i="0" u="none" strike="noStrike" cap="none" normalizeH="0" baseline="0" dirty="0">
              <a:ln>
                <a:noFill/>
              </a:ln>
              <a:solidFill>
                <a:schemeClr val="bg2">
                  <a:lumMod val="50000"/>
                </a:schemeClr>
              </a:solidFill>
              <a:effectLst/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marL="0" lvl="0" indent="0" algn="just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sz="1000" dirty="0">
                <a:solidFill>
                  <a:schemeClr val="bg2">
                    <a:lumMod val="50000"/>
                  </a:schemeClr>
                </a:solidFill>
              </a:rPr>
              <a:t>Week 1-2: PAM solution procurement</a:t>
            </a:r>
          </a:p>
          <a:p>
            <a:pPr marL="0" lvl="0" indent="0" algn="just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sz="1000" dirty="0">
                <a:solidFill>
                  <a:schemeClr val="bg2">
                    <a:lumMod val="50000"/>
                  </a:schemeClr>
                </a:solidFill>
              </a:rPr>
              <a:t>Week 2: Off-site backup replication configuration</a:t>
            </a:r>
          </a:p>
          <a:p>
            <a:pPr marL="0" lvl="0" indent="0" algn="just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sz="1000" dirty="0">
                <a:solidFill>
                  <a:schemeClr val="bg2">
                    <a:lumMod val="50000"/>
                  </a:schemeClr>
                </a:solidFill>
              </a:rPr>
              <a:t>Week 3-4: CSIRT team selection and formation</a:t>
            </a:r>
          </a:p>
          <a:p>
            <a:pPr marL="0" lvl="0" indent="0" algn="just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sz="1000" dirty="0">
                <a:solidFill>
                  <a:schemeClr val="bg2">
                    <a:lumMod val="50000"/>
                  </a:schemeClr>
                </a:solidFill>
              </a:rPr>
              <a:t>Week 4: First MUSE backup restoration test</a:t>
            </a:r>
          </a:p>
          <a:p>
            <a:pPr marL="0" lvl="0" indent="0" algn="just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sz="1000" dirty="0">
                <a:solidFill>
                  <a:schemeClr val="bg2">
                    <a:lumMod val="50000"/>
                  </a:schemeClr>
                </a:solidFill>
              </a:rPr>
              <a:t>Week 4: Vendor risk tiering framework development</a:t>
            </a:r>
          </a:p>
          <a:p>
            <a:pPr marL="0" lvl="0" indent="0" algn="just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sz="1000" dirty="0">
                <a:solidFill>
                  <a:schemeClr val="bg2">
                    <a:lumMod val="50000"/>
                  </a:schemeClr>
                </a:solidFill>
              </a:rPr>
              <a:t>Ongoing: PAM implementation planning</a:t>
            </a:r>
          </a:p>
          <a:p>
            <a:pPr marL="0" marR="0" lvl="0" indent="0" algn="just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1000" dirty="0">
              <a:solidFill>
                <a:schemeClr val="bg2">
                  <a:lumMod val="50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000" b="0" i="0" u="none" strike="noStrike" cap="none" normalizeH="0" baseline="0" dirty="0">
              <a:ln>
                <a:noFill/>
              </a:ln>
              <a:solidFill>
                <a:schemeClr val="bg2">
                  <a:lumMod val="50000"/>
                </a:schemeClr>
              </a:solidFill>
              <a:effectLst/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1000" dirty="0">
              <a:solidFill>
                <a:schemeClr val="bg2">
                  <a:lumMod val="50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000" b="0" i="0" u="none" strike="noStrike" cap="none" normalizeH="0" baseline="0" dirty="0">
              <a:ln>
                <a:noFill/>
              </a:ln>
              <a:solidFill>
                <a:schemeClr val="bg2">
                  <a:lumMod val="50000"/>
                </a:schemeClr>
              </a:solidFill>
              <a:effectLst/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1000" dirty="0">
              <a:solidFill>
                <a:schemeClr val="bg2">
                  <a:lumMod val="50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000" b="0" i="0" u="none" strike="noStrike" cap="none" normalizeH="0" baseline="0" dirty="0">
              <a:ln>
                <a:noFill/>
              </a:ln>
              <a:solidFill>
                <a:schemeClr val="bg2">
                  <a:lumMod val="50000"/>
                </a:schemeClr>
              </a:solidFill>
              <a:effectLst/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1000" dirty="0">
              <a:solidFill>
                <a:schemeClr val="bg2">
                  <a:lumMod val="50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000" b="0" i="0" u="none" strike="noStrike" cap="none" normalizeH="0" baseline="0" dirty="0">
              <a:ln>
                <a:noFill/>
              </a:ln>
              <a:solidFill>
                <a:schemeClr val="bg2">
                  <a:lumMod val="50000"/>
                </a:schemeClr>
              </a:solidFill>
              <a:effectLst/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1" name="Rectangle 5">
            <a:extLst>
              <a:ext uri="{FF2B5EF4-FFF2-40B4-BE49-F238E27FC236}">
                <a16:creationId xmlns:a16="http://schemas.microsoft.com/office/drawing/2014/main" id="{64BBE7A5-EFC1-816E-C11B-4603890057E1}"/>
              </a:ext>
            </a:extLst>
          </p:cNvPr>
          <p:cNvSpPr>
            <a:spLocks noGrp="1" noChangeArrowheads="1"/>
          </p:cNvSpPr>
          <p:nvPr>
            <p:ph type="body" idx="2"/>
          </p:nvPr>
        </p:nvSpPr>
        <p:spPr bwMode="auto">
          <a:xfrm>
            <a:off x="4362450" y="2202428"/>
            <a:ext cx="3284874" cy="22467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000" b="0" i="0" u="none" strike="noStrike" cap="none" normalizeH="0" baseline="0" dirty="0">
              <a:ln>
                <a:noFill/>
              </a:ln>
              <a:solidFill>
                <a:schemeClr val="bg2">
                  <a:lumMod val="50000"/>
                </a:schemeClr>
              </a:solidFill>
              <a:effectLst/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Week 1-4: PAM solution deployment (phased rollout) 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Week 2: CSIRT training completion 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Week 3: EDR expansion to remaining systems 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Week 4: First quarterly access review 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Week 4: Vendor security assessment program launch 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Milestone: Short-term remediation complete </a:t>
            </a:r>
          </a:p>
        </p:txBody>
      </p:sp>
    </p:spTree>
    <p:extLst>
      <p:ext uri="{BB962C8B-B14F-4D97-AF65-F5344CB8AC3E}">
        <p14:creationId xmlns:p14="http://schemas.microsoft.com/office/powerpoint/2010/main" val="2166026844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C40845-B0D4-B83D-8284-87A6B67ED2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90CF0D-45E2-73DF-BB9E-C5AF12E2F4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750" y="514225"/>
            <a:ext cx="8222100" cy="767700"/>
          </a:xfrm>
        </p:spPr>
        <p:txBody>
          <a:bodyPr/>
          <a:lstStyle/>
          <a:p>
            <a:r>
              <a:rPr lang="en-US" dirty="0"/>
              <a:t>REMEDIATION ROADMAP - DETAILED TIMELINE (CONT’D)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4F6E95B2-33B1-6591-F81B-55CDC4985019}"/>
              </a:ext>
            </a:extLst>
          </p:cNvPr>
          <p:cNvSpPr txBox="1">
            <a:spLocks/>
          </p:cNvSpPr>
          <p:nvPr/>
        </p:nvSpPr>
        <p:spPr>
          <a:xfrm>
            <a:off x="830510" y="1686187"/>
            <a:ext cx="4449751" cy="5201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r>
              <a:rPr lang="en-US" sz="2000" dirty="0">
                <a:solidFill>
                  <a:schemeClr val="bg2">
                    <a:lumMod val="50000"/>
                  </a:schemeClr>
                </a:solidFill>
              </a:rPr>
              <a:t>APRIL 2026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F93B223A-608B-864F-E283-378A4140CD65}"/>
              </a:ext>
            </a:extLst>
          </p:cNvPr>
          <p:cNvSpPr txBox="1">
            <a:spLocks/>
          </p:cNvSpPr>
          <p:nvPr/>
        </p:nvSpPr>
        <p:spPr>
          <a:xfrm>
            <a:off x="4950903" y="1619075"/>
            <a:ext cx="4449751" cy="5201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r>
              <a:rPr lang="en-US" sz="2000" dirty="0">
                <a:solidFill>
                  <a:schemeClr val="bg2">
                    <a:lumMod val="50000"/>
                  </a:schemeClr>
                </a:solidFill>
              </a:rPr>
              <a:t>MAY 2026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2CB3EBDE-F42D-F295-7F80-58AAC58C9F0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0" y="1753722"/>
            <a:ext cx="4286774" cy="27853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000" b="0" i="0" u="none" strike="noStrike" cap="none" normalizeH="0" baseline="0" dirty="0">
              <a:ln>
                <a:noFill/>
              </a:ln>
              <a:solidFill>
                <a:schemeClr val="bg2">
                  <a:lumMod val="50000"/>
                </a:schemeClr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latin typeface="Arial" panose="020B0604020202020204" pitchFamily="34" charset="0"/>
              </a:rPr>
              <a:t>Week 1-2: Zero Trust architecture design </a:t>
            </a:r>
          </a:p>
          <a:p>
            <a:pPr marL="0" marR="0" lvl="0" indent="0" algn="l" defTabSz="914400" rtl="0" eaLnBrk="0" fontAlgn="base" latinLnBrk="0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latin typeface="Arial" panose="020B0604020202020204" pitchFamily="34" charset="0"/>
              </a:rPr>
              <a:t>Week 2-4: Immutable backup configuration </a:t>
            </a:r>
          </a:p>
          <a:p>
            <a:pPr marL="0" marR="0" lvl="0" indent="0" algn="l" defTabSz="914400" rtl="0" eaLnBrk="0" fontAlgn="base" latinLnBrk="0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latin typeface="Arial" panose="020B0604020202020204" pitchFamily="34" charset="0"/>
              </a:rPr>
              <a:t>Week 3: SOAR platform vendor selection </a:t>
            </a:r>
          </a:p>
          <a:p>
            <a:pPr marL="0" marR="0" lvl="0" indent="0" algn="l" defTabSz="914400" rtl="0" eaLnBrk="0" fontAlgn="base" latinLnBrk="0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latin typeface="Arial" panose="020B0604020202020204" pitchFamily="34" charset="0"/>
              </a:rPr>
              <a:t>Week 4: Business Impact Analysis kickoff </a:t>
            </a:r>
          </a:p>
          <a:p>
            <a:pPr marL="0" marR="0" lvl="0" indent="0" algn="l" defTabSz="914400" rtl="0" eaLnBrk="0" fontAlgn="base" latinLnBrk="0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latin typeface="Arial" panose="020B0604020202020204" pitchFamily="34" charset="0"/>
              </a:rPr>
              <a:t>Ongoing: PAM full adoption, service account migration to certificate-based auth </a:t>
            </a: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B1834465-5B38-7AE9-E8EC-F901E02C7828}"/>
              </a:ext>
            </a:extLst>
          </p:cNvPr>
          <p:cNvSpPr>
            <a:spLocks noGrp="1" noChangeArrowheads="1"/>
          </p:cNvSpPr>
          <p:nvPr>
            <p:ph type="body" idx="2"/>
          </p:nvPr>
        </p:nvSpPr>
        <p:spPr bwMode="auto">
          <a:xfrm>
            <a:off x="4404394" y="1611619"/>
            <a:ext cx="3674203" cy="27853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000" b="0" i="0" u="none" strike="noStrike" cap="none" normalizeH="0" baseline="0" dirty="0">
              <a:ln>
                <a:noFill/>
              </a:ln>
              <a:solidFill>
                <a:schemeClr val="bg2">
                  <a:lumMod val="50000"/>
                </a:schemeClr>
              </a:solidFill>
              <a:effectLst/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Week 1-3: SOAR platform deployment </a:t>
            </a:r>
          </a:p>
          <a:p>
            <a:pPr marL="0" marR="0" lvl="0" indent="0" algn="l" defTabSz="914400" rtl="0" eaLnBrk="0" fontAlgn="base" latinLnBrk="0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Week 2: Business Impact Analysis completion </a:t>
            </a:r>
          </a:p>
          <a:p>
            <a:pPr marL="0" marR="0" lvl="0" indent="0" algn="l" defTabSz="914400" rtl="0" eaLnBrk="0" fontAlgn="base" latinLnBrk="0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Week 3-4: TPRM platform vendor selection and procurement </a:t>
            </a:r>
          </a:p>
          <a:p>
            <a:pPr marL="0" marR="0" lvl="0" indent="0" algn="l" defTabSz="914400" rtl="0" eaLnBrk="0" fontAlgn="base" latinLnBrk="0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Week 4: First tabletop exercise </a:t>
            </a:r>
          </a:p>
          <a:p>
            <a:pPr marL="0" marR="0" lvl="0" indent="0" algn="l" defTabSz="914400" rtl="0" eaLnBrk="0" fontAlgn="base" latinLnBrk="0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Week 4: Continuous Data Protection deployment begins </a:t>
            </a:r>
          </a:p>
          <a:p>
            <a:pPr marL="0" marR="0" lvl="0" indent="0" algn="l" defTabSz="914400" rtl="0" eaLnBrk="0" fontAlgn="base" latinLnBrk="0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Ongoing: Zero Trust phase 1 implementation </a:t>
            </a:r>
          </a:p>
        </p:txBody>
      </p:sp>
    </p:spTree>
    <p:extLst>
      <p:ext uri="{BB962C8B-B14F-4D97-AF65-F5344CB8AC3E}">
        <p14:creationId xmlns:p14="http://schemas.microsoft.com/office/powerpoint/2010/main" val="411816343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58AD21-1D94-B92A-5A52-D573295834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743CFE-1D37-1AE8-8947-106BFABE26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750" y="522614"/>
            <a:ext cx="8222100" cy="767700"/>
          </a:xfrm>
        </p:spPr>
        <p:txBody>
          <a:bodyPr/>
          <a:lstStyle/>
          <a:p>
            <a:r>
              <a:rPr lang="en-US" dirty="0"/>
              <a:t>REMEDIATION ROADMAP - DETAILED TIMELINE (CONT’D)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837122EF-6D4F-2CE2-0D52-121DB13CC46D}"/>
              </a:ext>
            </a:extLst>
          </p:cNvPr>
          <p:cNvSpPr txBox="1">
            <a:spLocks/>
          </p:cNvSpPr>
          <p:nvPr/>
        </p:nvSpPr>
        <p:spPr>
          <a:xfrm>
            <a:off x="830510" y="1686187"/>
            <a:ext cx="4449751" cy="5201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r>
              <a:rPr lang="en-US" sz="2000" dirty="0">
                <a:solidFill>
                  <a:schemeClr val="bg2">
                    <a:lumMod val="50000"/>
                  </a:schemeClr>
                </a:solidFill>
              </a:rPr>
              <a:t>JUNE 2026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8FF214B7-A3DD-77E3-5D04-8B4BBB249224}"/>
              </a:ext>
            </a:extLst>
          </p:cNvPr>
          <p:cNvSpPr txBox="1">
            <a:spLocks/>
          </p:cNvSpPr>
          <p:nvPr/>
        </p:nvSpPr>
        <p:spPr>
          <a:xfrm>
            <a:off x="4950903" y="1619075"/>
            <a:ext cx="4449751" cy="5201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r>
              <a:rPr lang="en-US" sz="2000" dirty="0">
                <a:solidFill>
                  <a:schemeClr val="bg2">
                    <a:lumMod val="50000"/>
                  </a:schemeClr>
                </a:solidFill>
              </a:rPr>
              <a:t>JULY 2026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AA132F3A-4810-CD15-0A12-F7BBAC00B28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0" y="1753737"/>
            <a:ext cx="3098925" cy="27853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000" b="0" i="0" u="none" strike="noStrike" cap="none" normalizeH="0" baseline="0" dirty="0">
              <a:ln>
                <a:noFill/>
              </a:ln>
              <a:solidFill>
                <a:schemeClr val="bg2">
                  <a:lumMod val="50000"/>
                </a:schemeClr>
              </a:solidFill>
              <a:effectLst/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Week 1-2: TPRM platform deployment </a:t>
            </a:r>
          </a:p>
          <a:p>
            <a:pPr marL="0" marR="0" lvl="0" indent="0" algn="just" defTabSz="914400" rtl="0" eaLnBrk="0" fontAlgn="base" latinLnBrk="0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Week 2: CMMC Program Office establishment </a:t>
            </a:r>
          </a:p>
          <a:p>
            <a:pPr marL="0" marR="0" lvl="0" indent="0" algn="just" defTabSz="914400" rtl="0" eaLnBrk="0" fontAlgn="base" latinLnBrk="0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Week 3: Second quarterly access review </a:t>
            </a:r>
          </a:p>
          <a:p>
            <a:pPr marL="0" marR="0" lvl="0" indent="0" algn="just" defTabSz="914400" rtl="0" eaLnBrk="0" fontAlgn="base" latinLnBrk="0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Week 4: Final validation of all controls </a:t>
            </a:r>
          </a:p>
          <a:p>
            <a:pPr marL="0" marR="0" lvl="0" indent="0" algn="just" defTabSz="914400" rtl="0" eaLnBrk="0" fontAlgn="base" latinLnBrk="0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Week 4: CMMC assessment preparation begins </a:t>
            </a:r>
          </a:p>
          <a:p>
            <a:pPr marL="0" marR="0" lvl="0" indent="0" algn="just" defTabSz="914400" rtl="0" eaLnBrk="0" fontAlgn="base" latinLnBrk="0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Milestone: All medium-term remediation complete </a:t>
            </a: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0AE4CA9A-72A1-9524-C668-231E6C63980F}"/>
              </a:ext>
            </a:extLst>
          </p:cNvPr>
          <p:cNvSpPr>
            <a:spLocks noGrp="1" noChangeArrowheads="1"/>
          </p:cNvSpPr>
          <p:nvPr>
            <p:ph type="body" idx="2"/>
          </p:nvPr>
        </p:nvSpPr>
        <p:spPr bwMode="auto">
          <a:xfrm>
            <a:off x="4403725" y="2358371"/>
            <a:ext cx="3783930" cy="1938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3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000" b="0" i="0" u="none" strike="noStrike" cap="none" normalizeH="0" baseline="0" dirty="0">
              <a:ln>
                <a:noFill/>
              </a:ln>
              <a:solidFill>
                <a:schemeClr val="bg2">
                  <a:lumMod val="50000"/>
                </a:schemeClr>
              </a:solidFill>
              <a:effectLst/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3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C3PAO Level 2 assessment </a:t>
            </a:r>
          </a:p>
          <a:p>
            <a:pPr marL="0" marR="0" lvl="0" indent="0" algn="just" defTabSz="914400" rtl="0" eaLnBrk="0" fontAlgn="base" latinLnBrk="0" hangingPunct="0">
              <a:lnSpc>
                <a:spcPct val="3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DIBCAC Level 3 assessment preparation </a:t>
            </a:r>
          </a:p>
          <a:p>
            <a:pPr marL="0" marR="0" lvl="0" indent="0" algn="just" defTabSz="914400" rtl="0" eaLnBrk="0" fontAlgn="base" latinLnBrk="0" hangingPunct="0">
              <a:lnSpc>
                <a:spcPct val="3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Continuous improvement and monitoring </a:t>
            </a:r>
          </a:p>
        </p:txBody>
      </p:sp>
    </p:spTree>
    <p:extLst>
      <p:ext uri="{BB962C8B-B14F-4D97-AF65-F5344CB8AC3E}">
        <p14:creationId xmlns:p14="http://schemas.microsoft.com/office/powerpoint/2010/main" val="734893130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4776CB-23D0-8D75-CD66-00BC3C0A84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948BFD-0C15-EFC4-453B-AB8B99AA4C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4793" y="2228345"/>
            <a:ext cx="4045200" cy="1482300"/>
          </a:xfrm>
        </p:spPr>
        <p:txBody>
          <a:bodyPr/>
          <a:lstStyle/>
          <a:p>
            <a:r>
              <a:rPr lang="en-US" sz="3600" dirty="0">
                <a:solidFill>
                  <a:schemeClr val="bg2">
                    <a:lumMod val="50000"/>
                  </a:schemeClr>
                </a:solidFill>
              </a:rPr>
              <a:t>INVESTMENT REQUIRED &amp; ROI JUSTIFICATION: Investment Breakdown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5281ABB-4EEA-0140-4C58-4A555ABDA93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7500" y="3710645"/>
            <a:ext cx="4045200" cy="1235100"/>
          </a:xfrm>
        </p:spPr>
        <p:txBody>
          <a:bodyPr/>
          <a:lstStyle/>
          <a:p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Technology Solutions ($2.8M - $3.5M)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630CDB9-4537-D11A-E9FF-87F6E6FC78C5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rPr lang="en-US" sz="1600" dirty="0"/>
              <a:t>PAM platform (licensing, implementation): $800K - $1.2M</a:t>
            </a:r>
          </a:p>
          <a:p>
            <a:r>
              <a:rPr lang="en-US" sz="1600" dirty="0"/>
              <a:t>Air-gapped backup infrastructure: $600K - $900K</a:t>
            </a:r>
          </a:p>
          <a:p>
            <a:r>
              <a:rPr lang="en-US" sz="1600" dirty="0"/>
              <a:t>Off-site backup replication: $200K - $300K</a:t>
            </a:r>
          </a:p>
          <a:p>
            <a:r>
              <a:rPr lang="en-US" sz="1600" dirty="0"/>
              <a:t>SOAR platform: $400K - $600K</a:t>
            </a:r>
          </a:p>
          <a:p>
            <a:r>
              <a:rPr lang="en-US" sz="1600" dirty="0"/>
              <a:t>TPRM platform: $300K - $400K</a:t>
            </a:r>
          </a:p>
          <a:p>
            <a:r>
              <a:rPr lang="en-US" sz="1600" dirty="0"/>
              <a:t>EDR expansion and SIEM enhancements: $300K - $400K</a:t>
            </a:r>
          </a:p>
          <a:p>
            <a:r>
              <a:rPr lang="en-US" sz="1600" dirty="0"/>
              <a:t>Network monitoring and UEBA tools: $200K - $300K</a:t>
            </a:r>
          </a:p>
          <a:p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37334494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5" dur="10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656DE0-12C6-D208-BE2C-4132B1739F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B68B59-AE17-5838-E771-4818FD5C17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7500" y="2319450"/>
            <a:ext cx="4045200" cy="1482300"/>
          </a:xfrm>
        </p:spPr>
        <p:txBody>
          <a:bodyPr/>
          <a:lstStyle/>
          <a:p>
            <a:r>
              <a:rPr lang="en-US" sz="3600" dirty="0">
                <a:solidFill>
                  <a:schemeClr val="bg2">
                    <a:lumMod val="50000"/>
                  </a:schemeClr>
                </a:solidFill>
              </a:rPr>
              <a:t>INVESTMENT REQUIRED &amp; ROI JUSTIFICATION: Investment Breakdown (Cont’d)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C8C0ACE-36BD-12C9-97A4-2E5D7B2C3DB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7500" y="3801750"/>
            <a:ext cx="4045200" cy="1235100"/>
          </a:xfrm>
        </p:spPr>
        <p:txBody>
          <a:bodyPr/>
          <a:lstStyle/>
          <a:p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Additional Staffing ($850K - $1.2M annually)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AFC1183-5B9B-3775-EB09-CBB1BED7E8F0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rPr lang="en-US" sz="1600" dirty="0"/>
              <a:t>Backup administrators (2 FTEs): $200K - $280K</a:t>
            </a:r>
          </a:p>
          <a:p>
            <a:r>
              <a:rPr lang="en-US" sz="1600" dirty="0"/>
              <a:t>CSIRT members (4 FTEs): $400K - $600K</a:t>
            </a:r>
          </a:p>
          <a:p>
            <a:r>
              <a:rPr lang="sv-SE" sz="1600" dirty="0"/>
              <a:t>Vendor risk analysts (2 FTEs): $180K - $250K</a:t>
            </a:r>
          </a:p>
          <a:p>
            <a:r>
              <a:rPr lang="en-US" sz="1600" dirty="0"/>
              <a:t>CMMC Program Manager (1 FTE): $120K - $150K</a:t>
            </a:r>
          </a:p>
        </p:txBody>
      </p:sp>
    </p:spTree>
    <p:extLst>
      <p:ext uri="{BB962C8B-B14F-4D97-AF65-F5344CB8AC3E}">
        <p14:creationId xmlns:p14="http://schemas.microsoft.com/office/powerpoint/2010/main" val="36551781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7D752C-66C2-CAA6-0336-623EE0C890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B49520-6A79-3BDE-BA9D-4CC4837B0E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7500" y="2407633"/>
            <a:ext cx="4045200" cy="1482300"/>
          </a:xfrm>
        </p:spPr>
        <p:txBody>
          <a:bodyPr/>
          <a:lstStyle/>
          <a:p>
            <a:r>
              <a:rPr lang="en-US" sz="3600" dirty="0">
                <a:solidFill>
                  <a:schemeClr val="bg2">
                    <a:lumMod val="50000"/>
                  </a:schemeClr>
                </a:solidFill>
              </a:rPr>
              <a:t>INVESTMENT REQUIRED &amp; ROI JUSTIFICATION: Investment Breakdown (Cont’d)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268FED6-3F11-5B0B-D69C-9E8FB6AD36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7500" y="3801750"/>
            <a:ext cx="4045200" cy="1235100"/>
          </a:xfrm>
        </p:spPr>
        <p:txBody>
          <a:bodyPr/>
          <a:lstStyle/>
          <a:p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External Consultants ($600K - $900K)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C8CC5ED-55A8-6F3E-FB3B-E9CD7302B4A3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rPr lang="en-US" sz="1600" dirty="0"/>
              <a:t>Forensic investigation retainers: $200K - $300K</a:t>
            </a:r>
          </a:p>
          <a:p>
            <a:r>
              <a:rPr lang="en-US" sz="1600" dirty="0"/>
              <a:t>CMMC readiness assessment: $150K - $250K</a:t>
            </a:r>
          </a:p>
          <a:p>
            <a:r>
              <a:rPr lang="en-US" sz="1600" dirty="0"/>
              <a:t>Zero Trust architecture design: $150K - $200K</a:t>
            </a:r>
          </a:p>
          <a:p>
            <a:r>
              <a:rPr lang="fr-FR" sz="1600" dirty="0"/>
              <a:t>PAM </a:t>
            </a:r>
            <a:r>
              <a:rPr lang="fr-FR" sz="1600" dirty="0" err="1"/>
              <a:t>implementation</a:t>
            </a:r>
            <a:r>
              <a:rPr lang="fr-FR" sz="1600" dirty="0"/>
              <a:t> services: $100K - $150K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27489416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5283DD-A49E-5A89-DDA0-93038A8E8A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C91545-9CFB-709C-4D6B-A13F43E981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7500" y="2245123"/>
            <a:ext cx="4045200" cy="1482300"/>
          </a:xfrm>
        </p:spPr>
        <p:txBody>
          <a:bodyPr/>
          <a:lstStyle/>
          <a:p>
            <a:r>
              <a:rPr lang="en-US" sz="3600" dirty="0">
                <a:solidFill>
                  <a:schemeClr val="bg2">
                    <a:lumMod val="50000"/>
                  </a:schemeClr>
                </a:solidFill>
              </a:rPr>
              <a:t>INVESTMENT REQUIRED &amp; ROI JUSTIFICATION: Investment Breakdown (Cont’d)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A97E324-3F12-4683-F16A-8CF9FC0694F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5500" y="3727423"/>
            <a:ext cx="4045200" cy="1235100"/>
          </a:xfrm>
        </p:spPr>
        <p:txBody>
          <a:bodyPr/>
          <a:lstStyle/>
          <a:p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Training &amp; Awareness ($200K - $300K)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7A5AA6B-05D4-F240-1C6D-98C777F997F2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rPr lang="en-US" sz="1600" dirty="0"/>
              <a:t>IR training and tabletop exercises: $80K - $120K</a:t>
            </a:r>
          </a:p>
          <a:p>
            <a:r>
              <a:rPr lang="en-US" sz="1600" dirty="0"/>
              <a:t>Security awareness campaigns: $60K - $90K</a:t>
            </a:r>
          </a:p>
          <a:p>
            <a:r>
              <a:rPr lang="fr-FR" sz="1600" dirty="0" err="1"/>
              <a:t>Technical</a:t>
            </a:r>
            <a:r>
              <a:rPr lang="fr-FR" sz="1600" dirty="0"/>
              <a:t> certifications (CISSP, CISM, etc.): $40K - $60K</a:t>
            </a:r>
          </a:p>
          <a:p>
            <a:r>
              <a:rPr lang="en-US" sz="1600" dirty="0"/>
              <a:t>Vendor and executive training: $20K - $30K</a:t>
            </a:r>
          </a:p>
        </p:txBody>
      </p:sp>
    </p:spTree>
    <p:extLst>
      <p:ext uri="{BB962C8B-B14F-4D97-AF65-F5344CB8AC3E}">
        <p14:creationId xmlns:p14="http://schemas.microsoft.com/office/powerpoint/2010/main" val="33937146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40712B-72A9-3713-B828-5A9434603D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A6B34B-28D1-DF1D-DEE4-A46B073D11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7500" y="2245123"/>
            <a:ext cx="4045200" cy="1482300"/>
          </a:xfrm>
        </p:spPr>
        <p:txBody>
          <a:bodyPr/>
          <a:lstStyle/>
          <a:p>
            <a:r>
              <a:rPr lang="en-US" sz="3600" dirty="0">
                <a:solidFill>
                  <a:schemeClr val="bg2">
                    <a:lumMod val="50000"/>
                  </a:schemeClr>
                </a:solidFill>
              </a:rPr>
              <a:t>INVESTMENT REQUIRED &amp; ROI JUSTIFICATION: </a:t>
            </a:r>
            <a:r>
              <a:rPr lang="en-US" sz="3600" b="1" dirty="0">
                <a:solidFill>
                  <a:schemeClr val="bg2">
                    <a:lumMod val="50000"/>
                  </a:schemeClr>
                </a:solidFill>
              </a:rPr>
              <a:t>ROI Justification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ED7AFAB-119E-F8AF-0DFC-154630D2AEC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5500" y="3727423"/>
            <a:ext cx="4045200" cy="1235100"/>
          </a:xfrm>
        </p:spPr>
        <p:txBody>
          <a:bodyPr/>
          <a:lstStyle/>
          <a:p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Defense Contracts Protected: $2.3B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955059B-4826-9388-5D6D-BC5E1278B127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rPr lang="en-US" sz="1600" dirty="0"/>
              <a:t>Maintaining CMMC Level 3 eligibility</a:t>
            </a:r>
          </a:p>
          <a:p>
            <a:r>
              <a:rPr lang="en-US" sz="1600" dirty="0"/>
              <a:t>Avoiding contract loss or suspension</a:t>
            </a:r>
          </a:p>
          <a:p>
            <a:r>
              <a:rPr lang="en-US" sz="1600" dirty="0"/>
              <a:t>Preserving DoD customer relationships</a:t>
            </a:r>
          </a:p>
        </p:txBody>
      </p:sp>
    </p:spTree>
    <p:extLst>
      <p:ext uri="{BB962C8B-B14F-4D97-AF65-F5344CB8AC3E}">
        <p14:creationId xmlns:p14="http://schemas.microsoft.com/office/powerpoint/2010/main" val="20290889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96BDF8-052D-0FBF-43E1-232317EC3C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C65328-79EE-D9F3-BAC2-8E3A805EDB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7500" y="2245123"/>
            <a:ext cx="4045200" cy="1482300"/>
          </a:xfrm>
        </p:spPr>
        <p:txBody>
          <a:bodyPr/>
          <a:lstStyle/>
          <a:p>
            <a:r>
              <a:rPr lang="en-US" sz="3600" dirty="0">
                <a:solidFill>
                  <a:schemeClr val="bg2">
                    <a:lumMod val="50000"/>
                  </a:schemeClr>
                </a:solidFill>
              </a:rPr>
              <a:t>INVESTMENT REQUIRED &amp; ROI JUSTIFICATION: </a:t>
            </a:r>
            <a:r>
              <a:rPr lang="en-US" sz="3600" b="1" dirty="0">
                <a:solidFill>
                  <a:schemeClr val="bg2">
                    <a:lumMod val="50000"/>
                  </a:schemeClr>
                </a:solidFill>
              </a:rPr>
              <a:t>ROI Justification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11A44D1-653E-9F34-E0FC-8B692A1B6FB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5500" y="3727423"/>
            <a:ext cx="4045200" cy="1235100"/>
          </a:xfrm>
        </p:spPr>
        <p:txBody>
          <a:bodyPr/>
          <a:lstStyle/>
          <a:p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Future Incident Prevention: $50M - $100M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1031590-7A7D-3C3D-DEF9-9243F3E0EBFF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rPr lang="en-US" sz="1600" dirty="0"/>
              <a:t>September 2025 attack cost: $15M direct + reputational damage</a:t>
            </a:r>
          </a:p>
          <a:p>
            <a:r>
              <a:rPr lang="en-US" sz="1600" dirty="0"/>
              <a:t>Industry average ransomware cost: $4.5M per incident</a:t>
            </a:r>
          </a:p>
          <a:p>
            <a:r>
              <a:rPr lang="en-US" sz="1600" dirty="0"/>
              <a:t>Multiple incidents without controls: $50M+ exposure</a:t>
            </a:r>
          </a:p>
          <a:p>
            <a:r>
              <a:rPr lang="it-IT" sz="1600" dirty="0"/>
              <a:t>Catastrophic data loss scenario: $100M+ exposure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35944685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73B860-C392-B32B-B853-0CE9FCA44D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4A26CC-580A-43BC-AB6A-42C37CADB5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7500" y="2245123"/>
            <a:ext cx="4045200" cy="1482300"/>
          </a:xfrm>
        </p:spPr>
        <p:txBody>
          <a:bodyPr/>
          <a:lstStyle/>
          <a:p>
            <a:r>
              <a:rPr lang="en-US" sz="3600" dirty="0">
                <a:solidFill>
                  <a:schemeClr val="bg2">
                    <a:lumMod val="50000"/>
                  </a:schemeClr>
                </a:solidFill>
              </a:rPr>
              <a:t>INVESTMENT REQUIRED &amp; ROI JUSTIFICATION: </a:t>
            </a:r>
            <a:r>
              <a:rPr lang="en-US" sz="3600" b="1" dirty="0">
                <a:solidFill>
                  <a:schemeClr val="bg2">
                    <a:lumMod val="50000"/>
                  </a:schemeClr>
                </a:solidFill>
              </a:rPr>
              <a:t>ROI Justification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4F75369-8CA9-E7E3-E8D9-31ABB28D350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5500" y="3727423"/>
            <a:ext cx="4045200" cy="1235100"/>
          </a:xfrm>
        </p:spPr>
        <p:txBody>
          <a:bodyPr/>
          <a:lstStyle/>
          <a:p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Regulatory Penalty Avoidance: $10M - $25M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3FE07B7-21B2-4B4E-A9CD-E8E0EDA37F2F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rPr lang="en-US" sz="1600" dirty="0"/>
              <a:t>GDPR violations: €20M or 4% global revenue</a:t>
            </a:r>
          </a:p>
          <a:p>
            <a:r>
              <a:rPr lang="en-US" sz="1600" dirty="0"/>
              <a:t>CMMC non-compliance penalties and contract termination</a:t>
            </a:r>
          </a:p>
          <a:p>
            <a:r>
              <a:rPr lang="en-US" sz="1600" dirty="0"/>
              <a:t>SOX Section 404 material weakness remediation costs</a:t>
            </a:r>
          </a:p>
          <a:p>
            <a:r>
              <a:rPr lang="en-US" sz="1600" dirty="0"/>
              <a:t>SEC cyber disclosure violations</a:t>
            </a:r>
          </a:p>
        </p:txBody>
      </p:sp>
    </p:spTree>
    <p:extLst>
      <p:ext uri="{BB962C8B-B14F-4D97-AF65-F5344CB8AC3E}">
        <p14:creationId xmlns:p14="http://schemas.microsoft.com/office/powerpoint/2010/main" val="19170998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111D4F-29EA-66FA-5FC8-1A12D3FB97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1BECDD-3B38-A0AC-1C32-0EAC4EA1EF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7500" y="2245123"/>
            <a:ext cx="4045200" cy="1482300"/>
          </a:xfrm>
        </p:spPr>
        <p:txBody>
          <a:bodyPr/>
          <a:lstStyle/>
          <a:p>
            <a:r>
              <a:rPr lang="en-US" sz="3600" dirty="0">
                <a:solidFill>
                  <a:schemeClr val="bg2">
                    <a:lumMod val="50000"/>
                  </a:schemeClr>
                </a:solidFill>
              </a:rPr>
              <a:t>INVESTMENT REQUIRED &amp; ROI JUSTIFICATION: </a:t>
            </a:r>
            <a:r>
              <a:rPr lang="en-US" sz="3600" b="1" dirty="0">
                <a:solidFill>
                  <a:schemeClr val="bg2">
                    <a:lumMod val="50000"/>
                  </a:schemeClr>
                </a:solidFill>
              </a:rPr>
              <a:t>ROI Justification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55940E3-BBF8-CFDA-7DD4-C2FEBE949E8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5500" y="3727423"/>
            <a:ext cx="4045200" cy="1235100"/>
          </a:xfrm>
        </p:spPr>
        <p:txBody>
          <a:bodyPr/>
          <a:lstStyle/>
          <a:p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Insurance Premium Savings: $2M - $5M annually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1ABA8F3-9D95-98BB-AE25-CE394C96F9F8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rPr lang="en-US" sz="1600" dirty="0"/>
              <a:t>Current premium increase post-incident: 40-60%</a:t>
            </a:r>
          </a:p>
          <a:p>
            <a:r>
              <a:rPr lang="en-US" sz="1600" dirty="0"/>
              <a:t>Demonstrating improved security posture reduces premium</a:t>
            </a:r>
          </a:p>
          <a:p>
            <a:r>
              <a:rPr lang="en-US" sz="1600" dirty="0"/>
              <a:t>Cyber insurance market increasingly requires </a:t>
            </a:r>
            <a:r>
              <a:rPr lang="en-US" sz="1600" dirty="0" err="1"/>
              <a:t>controlss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28425383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E1351B-9FA7-E140-781C-78FCFBDE06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FE9555-BB32-4DFB-FC6A-00C7DD8465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7500" y="2245123"/>
            <a:ext cx="4045200" cy="1482300"/>
          </a:xfrm>
        </p:spPr>
        <p:txBody>
          <a:bodyPr/>
          <a:lstStyle/>
          <a:p>
            <a:r>
              <a:rPr lang="en-US" sz="3600" dirty="0">
                <a:solidFill>
                  <a:schemeClr val="bg2">
                    <a:lumMod val="50000"/>
                  </a:schemeClr>
                </a:solidFill>
              </a:rPr>
              <a:t>INVESTMENT REQUIRED &amp; ROI JUSTIFICATION: </a:t>
            </a:r>
            <a:r>
              <a:rPr lang="en-US" sz="3600" b="1" dirty="0">
                <a:solidFill>
                  <a:schemeClr val="bg2">
                    <a:lumMod val="50000"/>
                  </a:schemeClr>
                </a:solidFill>
              </a:rPr>
              <a:t>ROI Justification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50C9E76-C068-DE0D-1540-8165297D70C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5500" y="3727423"/>
            <a:ext cx="4045200" cy="1235100"/>
          </a:xfrm>
        </p:spPr>
        <p:txBody>
          <a:bodyPr/>
          <a:lstStyle/>
          <a:p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Customer Retention Value: $100M+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BBE2486-EEEC-62A8-9294-BE4F05EB5101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rPr lang="en-US" sz="1600" dirty="0"/>
              <a:t>Maintaining trust with airline and airport customers</a:t>
            </a:r>
          </a:p>
          <a:p>
            <a:r>
              <a:rPr lang="en-US" sz="1600" dirty="0"/>
              <a:t>Avoiding customer flight to competitors</a:t>
            </a:r>
          </a:p>
          <a:p>
            <a:r>
              <a:rPr lang="en-US" sz="1600" dirty="0"/>
              <a:t>Preserving long-term MUSE platform revenue</a:t>
            </a:r>
          </a:p>
          <a:p>
            <a:r>
              <a:rPr lang="en-US" sz="1600" dirty="0"/>
              <a:t>Brand reputation protection</a:t>
            </a:r>
          </a:p>
        </p:txBody>
      </p:sp>
    </p:spTree>
    <p:extLst>
      <p:ext uri="{BB962C8B-B14F-4D97-AF65-F5344CB8AC3E}">
        <p14:creationId xmlns:p14="http://schemas.microsoft.com/office/powerpoint/2010/main" val="1082288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245F32-CEAE-4E0D-EF53-D21D1F12EE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79D0DA-E25B-4804-8897-FE1A1F847D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7500" y="449879"/>
            <a:ext cx="4045200" cy="1482300"/>
          </a:xfrm>
        </p:spPr>
        <p:txBody>
          <a:bodyPr/>
          <a:lstStyle/>
          <a:p>
            <a:r>
              <a:rPr lang="en-US" sz="3600" dirty="0"/>
              <a:t>POSITIVE FINDINGS &amp; STRENGTHS</a:t>
            </a:r>
            <a:endParaRPr lang="en-US" sz="3600" b="1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2FBA54C-33F5-1C55-3654-B394DF82A4F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7500" y="2158682"/>
            <a:ext cx="4045200" cy="1235100"/>
          </a:xfrm>
        </p:spPr>
        <p:txBody>
          <a:bodyPr/>
          <a:lstStyle/>
          <a:p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Technical Controls: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A4A28B8-29E0-1F9B-E445-1271E5732960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5015001" y="0"/>
            <a:ext cx="3837000" cy="3695100"/>
          </a:xfrm>
        </p:spPr>
        <p:txBody>
          <a:bodyPr/>
          <a:lstStyle/>
          <a:p>
            <a:r>
              <a:rPr lang="en-US" sz="1600" dirty="0"/>
              <a:t>Strong network segmentation between production zones</a:t>
            </a:r>
          </a:p>
          <a:p>
            <a:r>
              <a:rPr lang="en-US" sz="1600" dirty="0"/>
              <a:t>DMZ properly configured with appropriate firewall rules</a:t>
            </a:r>
          </a:p>
          <a:p>
            <a:r>
              <a:rPr lang="en-US" sz="1600" dirty="0"/>
              <a:t>VLANs effectively separate business units and critical systems</a:t>
            </a:r>
          </a:p>
          <a:p>
            <a:r>
              <a:rPr lang="en-US" sz="1600" dirty="0"/>
              <a:t>Intrusion Prevention System (IPS) actively blocking threats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989D8CB8-87B6-CC00-50AB-B0C2291B5B71}"/>
              </a:ext>
            </a:extLst>
          </p:cNvPr>
          <p:cNvSpPr txBox="1">
            <a:spLocks/>
          </p:cNvSpPr>
          <p:nvPr/>
        </p:nvSpPr>
        <p:spPr>
          <a:xfrm>
            <a:off x="4428716" y="106650"/>
            <a:ext cx="4045200" cy="4470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100"/>
              <a:buFont typeface="Roboto"/>
              <a:buNone/>
              <a:defRPr sz="21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100"/>
              <a:buFont typeface="Roboto"/>
              <a:buNone/>
              <a:defRPr sz="21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100"/>
              <a:buFont typeface="Roboto"/>
              <a:buNone/>
              <a:defRPr sz="21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100"/>
              <a:buFont typeface="Roboto"/>
              <a:buNone/>
              <a:defRPr sz="21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100"/>
              <a:buFont typeface="Roboto"/>
              <a:buNone/>
              <a:defRPr sz="21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100"/>
              <a:buFont typeface="Roboto"/>
              <a:buNone/>
              <a:defRPr sz="21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100"/>
              <a:buFont typeface="Roboto"/>
              <a:buNone/>
              <a:defRPr sz="21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100"/>
              <a:buFont typeface="Roboto"/>
              <a:buNone/>
              <a:defRPr sz="21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100"/>
              <a:buFont typeface="Roboto"/>
              <a:buNone/>
              <a:defRPr sz="21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r>
              <a:rPr lang="en-US" dirty="0">
                <a:solidFill>
                  <a:schemeClr val="bg1"/>
                </a:solidFill>
              </a:rPr>
              <a:t>Network Security:</a:t>
            </a:r>
          </a:p>
        </p:txBody>
      </p:sp>
    </p:spTree>
    <p:extLst>
      <p:ext uri="{BB962C8B-B14F-4D97-AF65-F5344CB8AC3E}">
        <p14:creationId xmlns:p14="http://schemas.microsoft.com/office/powerpoint/2010/main" val="21417090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4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DD0FEC-1A62-118E-B615-241A8634B3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F0BA67-B35D-0B73-4175-3D17C73CE4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7500" y="449879"/>
            <a:ext cx="4045200" cy="1482300"/>
          </a:xfrm>
        </p:spPr>
        <p:txBody>
          <a:bodyPr/>
          <a:lstStyle/>
          <a:p>
            <a:r>
              <a:rPr lang="en-US" sz="3600" dirty="0"/>
              <a:t>POSITIVE FINDINGS &amp; STRENGTHS</a:t>
            </a:r>
            <a:endParaRPr lang="en-US" sz="3600" b="1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D90B34D-8508-4AF8-B2D5-852D1FFADD2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7500" y="2158682"/>
            <a:ext cx="4045200" cy="1235100"/>
          </a:xfrm>
        </p:spPr>
        <p:txBody>
          <a:bodyPr/>
          <a:lstStyle/>
          <a:p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Technical Controls: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B19C95E-6234-909D-680B-86A854604D86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5015001" y="0"/>
            <a:ext cx="3837000" cy="3695100"/>
          </a:xfrm>
        </p:spPr>
        <p:txBody>
          <a:bodyPr/>
          <a:lstStyle/>
          <a:p>
            <a:r>
              <a:rPr lang="en-US" sz="1600" b="1" dirty="0"/>
              <a:t>94% patch compliance</a:t>
            </a:r>
            <a:r>
              <a:rPr lang="en-US" sz="1600" dirty="0"/>
              <a:t> rate within 30-day window</a:t>
            </a:r>
          </a:p>
          <a:p>
            <a:r>
              <a:rPr lang="en-US" sz="1600" dirty="0"/>
              <a:t>Automated patching for non-critical systems</a:t>
            </a:r>
          </a:p>
          <a:p>
            <a:r>
              <a:rPr lang="en-US" sz="1600" dirty="0"/>
              <a:t>Well-documented exception and emergency patch processes</a:t>
            </a:r>
          </a:p>
          <a:p>
            <a:r>
              <a:rPr lang="en-US" sz="1600" dirty="0"/>
              <a:t>Vulnerability scanner integrated with patch management system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2F8E9841-67EF-F008-D86C-B70D65BF5EB0}"/>
              </a:ext>
            </a:extLst>
          </p:cNvPr>
          <p:cNvSpPr txBox="1">
            <a:spLocks/>
          </p:cNvSpPr>
          <p:nvPr/>
        </p:nvSpPr>
        <p:spPr>
          <a:xfrm>
            <a:off x="4428716" y="106650"/>
            <a:ext cx="4045200" cy="4470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100"/>
              <a:buFont typeface="Roboto"/>
              <a:buNone/>
              <a:defRPr sz="21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100"/>
              <a:buFont typeface="Roboto"/>
              <a:buNone/>
              <a:defRPr sz="21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100"/>
              <a:buFont typeface="Roboto"/>
              <a:buNone/>
              <a:defRPr sz="21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100"/>
              <a:buFont typeface="Roboto"/>
              <a:buNone/>
              <a:defRPr sz="21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100"/>
              <a:buFont typeface="Roboto"/>
              <a:buNone/>
              <a:defRPr sz="21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100"/>
              <a:buFont typeface="Roboto"/>
              <a:buNone/>
              <a:defRPr sz="21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100"/>
              <a:buFont typeface="Roboto"/>
              <a:buNone/>
              <a:defRPr sz="21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100"/>
              <a:buFont typeface="Roboto"/>
              <a:buNone/>
              <a:defRPr sz="21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100"/>
              <a:buFont typeface="Roboto"/>
              <a:buNone/>
              <a:defRPr sz="21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r>
              <a:rPr lang="en-US" dirty="0">
                <a:solidFill>
                  <a:schemeClr val="bg1"/>
                </a:solidFill>
              </a:rPr>
              <a:t>Patch Management</a:t>
            </a:r>
          </a:p>
        </p:txBody>
      </p:sp>
    </p:spTree>
    <p:extLst>
      <p:ext uri="{BB962C8B-B14F-4D97-AF65-F5344CB8AC3E}">
        <p14:creationId xmlns:p14="http://schemas.microsoft.com/office/powerpoint/2010/main" val="17344223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4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A3C7EF-2AE5-D5F1-A04F-ACF69AB937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719C16-A37B-ECF3-4504-F5CEEA775E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7500" y="449879"/>
            <a:ext cx="4045200" cy="1482300"/>
          </a:xfrm>
        </p:spPr>
        <p:txBody>
          <a:bodyPr/>
          <a:lstStyle/>
          <a:p>
            <a:r>
              <a:rPr lang="en-US" sz="3600" dirty="0"/>
              <a:t>POSITIVE FINDINGS &amp; STRENGTHS</a:t>
            </a:r>
            <a:endParaRPr lang="en-US" sz="3600" b="1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C8D3D9E-DA4F-5A0C-33DB-3C7C5085535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7500" y="2158682"/>
            <a:ext cx="4045200" cy="1235100"/>
          </a:xfrm>
        </p:spPr>
        <p:txBody>
          <a:bodyPr/>
          <a:lstStyle/>
          <a:p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Technical Controls: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BBF2366-6F17-A428-1A20-26C35C5C5AA4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5015001" y="0"/>
            <a:ext cx="3837000" cy="3695100"/>
          </a:xfrm>
        </p:spPr>
        <p:txBody>
          <a:bodyPr/>
          <a:lstStyle/>
          <a:p>
            <a:r>
              <a:rPr lang="en-US" sz="1600" dirty="0"/>
              <a:t>Data-at-rest encryption on all databases and file servers</a:t>
            </a:r>
          </a:p>
          <a:p>
            <a:r>
              <a:rPr lang="en-US" sz="1600" dirty="0"/>
              <a:t>TLS 1.2+ enforced for all web applications</a:t>
            </a:r>
          </a:p>
          <a:p>
            <a:r>
              <a:rPr lang="en-US" sz="1600" dirty="0"/>
              <a:t>Database encryption properly configured (AES-256)</a:t>
            </a:r>
          </a:p>
          <a:p>
            <a:r>
              <a:rPr lang="en-US" sz="1600" dirty="0"/>
              <a:t>Key management procedures documented</a:t>
            </a:r>
          </a:p>
          <a:p>
            <a:endParaRPr lang="en-US" sz="1600" dirty="0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A411B120-B92D-DDCC-3D6C-6CC7BF61D234}"/>
              </a:ext>
            </a:extLst>
          </p:cNvPr>
          <p:cNvSpPr txBox="1">
            <a:spLocks/>
          </p:cNvSpPr>
          <p:nvPr/>
        </p:nvSpPr>
        <p:spPr>
          <a:xfrm>
            <a:off x="4428716" y="106650"/>
            <a:ext cx="4045200" cy="4470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100"/>
              <a:buFont typeface="Roboto"/>
              <a:buNone/>
              <a:defRPr sz="21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100"/>
              <a:buFont typeface="Roboto"/>
              <a:buNone/>
              <a:defRPr sz="21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100"/>
              <a:buFont typeface="Roboto"/>
              <a:buNone/>
              <a:defRPr sz="21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100"/>
              <a:buFont typeface="Roboto"/>
              <a:buNone/>
              <a:defRPr sz="21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100"/>
              <a:buFont typeface="Roboto"/>
              <a:buNone/>
              <a:defRPr sz="21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100"/>
              <a:buFont typeface="Roboto"/>
              <a:buNone/>
              <a:defRPr sz="21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100"/>
              <a:buFont typeface="Roboto"/>
              <a:buNone/>
              <a:defRPr sz="21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100"/>
              <a:buFont typeface="Roboto"/>
              <a:buNone/>
              <a:defRPr sz="21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100"/>
              <a:buFont typeface="Roboto"/>
              <a:buNone/>
              <a:defRPr sz="21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r>
              <a:rPr lang="en-US" dirty="0">
                <a:solidFill>
                  <a:schemeClr val="bg1"/>
                </a:solidFill>
              </a:rPr>
              <a:t>Encryption</a:t>
            </a:r>
          </a:p>
        </p:txBody>
      </p:sp>
    </p:spTree>
    <p:extLst>
      <p:ext uri="{BB962C8B-B14F-4D97-AF65-F5344CB8AC3E}">
        <p14:creationId xmlns:p14="http://schemas.microsoft.com/office/powerpoint/2010/main" val="31227074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4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E5AD3B-E96B-1D7C-7B3D-2D1D1ADE26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49D233-96D8-5036-8875-029A32003B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7500" y="449879"/>
            <a:ext cx="4045200" cy="1482300"/>
          </a:xfrm>
        </p:spPr>
        <p:txBody>
          <a:bodyPr/>
          <a:lstStyle/>
          <a:p>
            <a:r>
              <a:rPr lang="en-US" sz="3600" dirty="0"/>
              <a:t>POSITIVE FINDINGS &amp; STRENGTHS</a:t>
            </a:r>
            <a:endParaRPr lang="en-US" sz="3600" b="1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CAF66D7-F15C-CF28-2D42-9A77D4BF3A2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7500" y="2158682"/>
            <a:ext cx="4045200" cy="1235100"/>
          </a:xfrm>
        </p:spPr>
        <p:txBody>
          <a:bodyPr/>
          <a:lstStyle/>
          <a:p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Technical Controls: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5430AE3-AB14-AD1A-06BC-C08354DB982F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5015001" y="0"/>
            <a:ext cx="3837000" cy="3695100"/>
          </a:xfrm>
        </p:spPr>
        <p:txBody>
          <a:bodyPr/>
          <a:lstStyle/>
          <a:p>
            <a:r>
              <a:rPr lang="en-US" sz="1600" dirty="0"/>
              <a:t>Well-structured OU design</a:t>
            </a:r>
          </a:p>
          <a:p>
            <a:r>
              <a:rPr lang="en-US" sz="1600" dirty="0"/>
              <a:t>Group Policy Objects properly configured</a:t>
            </a:r>
          </a:p>
          <a:p>
            <a:r>
              <a:rPr lang="en-US" sz="1600" dirty="0"/>
              <a:t>Account lockout policies enforced (5 failed attempts)</a:t>
            </a:r>
          </a:p>
          <a:p>
            <a:r>
              <a:rPr lang="en-US" sz="1600" dirty="0"/>
              <a:t>Password complexity requirements meet NIST guidelines (12+ characters, complexity)</a:t>
            </a:r>
          </a:p>
          <a:p>
            <a:endParaRPr lang="en-US" sz="1600" dirty="0"/>
          </a:p>
          <a:p>
            <a:endParaRPr lang="en-US" sz="1600" dirty="0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01B860D5-C217-C69F-A45B-F2B71FBEC35A}"/>
              </a:ext>
            </a:extLst>
          </p:cNvPr>
          <p:cNvSpPr txBox="1">
            <a:spLocks/>
          </p:cNvSpPr>
          <p:nvPr/>
        </p:nvSpPr>
        <p:spPr>
          <a:xfrm>
            <a:off x="4428716" y="106650"/>
            <a:ext cx="4045200" cy="4470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100"/>
              <a:buFont typeface="Roboto"/>
              <a:buNone/>
              <a:defRPr sz="21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100"/>
              <a:buFont typeface="Roboto"/>
              <a:buNone/>
              <a:defRPr sz="21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100"/>
              <a:buFont typeface="Roboto"/>
              <a:buNone/>
              <a:defRPr sz="21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100"/>
              <a:buFont typeface="Roboto"/>
              <a:buNone/>
              <a:defRPr sz="21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100"/>
              <a:buFont typeface="Roboto"/>
              <a:buNone/>
              <a:defRPr sz="21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100"/>
              <a:buFont typeface="Roboto"/>
              <a:buNone/>
              <a:defRPr sz="21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100"/>
              <a:buFont typeface="Roboto"/>
              <a:buNone/>
              <a:defRPr sz="21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100"/>
              <a:buFont typeface="Roboto"/>
              <a:buNone/>
              <a:defRPr sz="21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100"/>
              <a:buFont typeface="Roboto"/>
              <a:buNone/>
              <a:defRPr sz="21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r>
              <a:rPr lang="en-US" dirty="0">
                <a:solidFill>
                  <a:schemeClr val="bg1"/>
                </a:solidFill>
              </a:rPr>
              <a:t>Active Directory</a:t>
            </a:r>
          </a:p>
        </p:txBody>
      </p:sp>
    </p:spTree>
    <p:extLst>
      <p:ext uri="{BB962C8B-B14F-4D97-AF65-F5344CB8AC3E}">
        <p14:creationId xmlns:p14="http://schemas.microsoft.com/office/powerpoint/2010/main" val="22524649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4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43C43B-0A32-0E75-AA3E-502F18C970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23E32B-13B4-EEC5-EDDB-C347AAE169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7500" y="449879"/>
            <a:ext cx="4045200" cy="1482300"/>
          </a:xfrm>
        </p:spPr>
        <p:txBody>
          <a:bodyPr/>
          <a:lstStyle/>
          <a:p>
            <a:r>
              <a:rPr lang="en-US" sz="3600" dirty="0"/>
              <a:t>POSITIVE FINDINGS &amp; STRENGTHS</a:t>
            </a:r>
            <a:endParaRPr lang="en-US" sz="3600" b="1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F8160DA-A16A-6314-863C-6ECD421FD5B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7500" y="2158682"/>
            <a:ext cx="4045200" cy="1235100"/>
          </a:xfrm>
        </p:spPr>
        <p:txBody>
          <a:bodyPr/>
          <a:lstStyle/>
          <a:p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Technical Controls: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7B4ABA2-E46F-FACA-52BC-08368F40B2F9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5015001" y="0"/>
            <a:ext cx="3837000" cy="3695100"/>
          </a:xfrm>
        </p:spPr>
        <p:txBody>
          <a:bodyPr/>
          <a:lstStyle/>
          <a:p>
            <a:r>
              <a:rPr lang="en-US" sz="1600" dirty="0"/>
              <a:t>Badge access controls at all data centers and facilities</a:t>
            </a:r>
          </a:p>
          <a:p>
            <a:r>
              <a:rPr lang="en-US" sz="1600" dirty="0"/>
              <a:t>CCTV monitoring with 90-day retention</a:t>
            </a:r>
          </a:p>
          <a:p>
            <a:r>
              <a:rPr lang="en-US" sz="1600" dirty="0"/>
              <a:t>Visitor escort procedures enforced</a:t>
            </a:r>
          </a:p>
          <a:p>
            <a:r>
              <a:rPr lang="en-US" sz="1600" dirty="0"/>
              <a:t>Equipment disposal procedures follow NIST SP 800-88</a:t>
            </a:r>
          </a:p>
          <a:p>
            <a:endParaRPr lang="en-US" sz="1600" dirty="0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33480AD8-74FF-1D77-A8E7-C2C02E02BEE5}"/>
              </a:ext>
            </a:extLst>
          </p:cNvPr>
          <p:cNvSpPr txBox="1">
            <a:spLocks/>
          </p:cNvSpPr>
          <p:nvPr/>
        </p:nvSpPr>
        <p:spPr>
          <a:xfrm>
            <a:off x="4428716" y="106650"/>
            <a:ext cx="4045200" cy="4470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100"/>
              <a:buFont typeface="Roboto"/>
              <a:buNone/>
              <a:defRPr sz="21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100"/>
              <a:buFont typeface="Roboto"/>
              <a:buNone/>
              <a:defRPr sz="21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100"/>
              <a:buFont typeface="Roboto"/>
              <a:buNone/>
              <a:defRPr sz="21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100"/>
              <a:buFont typeface="Roboto"/>
              <a:buNone/>
              <a:defRPr sz="21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100"/>
              <a:buFont typeface="Roboto"/>
              <a:buNone/>
              <a:defRPr sz="21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100"/>
              <a:buFont typeface="Roboto"/>
              <a:buNone/>
              <a:defRPr sz="21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100"/>
              <a:buFont typeface="Roboto"/>
              <a:buNone/>
              <a:defRPr sz="21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100"/>
              <a:buFont typeface="Roboto"/>
              <a:buNone/>
              <a:defRPr sz="21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100"/>
              <a:buFont typeface="Roboto"/>
              <a:buNone/>
              <a:defRPr sz="21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r>
              <a:rPr lang="en-US" dirty="0">
                <a:solidFill>
                  <a:schemeClr val="bg1"/>
                </a:solidFill>
              </a:rPr>
              <a:t>Physical Security:</a:t>
            </a:r>
          </a:p>
        </p:txBody>
      </p:sp>
    </p:spTree>
    <p:extLst>
      <p:ext uri="{BB962C8B-B14F-4D97-AF65-F5344CB8AC3E}">
        <p14:creationId xmlns:p14="http://schemas.microsoft.com/office/powerpoint/2010/main" val="7449916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7" dur="2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0" dur="2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D3AB14-86C1-7365-8876-3279B11F46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53D296-40E2-517A-9685-33530FC287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7500" y="449879"/>
            <a:ext cx="4045200" cy="1482300"/>
          </a:xfrm>
        </p:spPr>
        <p:txBody>
          <a:bodyPr/>
          <a:lstStyle/>
          <a:p>
            <a:r>
              <a:rPr lang="en-US" sz="3600" dirty="0"/>
              <a:t>POSITIVE FINDINGS &amp; STRENGTHS</a:t>
            </a:r>
            <a:endParaRPr lang="en-US" sz="3600" b="1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F81A27D-738F-3935-7F6E-B33A21BAFBE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7500" y="2158682"/>
            <a:ext cx="4045200" cy="1235100"/>
          </a:xfrm>
        </p:spPr>
        <p:txBody>
          <a:bodyPr/>
          <a:lstStyle/>
          <a:p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Process &amp; Culture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292CE0-BF7B-DB6C-3795-735325F04520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5015001" y="0"/>
            <a:ext cx="3837000" cy="3695100"/>
          </a:xfrm>
        </p:spPr>
        <p:txBody>
          <a:bodyPr/>
          <a:lstStyle/>
          <a:p>
            <a:r>
              <a:rPr lang="en-US" sz="1600" b="1" dirty="0"/>
              <a:t>98% completion</a:t>
            </a:r>
            <a:r>
              <a:rPr lang="en-US" sz="1600" dirty="0"/>
              <a:t> rate for annual security awareness training</a:t>
            </a:r>
          </a:p>
          <a:p>
            <a:r>
              <a:rPr lang="en-US" sz="1600" dirty="0"/>
              <a:t>Monthly phishing simulation campaigns (improving scores)</a:t>
            </a:r>
          </a:p>
          <a:p>
            <a:r>
              <a:rPr lang="en-US" sz="1600" dirty="0"/>
              <a:t>Incident reporting culture improving</a:t>
            </a:r>
          </a:p>
          <a:p>
            <a:r>
              <a:rPr lang="en-US" sz="1600" dirty="0"/>
              <a:t>Security included in onboarding for all new employees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54A3F528-B5AB-9C49-6559-50B3EF7B6DF7}"/>
              </a:ext>
            </a:extLst>
          </p:cNvPr>
          <p:cNvSpPr txBox="1">
            <a:spLocks/>
          </p:cNvSpPr>
          <p:nvPr/>
        </p:nvSpPr>
        <p:spPr>
          <a:xfrm>
            <a:off x="4428716" y="106650"/>
            <a:ext cx="4045200" cy="4470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100"/>
              <a:buFont typeface="Roboto"/>
              <a:buNone/>
              <a:defRPr sz="21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100"/>
              <a:buFont typeface="Roboto"/>
              <a:buNone/>
              <a:defRPr sz="21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100"/>
              <a:buFont typeface="Roboto"/>
              <a:buNone/>
              <a:defRPr sz="21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100"/>
              <a:buFont typeface="Roboto"/>
              <a:buNone/>
              <a:defRPr sz="21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100"/>
              <a:buFont typeface="Roboto"/>
              <a:buNone/>
              <a:defRPr sz="21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100"/>
              <a:buFont typeface="Roboto"/>
              <a:buNone/>
              <a:defRPr sz="21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100"/>
              <a:buFont typeface="Roboto"/>
              <a:buNone/>
              <a:defRPr sz="21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100"/>
              <a:buFont typeface="Roboto"/>
              <a:buNone/>
              <a:defRPr sz="21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100"/>
              <a:buFont typeface="Roboto"/>
              <a:buNone/>
              <a:defRPr sz="21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r>
              <a:rPr lang="en-US" dirty="0">
                <a:solidFill>
                  <a:schemeClr val="bg1"/>
                </a:solidFill>
              </a:rPr>
              <a:t>Security Awareness</a:t>
            </a:r>
          </a:p>
        </p:txBody>
      </p:sp>
    </p:spTree>
    <p:extLst>
      <p:ext uri="{BB962C8B-B14F-4D97-AF65-F5344CB8AC3E}">
        <p14:creationId xmlns:p14="http://schemas.microsoft.com/office/powerpoint/2010/main" val="36956352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7" dur="2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2" dur="2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1DD5BB-5813-9DDC-CBED-B31E000BF7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763A0A-6FFC-6A8D-3EC7-95C4171E1F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7500" y="449879"/>
            <a:ext cx="4045200" cy="1482300"/>
          </a:xfrm>
        </p:spPr>
        <p:txBody>
          <a:bodyPr/>
          <a:lstStyle/>
          <a:p>
            <a:r>
              <a:rPr lang="en-US" sz="3600" dirty="0"/>
              <a:t>POSITIVE FINDINGS &amp; STRENGTHS</a:t>
            </a:r>
            <a:endParaRPr lang="en-US" sz="3600" b="1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5276D76-D4D7-F8E6-B9D7-763B9728C4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7500" y="2158682"/>
            <a:ext cx="4045200" cy="1235100"/>
          </a:xfrm>
        </p:spPr>
        <p:txBody>
          <a:bodyPr/>
          <a:lstStyle/>
          <a:p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Process &amp; Culture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D51637-60CD-1D24-4A20-E4FAFA682907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5015001" y="0"/>
            <a:ext cx="3837000" cy="3695100"/>
          </a:xfrm>
        </p:spPr>
        <p:txBody>
          <a:bodyPr/>
          <a:lstStyle/>
          <a:p>
            <a:r>
              <a:rPr lang="en-US" sz="1600" b="1" dirty="0"/>
              <a:t>Formal change advisory board (CAB) with weekly meetings</a:t>
            </a:r>
          </a:p>
          <a:p>
            <a:r>
              <a:rPr lang="en-US" sz="1600" b="1" dirty="0"/>
              <a:t>Change tickets require security review for production changes</a:t>
            </a:r>
          </a:p>
          <a:p>
            <a:r>
              <a:rPr lang="en-US" sz="1600" b="1" dirty="0"/>
              <a:t>Rollback procedures documented and tested</a:t>
            </a:r>
          </a:p>
          <a:p>
            <a:r>
              <a:rPr lang="en-US" sz="1600" b="1" dirty="0"/>
              <a:t>Emergency change procedures clearly defined</a:t>
            </a:r>
            <a:endParaRPr lang="en-US" sz="1600" dirty="0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16610982-57FA-2B96-D153-E0AA7E047105}"/>
              </a:ext>
            </a:extLst>
          </p:cNvPr>
          <p:cNvSpPr txBox="1">
            <a:spLocks/>
          </p:cNvSpPr>
          <p:nvPr/>
        </p:nvSpPr>
        <p:spPr>
          <a:xfrm>
            <a:off x="4428716" y="106650"/>
            <a:ext cx="4045200" cy="4470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100"/>
              <a:buFont typeface="Roboto"/>
              <a:buNone/>
              <a:defRPr sz="21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100"/>
              <a:buFont typeface="Roboto"/>
              <a:buNone/>
              <a:defRPr sz="21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100"/>
              <a:buFont typeface="Roboto"/>
              <a:buNone/>
              <a:defRPr sz="21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100"/>
              <a:buFont typeface="Roboto"/>
              <a:buNone/>
              <a:defRPr sz="21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100"/>
              <a:buFont typeface="Roboto"/>
              <a:buNone/>
              <a:defRPr sz="21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100"/>
              <a:buFont typeface="Roboto"/>
              <a:buNone/>
              <a:defRPr sz="21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100"/>
              <a:buFont typeface="Roboto"/>
              <a:buNone/>
              <a:defRPr sz="21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100"/>
              <a:buFont typeface="Roboto"/>
              <a:buNone/>
              <a:defRPr sz="21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100"/>
              <a:buFont typeface="Roboto"/>
              <a:buNone/>
              <a:defRPr sz="21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r>
              <a:rPr lang="en-US" dirty="0">
                <a:solidFill>
                  <a:schemeClr val="bg1"/>
                </a:solidFill>
              </a:rPr>
              <a:t>Change Management</a:t>
            </a:r>
          </a:p>
        </p:txBody>
      </p:sp>
    </p:spTree>
    <p:extLst>
      <p:ext uri="{BB962C8B-B14F-4D97-AF65-F5344CB8AC3E}">
        <p14:creationId xmlns:p14="http://schemas.microsoft.com/office/powerpoint/2010/main" val="131353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2" dur="20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7" dur="2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2" dur="2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729BF7-16D6-6ACC-67A4-B317850791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765D00-22F8-EB1D-47FA-5A4B60BBBC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7500" y="449879"/>
            <a:ext cx="4045200" cy="1482300"/>
          </a:xfrm>
        </p:spPr>
        <p:txBody>
          <a:bodyPr/>
          <a:lstStyle/>
          <a:p>
            <a:r>
              <a:rPr lang="en-US" sz="3600" dirty="0"/>
              <a:t>POSITIVE FINDINGS &amp; STRENGTHS</a:t>
            </a:r>
            <a:endParaRPr lang="en-US" sz="3600" b="1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AD7D94F-EADE-AE1D-D803-4E38F69D098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7500" y="2158682"/>
            <a:ext cx="4045200" cy="1235100"/>
          </a:xfrm>
        </p:spPr>
        <p:txBody>
          <a:bodyPr/>
          <a:lstStyle/>
          <a:p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Process &amp; Culture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ADAB660-5B42-C1E6-53D9-D44A45AB7DAC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5015001" y="0"/>
            <a:ext cx="3837000" cy="3695100"/>
          </a:xfrm>
        </p:spPr>
        <p:txBody>
          <a:bodyPr/>
          <a:lstStyle/>
          <a:p>
            <a:r>
              <a:rPr lang="en-US" sz="1600" dirty="0"/>
              <a:t>Quarterly vulnerability scans performed</a:t>
            </a:r>
          </a:p>
          <a:p>
            <a:r>
              <a:rPr lang="en-US" sz="1600" dirty="0"/>
              <a:t>Penetration testing conducted annually by external firm</a:t>
            </a:r>
          </a:p>
          <a:p>
            <a:r>
              <a:rPr lang="en-US" sz="1600" dirty="0"/>
              <a:t>Vulnerability prioritization process based on CVSS scores</a:t>
            </a:r>
          </a:p>
          <a:p>
            <a:r>
              <a:rPr lang="en-US" sz="1600" dirty="0"/>
              <a:t>Remediation tracking in ticketing system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0A33102D-94A7-92FF-F87A-C64F07F05C97}"/>
              </a:ext>
            </a:extLst>
          </p:cNvPr>
          <p:cNvSpPr txBox="1">
            <a:spLocks/>
          </p:cNvSpPr>
          <p:nvPr/>
        </p:nvSpPr>
        <p:spPr>
          <a:xfrm>
            <a:off x="4428716" y="106650"/>
            <a:ext cx="4045200" cy="4470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100"/>
              <a:buFont typeface="Roboto"/>
              <a:buNone/>
              <a:defRPr sz="21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100"/>
              <a:buFont typeface="Roboto"/>
              <a:buNone/>
              <a:defRPr sz="21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100"/>
              <a:buFont typeface="Roboto"/>
              <a:buNone/>
              <a:defRPr sz="21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100"/>
              <a:buFont typeface="Roboto"/>
              <a:buNone/>
              <a:defRPr sz="21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100"/>
              <a:buFont typeface="Roboto"/>
              <a:buNone/>
              <a:defRPr sz="21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100"/>
              <a:buFont typeface="Roboto"/>
              <a:buNone/>
              <a:defRPr sz="21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100"/>
              <a:buFont typeface="Roboto"/>
              <a:buNone/>
              <a:defRPr sz="21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100"/>
              <a:buFont typeface="Roboto"/>
              <a:buNone/>
              <a:defRPr sz="21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100"/>
              <a:buFont typeface="Roboto"/>
              <a:buNone/>
              <a:defRPr sz="21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r>
              <a:rPr lang="en-US" dirty="0">
                <a:solidFill>
                  <a:schemeClr val="bg1"/>
                </a:solidFill>
              </a:rPr>
              <a:t>Vulnerability Management</a:t>
            </a:r>
          </a:p>
        </p:txBody>
      </p:sp>
    </p:spTree>
    <p:extLst>
      <p:ext uri="{BB962C8B-B14F-4D97-AF65-F5344CB8AC3E}">
        <p14:creationId xmlns:p14="http://schemas.microsoft.com/office/powerpoint/2010/main" val="40094243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2" dur="20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7" dur="2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2" dur="2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7A47E6-0500-1E2D-2A22-C57B91F9CA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9DB528-017E-DCB9-0078-B0AB460BA7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7500" y="449879"/>
            <a:ext cx="4045200" cy="1482300"/>
          </a:xfrm>
        </p:spPr>
        <p:txBody>
          <a:bodyPr/>
          <a:lstStyle/>
          <a:p>
            <a:r>
              <a:rPr lang="en-US" sz="3600" dirty="0"/>
              <a:t>POSITIVE FINDINGS &amp; STRENGTHS</a:t>
            </a:r>
            <a:endParaRPr lang="en-US" sz="3600" b="1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A91420E-A967-777A-FEDC-64158C72AA1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7500" y="2158682"/>
            <a:ext cx="4045200" cy="1235100"/>
          </a:xfrm>
        </p:spPr>
        <p:txBody>
          <a:bodyPr/>
          <a:lstStyle/>
          <a:p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Areas of Excellence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87F253A-1FE8-40EC-7F30-D5EF473225C2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5015001" y="0"/>
            <a:ext cx="3837000" cy="3695100"/>
          </a:xfrm>
        </p:spPr>
        <p:txBody>
          <a:bodyPr/>
          <a:lstStyle/>
          <a:p>
            <a:r>
              <a:rPr lang="en-US" sz="1600" dirty="0"/>
              <a:t>Encryption implementation exceeds industry standards</a:t>
            </a:r>
          </a:p>
          <a:p>
            <a:r>
              <a:rPr lang="en-US" sz="1600" dirty="0"/>
              <a:t>Network segmentation reduces blast radius of incidents</a:t>
            </a:r>
          </a:p>
          <a:p>
            <a:r>
              <a:rPr lang="en-US" sz="1600" dirty="0"/>
              <a:t>Patch management program is mature</a:t>
            </a:r>
          </a:p>
          <a:p>
            <a:r>
              <a:rPr lang="en-US" sz="1600" dirty="0"/>
              <a:t>Security awareness participation is excellent</a:t>
            </a:r>
          </a:p>
        </p:txBody>
      </p:sp>
    </p:spTree>
    <p:extLst>
      <p:ext uri="{BB962C8B-B14F-4D97-AF65-F5344CB8AC3E}">
        <p14:creationId xmlns:p14="http://schemas.microsoft.com/office/powerpoint/2010/main" val="24216851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2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7" dur="20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2" dur="2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7" dur="2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269D2F-314A-47B1-EA1C-52D711612D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F73EDE-D43D-1F21-1C78-6F92F71374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7500" y="449879"/>
            <a:ext cx="4045200" cy="1482300"/>
          </a:xfrm>
        </p:spPr>
        <p:txBody>
          <a:bodyPr/>
          <a:lstStyle/>
          <a:p>
            <a:r>
              <a:rPr lang="en-US" sz="3600" dirty="0"/>
              <a:t>CLOSING - QUESTIONS &amp; CONTACT</a:t>
            </a:r>
            <a:endParaRPr lang="en-US" sz="3600" b="1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65ED54F-DE85-ECEB-8A09-AC159D26B964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5015001" y="0"/>
            <a:ext cx="3837000" cy="3695100"/>
          </a:xfrm>
        </p:spPr>
        <p:txBody>
          <a:bodyPr/>
          <a:lstStyle/>
          <a:p>
            <a:endParaRPr lang="en-US" sz="16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B35AE25-A23C-1019-3B71-992C712619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25667" y="979005"/>
            <a:ext cx="2646302" cy="2359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6326622"/>
      </p:ext>
    </p:extLst>
  </p:cSld>
  <p:clrMapOvr>
    <a:masterClrMapping/>
  </p:clrMapOvr>
</p:sld>
</file>

<file path=ppt/theme/theme1.xml><?xml version="1.0" encoding="utf-8"?>
<a:theme xmlns:a="http://schemas.openxmlformats.org/drawingml/2006/main" name="Material">
  <a:themeElements>
    <a:clrScheme name="Material">
      <a:dk1>
        <a:srgbClr val="4285F4"/>
      </a:dk1>
      <a:lt1>
        <a:srgbClr val="FFFFFF"/>
      </a:lt1>
      <a:dk2>
        <a:srgbClr val="424242"/>
      </a:dk2>
      <a:lt2>
        <a:srgbClr val="737373"/>
      </a:lt2>
      <a:accent1>
        <a:srgbClr val="0277BD"/>
      </a:accent1>
      <a:accent2>
        <a:srgbClr val="0F9D58"/>
      </a:accent2>
      <a:accent3>
        <a:srgbClr val="DB4437"/>
      </a:accent3>
      <a:accent4>
        <a:srgbClr val="FAFAFA"/>
      </a:accent4>
      <a:accent5>
        <a:srgbClr val="4FC3F7"/>
      </a:accent5>
      <a:accent6>
        <a:srgbClr val="F4B400"/>
      </a:accent6>
      <a:hlink>
        <a:srgbClr val="4FC3F7"/>
      </a:hlink>
      <a:folHlink>
        <a:srgbClr val="4FC3F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601</TotalTime>
  <Words>3724</Words>
  <Application>Microsoft Office PowerPoint</Application>
  <PresentationFormat>On-screen Show (16:9)</PresentationFormat>
  <Paragraphs>559</Paragraphs>
  <Slides>72</Slides>
  <Notes>72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72</vt:i4>
      </vt:variant>
    </vt:vector>
  </HeadingPairs>
  <TitlesOfParts>
    <vt:vector size="75" baseType="lpstr">
      <vt:lpstr>Arial</vt:lpstr>
      <vt:lpstr>Roboto</vt:lpstr>
      <vt:lpstr>Material</vt:lpstr>
      <vt:lpstr>COLLINS AEROSPACE  IT Audit Findings Report</vt:lpstr>
      <vt:lpstr>AGENDA / ROADMAP</vt:lpstr>
      <vt:lpstr>EXECUTIVE SUMMARY</vt:lpstr>
      <vt:lpstr>COMPANY &amp; INCIDENT CONTEXT - Collins   Aerospace Profile</vt:lpstr>
      <vt:lpstr>COMPANY &amp; INCIDENT CONTEXT - Critical Infrastructure Role</vt:lpstr>
      <vt:lpstr>COMPANY &amp; INCIDENT CONTEXT - September 2025 Incident</vt:lpstr>
      <vt:lpstr>PowerPoint Presentation</vt:lpstr>
      <vt:lpstr>PowerPoint Presentation</vt:lpstr>
      <vt:lpstr>AUDIT METHODOLOGY &amp; APPROACH-  Phase 1 : Planning (Weeks 1-2) - 78 hours</vt:lpstr>
      <vt:lpstr>AUDIT METHODOLOGY &amp; APPROACH-  Phase 2: Fieldwork (Weeks 3-8) - 312 hours</vt:lpstr>
      <vt:lpstr>AUDIT METHODOLOGY &amp; APPROACH-  Phase 3: Reporting (Weeks 9-10) - 95 hours </vt:lpstr>
      <vt:lpstr>AUDIT METHODOLOGY &amp; APPROACH-  Frameworks Applied </vt:lpstr>
      <vt:lpstr>FINDINGS OVERVIEW - ALL 5 FINDINGS</vt:lpstr>
      <vt:lpstr>FINDINGS OVERVIEW - ALL 5 FINDINGS</vt:lpstr>
      <vt:lpstr>FINDINGS OVERVIEW - ALL 5 FINDINGS</vt:lpstr>
      <vt:lpstr>FINDINGS OVERVIEW - ALL 5 FINDINGS</vt:lpstr>
      <vt:lpstr>FINDINGS OVERVIEW - ALL 5 FINDINGS</vt:lpstr>
      <vt:lpstr>FINDING #1 DEEP DIVE - MFA DEFICIENCY</vt:lpstr>
      <vt:lpstr>FINDING #1 DEEP DIVE - MFA DEFICIENCY</vt:lpstr>
      <vt:lpstr>FINDING #1 DEEP DIVE - MFA DEFICIENCY</vt:lpstr>
      <vt:lpstr>FINDING #1 DEEP DIVE - MFA DEFICIENCY</vt:lpstr>
      <vt:lpstr>FINDING #1 DEEP DIVE - MFA DEFICIENCY</vt:lpstr>
      <vt:lpstr>FINDING #4 DEEP DIVE - BACKUP/DR DEFICIENCY</vt:lpstr>
      <vt:lpstr>FINDING #4 DEEP DIVE - BACKUP/DR DEFICIENCY</vt:lpstr>
      <vt:lpstr>FINDING #4 DEEP DIVE - BACKUP/DR DEFICIENCY</vt:lpstr>
      <vt:lpstr>FINDING #4 DEEP DIVE - BACKUP/DR DEFICIENCY</vt:lpstr>
      <vt:lpstr>FINDING #4 DEEP DIVE - BACKUP/DR DEFICIENCY</vt:lpstr>
      <vt:lpstr>FINDING #4 DEEP DIVE - BACKUP/DR DEFICIENCY</vt:lpstr>
      <vt:lpstr>FINDING #2: PRIVILEGED ACCESS</vt:lpstr>
      <vt:lpstr>FINDING #2: PRIVILEGED ACCESS</vt:lpstr>
      <vt:lpstr>FINDING #2: PRIVILEGED ACCESS</vt:lpstr>
      <vt:lpstr>FINDING #2: PRIVILEGED ACCESS</vt:lpstr>
      <vt:lpstr>FINDING #3: INCIDENT RESPONSE</vt:lpstr>
      <vt:lpstr>FINDING #3: INCIDENT RESPONSE</vt:lpstr>
      <vt:lpstr>FINDING #3: INCIDENT RESPONSE</vt:lpstr>
      <vt:lpstr>FINDING #3: INCIDENT RESPONSE</vt:lpstr>
      <vt:lpstr>FINDING #5: VENDOR SECURITY RISK</vt:lpstr>
      <vt:lpstr>FINDING #5: VENDOR SECURITY RISK</vt:lpstr>
      <vt:lpstr>FINDING #5: VENDOR SECURITY RISK</vt:lpstr>
      <vt:lpstr>FINDING #5: VENDOR SECURITY RISK</vt:lpstr>
      <vt:lpstr>FINDING #5: VENDOR SECURITY RISK</vt:lpstr>
      <vt:lpstr>FINDING #5: VENDOR SECURITY RISK</vt:lpstr>
      <vt:lpstr>FINDING #5: VENDOR SECURITY RISK</vt:lpstr>
      <vt:lpstr>FINDING #5: VENDOR SECURITY RISK</vt:lpstr>
      <vt:lpstr>CMMC LEVEL 3 COMPLIANCE RISK</vt:lpstr>
      <vt:lpstr>CMMC LEVEL 3 COMPLIANCE RISK</vt:lpstr>
      <vt:lpstr>CMMC LEVEL 3 COMPLIANCE RISK</vt:lpstr>
      <vt:lpstr>CMMC LEVEL 3 COMPLIANCE RISK</vt:lpstr>
      <vt:lpstr>REMEDIATION ROADMAP - OVERVIEW</vt:lpstr>
      <vt:lpstr>REMEDIATION ROADMAP - DETAILED TIMELINE</vt:lpstr>
      <vt:lpstr>REMEDIATION ROADMAP - DETAILED TIMELINE (CONT’D)</vt:lpstr>
      <vt:lpstr>REMEDIATION ROADMAP - DETAILED TIMELINE (CONT’D)</vt:lpstr>
      <vt:lpstr>REMEDIATION ROADMAP - DETAILED TIMELINE (CONT’D)</vt:lpstr>
      <vt:lpstr>INVESTMENT REQUIRED &amp; ROI JUSTIFICATION: Investment Breakdown</vt:lpstr>
      <vt:lpstr>INVESTMENT REQUIRED &amp; ROI JUSTIFICATION: Investment Breakdown (Cont’d)</vt:lpstr>
      <vt:lpstr>INVESTMENT REQUIRED &amp; ROI JUSTIFICATION: Investment Breakdown (Cont’d)</vt:lpstr>
      <vt:lpstr>INVESTMENT REQUIRED &amp; ROI JUSTIFICATION: Investment Breakdown (Cont’d)</vt:lpstr>
      <vt:lpstr>INVESTMENT REQUIRED &amp; ROI JUSTIFICATION: ROI Justification</vt:lpstr>
      <vt:lpstr>INVESTMENT REQUIRED &amp; ROI JUSTIFICATION: ROI Justification</vt:lpstr>
      <vt:lpstr>INVESTMENT REQUIRED &amp; ROI JUSTIFICATION: ROI Justification</vt:lpstr>
      <vt:lpstr>INVESTMENT REQUIRED &amp; ROI JUSTIFICATION: ROI Justification</vt:lpstr>
      <vt:lpstr>INVESTMENT REQUIRED &amp; ROI JUSTIFICATION: ROI Justification</vt:lpstr>
      <vt:lpstr>POSITIVE FINDINGS &amp; STRENGTHS</vt:lpstr>
      <vt:lpstr>POSITIVE FINDINGS &amp; STRENGTHS</vt:lpstr>
      <vt:lpstr>POSITIVE FINDINGS &amp; STRENGTHS</vt:lpstr>
      <vt:lpstr>POSITIVE FINDINGS &amp; STRENGTHS</vt:lpstr>
      <vt:lpstr>POSITIVE FINDINGS &amp; STRENGTHS</vt:lpstr>
      <vt:lpstr>POSITIVE FINDINGS &amp; STRENGTHS</vt:lpstr>
      <vt:lpstr>POSITIVE FINDINGS &amp; STRENGTHS</vt:lpstr>
      <vt:lpstr>POSITIVE FINDINGS &amp; STRENGTHS</vt:lpstr>
      <vt:lpstr>POSITIVE FINDINGS &amp; STRENGTHS</vt:lpstr>
      <vt:lpstr>CLOSING - QUESTIONS &amp; CONTACT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nantwi</dc:creator>
  <cp:lastModifiedBy>Noble Antwi</cp:lastModifiedBy>
  <cp:revision>4</cp:revision>
  <dcterms:modified xsi:type="dcterms:W3CDTF">2025-12-03T01:16:12Z</dcterms:modified>
</cp:coreProperties>
</file>
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COLLINS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IT Audit Findings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General Computer Controls Audit – Information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Post-Incident Assessment | September - November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Presented by:</a:t>
            </a:r>
          </a:p>
          <a:p>
            <a:r>
              <a:t>Noble Antwi &amp; Krupa Prakash Panchal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943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Date:</a:t>
            </a:r>
          </a:p>
          <a:p>
            <a:pPr algn="r"/>
            <a:r>
              <a:t>November 28,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 / 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3D7A"/>
                </a:solidFill>
              </a:defRPr>
            </a:pPr>
            <a:r>
              <a:t>What We'll Cover Today:</a:t>
            </a:r>
          </a:p>
          <a:p>
            <a:pPr>
              <a:spcAft>
                <a:spcPts val="800"/>
              </a:spcAft>
              <a:defRPr sz="1600"/>
            </a:pPr>
            <a:r>
              <a:t>1. Executive Summary &amp; Context</a:t>
            </a:r>
          </a:p>
          <a:p>
            <a:pPr>
              <a:spcAft>
                <a:spcPts val="800"/>
              </a:spcAft>
              <a:defRPr sz="1600"/>
            </a:pPr>
            <a:r>
              <a:t>2. The September 2025 Attack</a:t>
            </a:r>
          </a:p>
          <a:p>
            <a:pPr>
              <a:spcAft>
                <a:spcPts val="800"/>
              </a:spcAft>
              <a:defRPr sz="1600"/>
            </a:pPr>
            <a:r>
              <a:t>3. Audit Methodology &amp; Scope</a:t>
            </a:r>
          </a:p>
          <a:p>
            <a:pPr>
              <a:spcAft>
                <a:spcPts val="800"/>
              </a:spcAft>
              <a:defRPr sz="1600"/>
            </a:pPr>
            <a:r>
              <a:t>4. Five Key Findings (Overview)</a:t>
            </a:r>
          </a:p>
          <a:p>
            <a:pPr>
              <a:spcAft>
                <a:spcPts val="800"/>
              </a:spcAft>
              <a:defRPr sz="1600"/>
            </a:pPr>
            <a:r>
              <a:t>5. Critical Finding Deep Dives</a:t>
            </a:r>
          </a:p>
          <a:p>
            <a:pPr>
              <a:spcAft>
                <a:spcPts val="800"/>
              </a:spcAft>
              <a:defRPr sz="1600"/>
            </a:pPr>
            <a:r>
              <a:t>6. CMMC Compliance Risk Analysis</a:t>
            </a:r>
          </a:p>
          <a:p>
            <a:pPr>
              <a:spcAft>
                <a:spcPts val="800"/>
              </a:spcAft>
              <a:defRPr sz="1600"/>
            </a:pPr>
            <a:r>
              <a:t>7. Remediation Roadmap</a:t>
            </a:r>
          </a:p>
          <a:p>
            <a:pPr>
              <a:spcAft>
                <a:spcPts val="800"/>
              </a:spcAft>
              <a:defRPr sz="1600"/>
            </a:pPr>
            <a:r>
              <a:t>8. Investment &amp; ROI</a:t>
            </a:r>
          </a:p>
          <a:p>
            <a:pPr>
              <a:spcAft>
                <a:spcPts val="800"/>
              </a:spcAft>
              <a:defRPr sz="1600"/>
            </a:pPr>
            <a:r>
              <a:t>9. Recommendations &amp; Path Forward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FF3CD"/>
          </a:solidFill>
          <a:ln w="381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CONTEXT: Post-incident audit following September 19, 2025 ransomware attack — 170+ airports disrupted, 217 flights cancelled, 7-day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D7A"/>
                </a:solidFill>
              </a:defRPr>
            </a:pPr>
            <a:r>
              <a:t>Audit Scope &amp; Findings</a:t>
            </a:r>
          </a:p>
          <a:p>
            <a:pPr>
              <a:defRPr sz="1200"/>
            </a:pPr>
            <a:r>
              <a:t>• Assessed information security controls across critical systems</a:t>
            </a:r>
          </a:p>
          <a:p>
            <a:pPr>
              <a:defRPr sz="1200"/>
            </a:pPr>
            <a:r>
              <a:t>• Evaluated CMMC Level 3 readiness (Q2 2026 deadline)</a:t>
            </a:r>
          </a:p>
          <a:p>
            <a:pPr>
              <a:defRPr sz="1200" b="1"/>
            </a:pPr>
            <a:r>
              <a:t>• Identified 5 significant findings requiring immediate attention</a:t>
            </a:r>
          </a:p>
          <a:p>
            <a:pPr>
              <a:defRPr sz="1200"/>
            </a:pPr>
            <a:r>
              <a:t>• Frameworks: COBIT 2019, NIST SP 800-53, CMMC 2.0, SOX</a:t>
            </a:r>
          </a:p>
          <a:p>
            <a:pPr>
              <a:spcBef>
                <a:spcPts val="1400"/>
              </a:spcBef>
              <a:defRPr sz="1200" b="1"/>
            </a:pPr>
            <a:r>
              <a:t>SEVERITY DISTRIBUTION</a:t>
            </a:r>
          </a:p>
          <a:p>
            <a:pPr algn="ctr">
              <a:defRPr sz="1800" b="1">
                <a:solidFill>
                  <a:srgbClr val="E63946"/>
                </a:solidFill>
              </a:defRPr>
            </a:pPr>
            <a:r>
              <a:t>2 Critical  |  2 High  |  1 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D7A"/>
                </a:solidFill>
              </a:defRPr>
            </a:pPr>
            <a:r>
              <a:t>Critical Business Impacts</a:t>
            </a:r>
          </a:p>
          <a:p>
            <a:pPr>
              <a:defRPr sz="1200" b="1"/>
            </a:pPr>
            <a:r>
              <a:t>• $2.3B in defense contracts at risk if CMMC certification delayed</a:t>
            </a:r>
          </a:p>
          <a:p>
            <a:pPr>
              <a:defRPr sz="1200"/>
            </a:pPr>
            <a:r>
              <a:t>• September attack: 217 flights cancelled, 7-day recovery</a:t>
            </a:r>
          </a:p>
          <a:p>
            <a:pPr>
              <a:defRPr sz="1200"/>
            </a:pPr>
            <a:r>
              <a:t>• Direct incident costs: $15M+ (forensics, restoration, legal)</a:t>
            </a:r>
          </a:p>
          <a:p>
            <a:pPr>
              <a:defRPr sz="1200"/>
            </a:pPr>
            <a:r>
              <a:t>• SOX control deficiencies identified in financial systems</a:t>
            </a:r>
          </a:p>
          <a:p>
            <a:pPr>
              <a:defRPr sz="1200"/>
            </a:pPr>
            <a:r>
              <a:t>• Customer trust erosion with airline/airport partners</a:t>
            </a:r>
          </a:p>
          <a:p>
            <a:pPr>
              <a:spcBef>
                <a:spcPts val="1200"/>
              </a:spcBef>
              <a:defRPr sz="1200" b="1">
                <a:solidFill>
                  <a:srgbClr val="E63946"/>
                </a:solidFill>
              </a:defRPr>
            </a:pPr>
            <a:r>
              <a:t>KEY INSIGHT:</a:t>
            </a:r>
          </a:p>
          <a:p>
            <a:pPr>
              <a:defRPr sz="1100"/>
            </a:pPr>
            <a:r>
              <a:t>The attack was preventable through implementation of industry-standard controls.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Company &amp; Incident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D7A"/>
                </a:solidFill>
              </a:defRPr>
            </a:pPr>
            <a:r>
              <a:t>Collins Aerospace Profile</a:t>
            </a:r>
          </a:p>
          <a:p>
            <a:pPr>
              <a:defRPr sz="1100"/>
            </a:pPr>
            <a:r>
              <a:t>• Formed 2018 (UTC Aerospace + Rockwell Collins merger)</a:t>
            </a:r>
          </a:p>
          <a:p>
            <a:pPr>
              <a:defRPr sz="1100" b="1"/>
            </a:pPr>
            <a:r>
              <a:t>• $28.28B annual revenue (34% of RTX Corporation)</a:t>
            </a:r>
          </a:p>
          <a:p>
            <a:pPr>
              <a:defRPr sz="1100"/>
            </a:pPr>
            <a:r>
              <a:t>• 80,000 employees globally</a:t>
            </a:r>
          </a:p>
          <a:p>
            <a:pPr>
              <a:defRPr sz="1100"/>
            </a:pPr>
            <a:r>
              <a:t>• Six business units: Avionics, Interiors, Power &amp; Controls, Mechanical Systems, Mission Systems, Services</a:t>
            </a:r>
          </a:p>
          <a:p>
            <a:pPr>
              <a:spcBef>
                <a:spcPts val="1200"/>
              </a:spcBef>
              <a:defRPr sz="1400" b="1">
                <a:solidFill>
                  <a:srgbClr val="003D7A"/>
                </a:solidFill>
              </a:defRPr>
            </a:pPr>
            <a:r>
              <a:t>Critical Infrastructure Role</a:t>
            </a:r>
          </a:p>
          <a:p>
            <a:pPr>
              <a:defRPr sz="1100" b="1"/>
            </a:pPr>
            <a:r>
              <a:t>• MUSE platform serves 170+ airports globally</a:t>
            </a:r>
          </a:p>
          <a:p>
            <a:pPr>
              <a:defRPr sz="1100"/>
            </a:pPr>
            <a:r>
              <a:t>• Automated check-in and baggage handling</a:t>
            </a:r>
          </a:p>
          <a:p>
            <a:pPr>
              <a:defRPr sz="1100"/>
            </a:pPr>
            <a:r>
              <a:t>• Critical to daily aviation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D7A"/>
                </a:solidFill>
              </a:defRPr>
            </a:pPr>
            <a:r>
              <a:t>September 2025 Incident</a:t>
            </a:r>
          </a:p>
          <a:p>
            <a:pPr>
              <a:defRPr sz="1100" b="1"/>
            </a:pPr>
            <a:r>
              <a:t>Date: September 19, 2025, 22:45 GMT</a:t>
            </a:r>
          </a:p>
          <a:p>
            <a:pPr>
              <a:defRPr sz="1100"/>
            </a:pPr>
            <a:r>
              <a:t>Attack vector: Compromised VPN credential (no MFA)</a:t>
            </a:r>
          </a:p>
          <a:p>
            <a:pPr>
              <a:defRPr sz="1100"/>
            </a:pPr>
            <a:r>
              <a:t>Ransomware: HardBit (Ransomware-as-a-Service)</a:t>
            </a:r>
          </a:p>
          <a:p>
            <a:pPr>
              <a:defRPr sz="1100"/>
            </a:pPr>
            <a:r>
              <a:t>Systems affected: 1,000+ systems encrypted</a:t>
            </a:r>
          </a:p>
          <a:p>
            <a:pPr>
              <a:defRPr sz="1100" b="1"/>
            </a:pPr>
            <a:r>
              <a:t>Recovery time: 7 days (target RTO: 4 hours)</a:t>
            </a:r>
          </a:p>
          <a:p>
            <a:pPr>
              <a:defRPr sz="1100"/>
            </a:pPr>
            <a:r>
              <a:t>Detection delay: 16-18 hours</a:t>
            </a:r>
          </a:p>
          <a:p>
            <a:pPr>
              <a:defRPr sz="1100"/>
            </a:pPr>
            <a:r>
              <a:t>Data loss: 6 days (2.8M passenger transactions)</a:t>
            </a:r>
          </a:p>
          <a:p>
            <a:pPr>
              <a:defRPr sz="1100"/>
            </a:pPr>
            <a:r>
              <a:t>Direct costs: $15M+</a:t>
            </a:r>
          </a:p>
          <a:p>
            <a:pPr algn="ctr">
              <a:spcBef>
                <a:spcPts val="1400"/>
              </a:spcBef>
              <a:defRPr sz="1200" b="1">
                <a:solidFill>
                  <a:srgbClr val="6C757D"/>
                </a:solidFill>
              </a:defRPr>
            </a:pPr>
            <a:r>
              <a:t>[GRAPHIC PLACEHOLDER]</a:t>
            </a:r>
          </a:p>
          <a:p>
            <a:pPr algn="ctr">
              <a:defRPr sz="900">
                <a:solidFill>
                  <a:srgbClr val="6C757D"/>
                </a:solidFill>
              </a:defRPr>
            </a:pPr>
            <a:r>
              <a:t>Suggested: World map showing MUSE platform reach or timeline from 2018 merger to 2025 attack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September 2025 Attack: Timeline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HardBit Ransomware Attack • September 19, 2025, 22:45 GMT • Compromised VPN credential without MFA → 16-18 hours undetected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Attack Timeline:</a:t>
            </a:r>
          </a:p>
          <a:p>
            <a:pPr>
              <a:spcBef>
                <a:spcPts val="800"/>
              </a:spcBef>
              <a:defRPr sz="1100" b="1"/>
            </a:pPr>
            <a:r>
              <a:t>SEP 19 • Initial Breach</a:t>
            </a:r>
          </a:p>
          <a:p>
            <a:pPr lvl="1">
              <a:defRPr sz="900"/>
            </a:pPr>
            <a:r>
              <a:t>Compromised VPN credential lacking MFA</a:t>
            </a:r>
          </a:p>
          <a:p>
            <a:pPr>
              <a:spcBef>
                <a:spcPts val="800"/>
              </a:spcBef>
              <a:defRPr sz="1100" b="1"/>
            </a:pPr>
            <a:r>
              <a:t>SEP 19-20 • Lateral Movement</a:t>
            </a:r>
          </a:p>
          <a:p>
            <a:pPr lvl="1">
              <a:defRPr sz="900"/>
            </a:pPr>
            <a:r>
              <a:t>16-18 hours undetected reconnaissance</a:t>
            </a:r>
          </a:p>
          <a:p>
            <a:pPr>
              <a:spcBef>
                <a:spcPts val="800"/>
              </a:spcBef>
              <a:defRPr sz="1100" b="1"/>
            </a:pPr>
            <a:r>
              <a:t>SEP 20 • Ransomware Deployment</a:t>
            </a:r>
          </a:p>
          <a:p>
            <a:pPr lvl="1">
              <a:defRPr sz="900"/>
            </a:pPr>
            <a:r>
              <a:t>Encryption begins across 1,000+ systems</a:t>
            </a:r>
          </a:p>
          <a:p>
            <a:pPr>
              <a:spcBef>
                <a:spcPts val="800"/>
              </a:spcBef>
              <a:defRPr sz="1100" b="1"/>
            </a:pPr>
            <a:r>
              <a:t>SEP 20 • Discovery</a:t>
            </a:r>
          </a:p>
          <a:p>
            <a:pPr lvl="1">
              <a:defRPr sz="900"/>
            </a:pPr>
            <a:r>
              <a:t>Automated check-in systems fail; alerts triggered</a:t>
            </a:r>
          </a:p>
          <a:p>
            <a:pPr>
              <a:spcBef>
                <a:spcPts val="800"/>
              </a:spcBef>
              <a:defRPr sz="1100" b="1"/>
            </a:pPr>
            <a:r>
              <a:t>SEP 20-21 • Operational Impact</a:t>
            </a:r>
          </a:p>
          <a:p>
            <a:pPr lvl="1">
              <a:defRPr sz="900"/>
            </a:pPr>
            <a:r>
              <a:t>Heathrow, Brussels, Berlin, Dublin manual operations; 217 flights cancelled</a:t>
            </a:r>
          </a:p>
          <a:p>
            <a:pPr>
              <a:spcBef>
                <a:spcPts val="800"/>
              </a:spcBef>
              <a:defRPr sz="1100" b="1"/>
            </a:pPr>
            <a:r>
              <a:t>SEP 24 • Law Enforcement</a:t>
            </a:r>
          </a:p>
          <a:p>
            <a:pPr lvl="1">
              <a:defRPr sz="900"/>
            </a:pPr>
            <a:r>
              <a:t>UK National Crime Agency arrests suspect</a:t>
            </a:r>
          </a:p>
          <a:p>
            <a:pPr>
              <a:spcBef>
                <a:spcPts val="800"/>
              </a:spcBef>
              <a:defRPr sz="1100" b="1"/>
            </a:pPr>
            <a:r>
              <a:t>SEP 25 • Official Disclosure</a:t>
            </a:r>
          </a:p>
          <a:p>
            <a:pPr lvl="1">
              <a:defRPr sz="900"/>
            </a:pPr>
            <a:r>
              <a:t>RTX files SEC Form 8-K confirming ransomware</a:t>
            </a:r>
          </a:p>
          <a:p>
            <a:pPr>
              <a:spcBef>
                <a:spcPts val="800"/>
              </a:spcBef>
              <a:defRPr sz="1100" b="1"/>
            </a:pPr>
            <a:r>
              <a:t>SEP 19-26 • Recovery Period</a:t>
            </a:r>
          </a:p>
          <a:p>
            <a:pPr lvl="1">
              <a:defRPr sz="900"/>
            </a:pPr>
            <a:r>
              <a:t>7 DAYS TOTAL (Target RTO: 4 hours)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9202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Impact by Numbers:</a:t>
            </a:r>
          </a:p>
          <a:p>
            <a:pPr>
              <a:spcBef>
                <a:spcPts val="600"/>
              </a:spcBef>
              <a:defRPr sz="2400" b="1">
                <a:solidFill>
                  <a:srgbClr val="E63946"/>
                </a:solidFill>
              </a:defRPr>
            </a:pPr>
            <a:r>
              <a:t>170+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Airports Affected</a:t>
            </a:r>
          </a:p>
          <a:p>
            <a:pPr>
              <a:spcBef>
                <a:spcPts val="600"/>
              </a:spcBef>
              <a:defRPr sz="2400" b="1">
                <a:solidFill>
                  <a:srgbClr val="E63946"/>
                </a:solidFill>
              </a:defRPr>
            </a:pPr>
            <a:r>
              <a:t>217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Flights Cancelled</a:t>
            </a:r>
          </a:p>
          <a:p>
            <a:pPr>
              <a:spcBef>
                <a:spcPts val="600"/>
              </a:spcBef>
              <a:defRPr sz="2400" b="1">
                <a:solidFill>
                  <a:srgbClr val="E63946"/>
                </a:solidFill>
              </a:defRPr>
            </a:pPr>
            <a:r>
              <a:t>1,000+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Systems Encrypted</a:t>
            </a:r>
          </a:p>
          <a:p>
            <a:pPr>
              <a:spcBef>
                <a:spcPts val="600"/>
              </a:spcBef>
              <a:defRPr sz="2400" b="1">
                <a:solidFill>
                  <a:srgbClr val="E63946"/>
                </a:solidFill>
              </a:defRPr>
            </a:pPr>
            <a:r>
              <a:t>6 Days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Data Loss Window</a:t>
            </a:r>
          </a:p>
          <a:p>
            <a:pPr>
              <a:spcBef>
                <a:spcPts val="600"/>
              </a:spcBef>
              <a:defRPr sz="2400" b="1">
                <a:solidFill>
                  <a:srgbClr val="E63946"/>
                </a:solidFill>
              </a:defRPr>
            </a:pPr>
            <a:r>
              <a:t>2.8M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Transactions Lost</a:t>
            </a:r>
          </a:p>
          <a:p>
            <a:pPr>
              <a:spcBef>
                <a:spcPts val="600"/>
              </a:spcBef>
              <a:defRPr sz="2400" b="1">
                <a:solidFill>
                  <a:srgbClr val="E63946"/>
                </a:solidFill>
              </a:defRPr>
            </a:pPr>
            <a:r>
              <a:t>$15M+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Direct Costs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Audit Methodology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Audit Timeline: September - November 2025 (10 weeks)</a:t>
            </a:r>
          </a:p>
          <a:p>
            <a:pPr>
              <a:spcBef>
                <a:spcPts val="1000"/>
              </a:spcBef>
              <a:defRPr sz="1300" b="1"/>
            </a:pPr>
            <a:r>
              <a:t>Phase 1: Planning (Weeks 1-2) - 78 hours</a:t>
            </a:r>
          </a:p>
          <a:p>
            <a:pPr lvl="1">
              <a:defRPr sz="1100"/>
            </a:pPr>
            <a:r>
              <a:t>• Prior audit review, IT documentation, incident analysis, preliminary risk assessment</a:t>
            </a:r>
          </a:p>
          <a:p>
            <a:pPr>
              <a:spcBef>
                <a:spcPts val="1000"/>
              </a:spcBef>
              <a:defRPr sz="1300" b="1"/>
            </a:pPr>
            <a:r>
              <a:t>Phase 2: Fieldwork (Weeks 3-8) - 312 hours</a:t>
            </a:r>
          </a:p>
          <a:p>
            <a:pPr lvl="1">
              <a:defRPr sz="1100"/>
            </a:pPr>
            <a:r>
              <a:t>• 67 control objectives tested across Information Security</a:t>
            </a:r>
          </a:p>
          <a:p>
            <a:pPr lvl="1">
              <a:defRPr sz="1100"/>
            </a:pPr>
            <a:r>
              <a:t>• 247 user accounts analyzed; 89 privileged accounts reviewed</a:t>
            </a:r>
          </a:p>
          <a:p>
            <a:pPr lvl="1">
              <a:defRPr sz="1100"/>
            </a:pPr>
            <a:r>
              <a:t>• 156 backup systems validated; 47 vendors assessed</a:t>
            </a:r>
          </a:p>
          <a:p>
            <a:pPr lvl="1">
              <a:defRPr sz="1100"/>
            </a:pPr>
            <a:r>
              <a:t>• 34 critical systems configuration reviews</a:t>
            </a:r>
          </a:p>
          <a:p>
            <a:pPr>
              <a:spcBef>
                <a:spcPts val="1000"/>
              </a:spcBef>
              <a:defRPr sz="1300" b="1"/>
            </a:pPr>
            <a:r>
              <a:t>Phase 3: Reporting (Weeks 9-10) - 95 hours</a:t>
            </a:r>
          </a:p>
          <a:p>
            <a:pPr lvl="1">
              <a:defRPr sz="1100"/>
            </a:pPr>
            <a:r>
              <a:t>• Root cause analysis, management validation, recommendation development</a:t>
            </a:r>
          </a:p>
          <a:p>
            <a:pPr>
              <a:spcBef>
                <a:spcPts val="1200"/>
              </a:spcBef>
              <a:defRPr sz="1300" b="1"/>
            </a:pPr>
            <a:r>
              <a:t>Frameworks Applied:</a:t>
            </a:r>
          </a:p>
          <a:p>
            <a:pPr lvl="1">
              <a:defRPr sz="1100"/>
            </a:pPr>
            <a:r>
              <a:t>COBIT 2019 | NIST SP 800-53 Rev. 5 | NIST SP 800-171/172 | CMMC 2.0 | NIST CSF | SOX Section 404</a:t>
            </a:r>
          </a:p>
          <a:p>
            <a:pPr algn="ctr">
              <a:spcBef>
                <a:spcPts val="1400"/>
              </a:spcBef>
              <a:defRPr sz="1000">
                <a:solidFill>
                  <a:srgbClr val="6C757D"/>
                </a:solidFill>
              </a:defRPr>
            </a:pPr>
            <a:r>
              <a:t>[GRAPHIC PLACEHOLDER: Gantt chart showing 10-week timeline or circular diagram of frameworks]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Audit Findings Overview - All 5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841248"/>
          </a:xfrm>
          <a:prstGeom prst="rect">
            <a:avLst/>
          </a:prstGeom>
          <a:solidFill>
            <a:srgbClr val="FFFFFF"/>
          </a:solidFill>
          <a:ln w="508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07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Finding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71600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Inadequate Multi-Factor Authentication (MFA)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64207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60.5% VPN accounts lack MFA; 35.3% privileged accounts bypass MFA; 23 service accounts lack certificate-based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8132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/>
            </a:pPr>
            <a:r>
              <a:t>Target:</a:t>
            </a:r>
          </a:p>
          <a:p>
            <a:r>
              <a:t>Apr 30,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8229600" cy="841248"/>
          </a:xfrm>
          <a:prstGeom prst="rect">
            <a:avLst/>
          </a:prstGeom>
          <a:solidFill>
            <a:srgbClr val="FFFFFF"/>
          </a:solidFill>
          <a:ln w="508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7F00"/>
                </a:solidFill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1518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Finding 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67712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Insufficient Privileged Access Reviews &amp; Excessive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No reviews in 30 months; 12 orphaned accounts from terminated employees; SoD violations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/>
            </a:pPr>
            <a:r>
              <a:t>Target:</a:t>
            </a:r>
          </a:p>
          <a:p>
            <a:r>
              <a:t>May 31,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72384"/>
            <a:ext cx="8229600" cy="841248"/>
          </a:xfrm>
          <a:prstGeom prst="rect">
            <a:avLst/>
          </a:prstGeom>
          <a:solidFill>
            <a:srgbClr val="FFFFFF"/>
          </a:solidFill>
          <a:ln w="508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8211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7F00"/>
                </a:solidFill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1129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Finding 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63824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Inadequate Incident Response Capabilities &amp;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IR plan not updated since 2021; no formal CSIRT; 16-18 hour detection delay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7355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/>
            </a:pPr>
            <a:r>
              <a:t>Target:</a:t>
            </a:r>
          </a:p>
          <a:p>
            <a:r>
              <a:t>Apr 30,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68496"/>
            <a:ext cx="8229600" cy="841248"/>
          </a:xfrm>
          <a:prstGeom prst="rect">
            <a:avLst/>
          </a:prstGeom>
          <a:solidFill>
            <a:srgbClr val="FFFFFF"/>
          </a:solidFill>
          <a:ln w="508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7822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3946"/>
                </a:solidFill>
              </a:defRPr>
            </a:pPr>
            <a: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0740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Finding #4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059935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Inadequate Backup and Disaster Recovery Procedures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3525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No air-gapped backups; 23% failure rate; 6 days data loss; last test Nov 2022 (3 years ago)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69663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/>
            </a:pPr>
            <a:r>
              <a:t>Target:</a:t>
            </a:r>
          </a:p>
          <a:p>
            <a:r>
              <a:t>May 31,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64608"/>
            <a:ext cx="8229600" cy="841248"/>
          </a:xfrm>
          <a:prstGeom prst="rect">
            <a:avLst/>
          </a:prstGeom>
          <a:solidFill>
            <a:srgbClr val="FFFFFF"/>
          </a:solidFill>
          <a:ln w="50800">
            <a:solidFill>
              <a:srgbClr val="FCB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97433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CBF49"/>
                </a:solidFill>
              </a:defRPr>
            </a:pPr>
            <a:r>
              <a:t>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303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Finding #5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9560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Insufficient Vendor Security Management &amp; Third-Party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24865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C757D"/>
                </a:solidFill>
              </a:defRPr>
            </a:pPr>
            <a:r>
              <a:t>No vendor assessments; 47 vendors with production access; 8 terminated vendors with active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65776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/>
            </a:pPr>
            <a:r>
              <a:t>Target:</a:t>
            </a:r>
          </a:p>
          <a:p>
            <a:r>
              <a:t>Jun 30,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C757D"/>
                </a:solidFill>
              </a:defRPr>
            </a:pPr>
            <a:r>
              <a:t>Common Thread: All findings represent preventable gaps in industry-standard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Finding #1: Inadequate MFA Implementation (CRITICAL)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D7A"/>
                </a:solidFill>
              </a:defRPr>
            </a:pPr>
            <a:r>
              <a:t>What We Found:</a:t>
            </a:r>
          </a:p>
          <a:p>
            <a:pPr>
              <a:spcBef>
                <a:spcPts val="800"/>
              </a:spcBef>
              <a:defRPr sz="1100" b="1">
                <a:solidFill>
                  <a:srgbClr val="E63946"/>
                </a:solidFill>
              </a:defRPr>
            </a:pPr>
            <a:r>
              <a:t>⚠ DIRECT ATTACK VECTOR</a:t>
            </a:r>
          </a:p>
          <a:p>
            <a:pPr lvl="1">
              <a:defRPr sz="1000"/>
            </a:pPr>
            <a:r>
              <a:t>September 2025 attack began with compromised VPN credential lacking MFA protection.</a:t>
            </a:r>
          </a:p>
          <a:p>
            <a:pPr>
              <a:spcBef>
                <a:spcPts val="1000"/>
              </a:spcBef>
              <a:defRPr sz="1200" b="1"/>
            </a:pPr>
            <a:r>
              <a:t>Specific Gaps:</a:t>
            </a:r>
          </a:p>
          <a:p>
            <a:pPr lvl="1">
              <a:defRPr sz="1000"/>
            </a:pPr>
            <a:r>
              <a:t>• 60.5% of VPN accounts (89 of 147) lack MFA</a:t>
            </a:r>
          </a:p>
          <a:p>
            <a:pPr lvl="1">
              <a:defRPr sz="1000"/>
            </a:pPr>
            <a:r>
              <a:t>• 35.3% of privileged accounts (12 of 34) bypass MFA</a:t>
            </a:r>
          </a:p>
          <a:p>
            <a:pPr lvl="1">
              <a:defRPr sz="1000"/>
            </a:pPr>
            <a:r>
              <a:t>• 23 service accounts with static passwords lacking certificate-based auth (18+ months without rotation)</a:t>
            </a:r>
          </a:p>
          <a:p>
            <a:pPr lvl="1">
              <a:defRPr sz="1000"/>
            </a:pPr>
            <a:r>
              <a:t>• Several service accounts enabled for interactive login</a:t>
            </a:r>
          </a:p>
          <a:p>
            <a:pPr lvl="1">
              <a:defRPr sz="1000"/>
            </a:pPr>
            <a:r>
              <a:t>• Emergency access procedures lack MFA verification</a:t>
            </a:r>
          </a:p>
          <a:p>
            <a:pPr lvl="1">
              <a:defRPr sz="1000"/>
            </a:pPr>
            <a:r>
              <a:t>• No centralized PAM solution</a:t>
            </a:r>
          </a:p>
          <a:p>
            <a:pPr>
              <a:spcBef>
                <a:spcPts val="1200"/>
              </a:spcBef>
              <a:defRPr sz="1200" b="1"/>
            </a:pPr>
            <a:r>
              <a:t>Root Cause:</a:t>
            </a:r>
          </a:p>
          <a:p>
            <a:pPr lvl="1">
              <a:defRPr sz="1000"/>
            </a:pPr>
            <a:r>
              <a:t>Legacy VPN infrastructure scheduled for Q4 2025 replacement. Management deferred MFA to avoid 'throwaway work' without risk assessment or compensating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D7A"/>
                </a:solidFill>
              </a:defRPr>
            </a:pPr>
            <a:r>
              <a:t>Business Impact:</a:t>
            </a:r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</a:defRPr>
            </a:pPr>
            <a:r>
              <a:t>OPERATIONAL</a:t>
            </a:r>
          </a:p>
          <a:p>
            <a:pPr lvl="1">
              <a:defRPr sz="1000"/>
            </a:pPr>
            <a:r>
              <a:t>170+ airports disrupted, 217 flights cancelled</a:t>
            </a:r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</a:defRPr>
            </a:pPr>
            <a:r>
              <a:t>FINANCIAL</a:t>
            </a:r>
          </a:p>
          <a:p>
            <a:pPr lvl="1">
              <a:defRPr sz="1000"/>
            </a:pPr>
            <a:r>
              <a:t>$15M+ incident response costs</a:t>
            </a:r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</a:defRPr>
            </a:pPr>
            <a:r>
              <a:t>COMPLIANCE</a:t>
            </a:r>
          </a:p>
          <a:p>
            <a:pPr lvl="1">
              <a:defRPr sz="1000"/>
            </a:pPr>
            <a:r>
              <a:t>CMMC Level 3 gap (NIST 800-171 3.5.3); SOX deficiency</a:t>
            </a:r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</a:defRPr>
            </a:pPr>
            <a:r>
              <a:t>STRATEGIC</a:t>
            </a:r>
          </a:p>
          <a:p>
            <a:pPr lvl="1">
              <a:defRPr sz="1000"/>
            </a:pPr>
            <a:r>
              <a:t>$2.3B defense contracts at risk</a:t>
            </a:r>
          </a:p>
          <a:p>
            <a:pPr>
              <a:spcBef>
                <a:spcPts val="1200"/>
              </a:spcBef>
              <a:defRPr sz="1300" b="1"/>
            </a:pPr>
            <a:r>
              <a:t>Standards Violated:</a:t>
            </a:r>
          </a:p>
          <a:p>
            <a:pPr lvl="1">
              <a:defRPr sz="900"/>
            </a:pPr>
            <a:r>
              <a:t>NIST SP 800-53: IA-2(1), IA-2(2)</a:t>
            </a:r>
          </a:p>
          <a:p>
            <a:pPr lvl="1">
              <a:defRPr sz="900"/>
            </a:pPr>
            <a:r>
              <a:t>CMMC 2.0: AC.L2-3.1.12</a:t>
            </a:r>
          </a:p>
          <a:p>
            <a:pPr lvl="1">
              <a:defRPr sz="900"/>
            </a:pPr>
            <a:r>
              <a:t>NIST SP 800-171: Control 3.5.3</a:t>
            </a:r>
          </a:p>
          <a:p>
            <a:pPr lvl="1">
              <a:defRPr sz="900"/>
            </a:pPr>
            <a:r>
              <a:t>COBIT 2019: DSS05.04, APO13.01</a:t>
            </a:r>
          </a:p>
          <a:p>
            <a:pPr lvl="1">
              <a:defRPr sz="900"/>
            </a:pPr>
            <a:r>
              <a:t>NIST CSF: PR.AC-1, PR.AC-7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Recommendations: Emergency MFA (Dec 2025) | PAM solution (Apr 2026) | Zero Trust architecture | Certificate-based auth for service accounts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Finding #4: Inadequate Backup &amp; DR Procedures (CRITICAL)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3D7A"/>
                </a:solidFill>
              </a:defRPr>
            </a:pPr>
            <a:r>
              <a:t>What We Found:</a:t>
            </a:r>
          </a:p>
          <a:p>
            <a:pPr>
              <a:spcBef>
                <a:spcPts val="800"/>
              </a:spcBef>
              <a:defRPr sz="1100" b="1">
                <a:solidFill>
                  <a:srgbClr val="E63946"/>
                </a:solidFill>
              </a:defRPr>
            </a:pPr>
            <a:r>
              <a:t>⚠ EXTENDED RECOVERY</a:t>
            </a:r>
          </a:p>
          <a:p>
            <a:pPr lvl="1">
              <a:defRPr sz="1000"/>
            </a:pPr>
            <a:r>
              <a:t>7-day recovery instead of 4-hour RTO. Ransomware encrypted backup infrastructure, destroying 5 days of backup data.</a:t>
            </a:r>
          </a:p>
          <a:p>
            <a:pPr>
              <a:spcBef>
                <a:spcPts val="1000"/>
              </a:spcBef>
              <a:defRPr sz="1200" b="1"/>
            </a:pPr>
            <a:r>
              <a:t>Specific Gaps:</a:t>
            </a:r>
          </a:p>
          <a:p>
            <a:pPr lvl="1">
              <a:defRPr sz="1000"/>
            </a:pPr>
            <a:r>
              <a:t>• No air-gapped backups (all network-accessible)</a:t>
            </a:r>
          </a:p>
          <a:p>
            <a:pPr lvl="1">
              <a:defRPr sz="1000"/>
            </a:pPr>
            <a:r>
              <a:t>• 23% backup failure rate (11-day avg detection)</a:t>
            </a:r>
          </a:p>
          <a:p>
            <a:pPr lvl="1">
              <a:defRPr sz="1000"/>
            </a:pPr>
            <a:r>
              <a:t>• 6 days data loss (2.8M passenger transactions)</a:t>
            </a:r>
          </a:p>
          <a:p>
            <a:pPr lvl="1">
              <a:defRPr sz="1000"/>
            </a:pPr>
            <a:r>
              <a:t>• Last restoration test: Nov 2022 (3 years ago)</a:t>
            </a:r>
          </a:p>
          <a:p>
            <a:pPr lvl="1">
              <a:defRPr sz="1000"/>
            </a:pPr>
            <a:r>
              <a:t>• No off-site replication (single data center)</a:t>
            </a:r>
          </a:p>
          <a:p>
            <a:pPr lvl="1">
              <a:defRPr sz="1000"/>
            </a:pPr>
            <a:r>
              <a:t>• RTOs/RPOs not documented</a:t>
            </a:r>
          </a:p>
          <a:p>
            <a:pPr lvl="1">
              <a:defRPr sz="1000"/>
            </a:pPr>
            <a:r>
              <a:t>• Incomplete backup coverage (MUSE configs, 15% engineering data)</a:t>
            </a:r>
          </a:p>
          <a:p>
            <a:pPr>
              <a:spcBef>
                <a:spcPts val="1000"/>
              </a:spcBef>
              <a:defRPr sz="1200" b="1"/>
            </a:pPr>
            <a:r>
              <a:t>Root Cause:</a:t>
            </a:r>
          </a:p>
          <a:p>
            <a:pPr lvl="1">
              <a:defRPr sz="1000"/>
            </a:pPr>
            <a:r>
              <a:t>Infrastructure deployed 2017-2018, never upgraded. Budget requests rejected FY2023-2024. Only 2 backup admins for enterprise. No Business Impact Analysis conducted.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D7A"/>
                </a:solidFill>
              </a:defRPr>
            </a:pPr>
            <a:r>
              <a:t>Industry Best Practice:</a:t>
            </a:r>
          </a:p>
          <a:p>
            <a:pPr algn="ctr">
              <a:spcBef>
                <a:spcPts val="400"/>
              </a:spcBef>
              <a:defRPr sz="1600" b="1"/>
            </a:pPr>
            <a:r>
              <a:t>3-2-1-1-0 Backup Rule</a:t>
            </a:r>
          </a:p>
          <a:p>
            <a:pPr>
              <a:spcBef>
                <a:spcPts val="400"/>
              </a:spcBef>
              <a:defRPr sz="1000"/>
            </a:pPr>
            <a:r>
              <a:t>3 — Copies of data (1 primary + 2 backups)</a:t>
            </a:r>
          </a:p>
          <a:p>
            <a:pPr>
              <a:spcBef>
                <a:spcPts val="400"/>
              </a:spcBef>
              <a:defRPr sz="1000"/>
            </a:pPr>
            <a:r>
              <a:t>2 — Different media types</a:t>
            </a:r>
          </a:p>
          <a:p>
            <a:pPr>
              <a:spcBef>
                <a:spcPts val="400"/>
              </a:spcBef>
              <a:defRPr sz="1000"/>
            </a:pPr>
            <a:r>
              <a:t>1 — Off-site copy (geographic separation)</a:t>
            </a:r>
          </a:p>
          <a:p>
            <a:pPr>
              <a:spcBef>
                <a:spcPts val="400"/>
              </a:spcBef>
              <a:defRPr sz="1000"/>
            </a:pPr>
            <a:r>
              <a:t>1 — Offline/air-gapped (ransomware-proof)</a:t>
            </a:r>
          </a:p>
          <a:p>
            <a:pPr>
              <a:spcBef>
                <a:spcPts val="400"/>
              </a:spcBef>
              <a:defRPr sz="1000"/>
            </a:pPr>
            <a:r>
              <a:t>0 — Errors (verified integrity)</a:t>
            </a:r>
          </a:p>
          <a:p>
            <a:pPr algn="ctr">
              <a:spcBef>
                <a:spcPts val="1000"/>
              </a:spcBef>
              <a:defRPr sz="1100" b="1"/>
            </a:pPr>
            <a:r>
              <a:t>Collins Aerospace meets:</a:t>
            </a:r>
          </a:p>
          <a:p>
            <a:pPr algn="ctr">
              <a:defRPr sz="1400" b="1">
                <a:solidFill>
                  <a:srgbClr val="E63946"/>
                </a:solidFill>
              </a:defRPr>
            </a:pPr>
            <a:r>
              <a:t>ZERO of these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39319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D7A"/>
                </a:solidFill>
              </a:defRPr>
            </a:pPr>
            <a:r>
              <a:t>Business Impact:</a:t>
            </a:r>
          </a:p>
          <a:p>
            <a:pPr>
              <a:defRPr sz="1000"/>
            </a:pPr>
            <a:r>
              <a:t>• $12-15M extended recovery costs</a:t>
            </a:r>
          </a:p>
          <a:p>
            <a:pPr>
              <a:defRPr sz="1000"/>
            </a:pPr>
            <a:r>
              <a:t>• CMMC Level 3 violation (SP 800-172 Control 3.14.1e)</a:t>
            </a:r>
          </a:p>
          <a:p>
            <a:pPr>
              <a:defRPr sz="1000"/>
            </a:pPr>
            <a:r>
              <a:t>• SOX deficiency (geographic colocation)</a:t>
            </a:r>
          </a:p>
          <a:p>
            <a:pPr>
              <a:defRPr sz="1000"/>
            </a:pPr>
            <a:r>
              <a:t>• $50-100M future incident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Recommendations: Air-gapped backup (Dec 2025) | Off-site replication (Jan 2026) | Quarterly restoration testing | Immutable backups | Business Impact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Findings #2 &amp; #3 - HIGH Severity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77F00"/>
                </a:solidFill>
              </a:defRPr>
            </a:pPr>
            <a:r>
              <a:t>FINDING #2 - HIGH</a:t>
            </a:r>
          </a:p>
          <a:p>
            <a:pPr>
              <a:defRPr sz="1400" b="1"/>
            </a:pPr>
            <a:r>
              <a:t>Insufficient Privileged Access Reviews</a:t>
            </a:r>
          </a:p>
          <a:p>
            <a:pPr>
              <a:spcBef>
                <a:spcPts val="800"/>
              </a:spcBef>
              <a:defRPr sz="1200" b="1"/>
            </a:pPr>
            <a:r>
              <a:t>What We Found:</a:t>
            </a:r>
          </a:p>
          <a:p>
            <a:pPr lvl="1">
              <a:defRPr sz="900"/>
            </a:pPr>
            <a:r>
              <a:t>• No reviews since March 2023 (30 months)</a:t>
            </a:r>
          </a:p>
          <a:p>
            <a:pPr lvl="1">
              <a:defRPr sz="900"/>
            </a:pPr>
            <a:r>
              <a:t>• 47 permanent domain administrators</a:t>
            </a:r>
          </a:p>
          <a:p>
            <a:pPr lvl="1">
              <a:defRPr sz="900"/>
            </a:pPr>
            <a:r>
              <a:t>• 34 standing AWS administrators</a:t>
            </a:r>
          </a:p>
          <a:p>
            <a:pPr lvl="1">
              <a:defRPr sz="900"/>
            </a:pPr>
            <a:r>
              <a:t>• 12 orphaned accounts from terminated employees (8-26 months post-termination)</a:t>
            </a:r>
          </a:p>
          <a:p>
            <a:pPr lvl="1">
              <a:defRPr sz="900"/>
            </a:pPr>
            <a:r>
              <a:t>• 18 stale service accounts</a:t>
            </a:r>
          </a:p>
          <a:p>
            <a:pPr lvl="1">
              <a:defRPr sz="900"/>
            </a:pPr>
            <a:r>
              <a:t>• 9 shared administrative accounts</a:t>
            </a:r>
          </a:p>
          <a:p>
            <a:pPr lvl="1">
              <a:defRPr sz="900"/>
            </a:pPr>
            <a:r>
              <a:t>• 5 segregation of duties violations</a:t>
            </a:r>
          </a:p>
          <a:p>
            <a:pPr>
              <a:spcBef>
                <a:spcPts val="800"/>
              </a:spcBef>
              <a:defRPr sz="1100" b="1"/>
            </a:pPr>
            <a:r>
              <a:t>Root Cause:</a:t>
            </a:r>
          </a:p>
          <a:p>
            <a:pPr lvl="1">
              <a:defRPr sz="900"/>
            </a:pPr>
            <a:r>
              <a:t>No PAM policy; organizational silos; cultural acceptance of over-permissioning; insufficient HR-IT integration; understaffed security team (8 people)</a:t>
            </a:r>
          </a:p>
          <a:p>
            <a:pPr>
              <a:spcBef>
                <a:spcPts val="800"/>
              </a:spcBef>
              <a:defRPr sz="900" b="1"/>
            </a:pPr>
            <a:r>
              <a:t>Impact: Expanded attack surface; CMMC Level 3 gap; SOX material weakness risk; $5-8M annual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77F00"/>
                </a:solidFill>
              </a:defRPr>
            </a:pPr>
            <a:r>
              <a:t>FINDING #3 - HIGH</a:t>
            </a:r>
          </a:p>
          <a:p>
            <a:pPr>
              <a:defRPr sz="1400" b="1"/>
            </a:pPr>
            <a:r>
              <a:t>Inadequate Incident Response Capabilities</a:t>
            </a:r>
          </a:p>
          <a:p>
            <a:pPr>
              <a:spcBef>
                <a:spcPts val="800"/>
              </a:spcBef>
              <a:defRPr sz="1200" b="1"/>
            </a:pPr>
            <a:r>
              <a:t>What We Found:</a:t>
            </a:r>
          </a:p>
          <a:p>
            <a:pPr lvl="1">
              <a:defRPr sz="900"/>
            </a:pPr>
            <a:r>
              <a:t>• IR plan last updated August 2021 (4+ years)</a:t>
            </a:r>
          </a:p>
          <a:p>
            <a:pPr lvl="1">
              <a:defRPr sz="900"/>
            </a:pPr>
            <a:r>
              <a:t>• No formal CSIRT with 24/7 coverage</a:t>
            </a:r>
          </a:p>
          <a:p>
            <a:pPr lvl="1">
              <a:defRPr sz="900"/>
            </a:pPr>
            <a:r>
              <a:t>• EDR on only 64% servers / 71% workstations</a:t>
            </a:r>
          </a:p>
          <a:p>
            <a:pPr lvl="1">
              <a:defRPr sz="900"/>
            </a:pPr>
            <a:r>
              <a:t>• 16-18 hour detection delay in September</a:t>
            </a:r>
          </a:p>
          <a:p>
            <a:pPr lvl="1">
              <a:defRPr sz="900"/>
            </a:pPr>
            <a:r>
              <a:t>• No forensic evidence preservation protocol</a:t>
            </a:r>
          </a:p>
          <a:p>
            <a:pPr lvl="1">
              <a:defRPr sz="900"/>
            </a:pPr>
            <a:r>
              <a:t>• No tabletop exercises ever conducted</a:t>
            </a:r>
          </a:p>
          <a:p>
            <a:pPr lvl="1">
              <a:defRPr sz="900"/>
            </a:pPr>
            <a:r>
              <a:t>• No pre-established law enforcement relationships</a:t>
            </a:r>
          </a:p>
          <a:p>
            <a:pPr>
              <a:spcBef>
                <a:spcPts val="800"/>
              </a:spcBef>
              <a:defRPr sz="1100" b="1"/>
            </a:pPr>
            <a:r>
              <a:t>Root Cause:</a:t>
            </a:r>
          </a:p>
          <a:p>
            <a:pPr lvl="1">
              <a:defRPr sz="900"/>
            </a:pPr>
            <a:r>
              <a:t>Lack of executive prioritization; resource constraints (8-person team); rapid M&amp;A growth; cultural complacency; no cyber insurance engagement</a:t>
            </a:r>
          </a:p>
          <a:p>
            <a:pPr>
              <a:spcBef>
                <a:spcPts val="800"/>
              </a:spcBef>
              <a:defRPr sz="900" b="1"/>
            </a:pPr>
            <a:r>
              <a:t>Impact: Extended attacker dwell time; incomplete forensics; $7-9M incremental costs; ongoing investigation $150K/month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Finding #5: Insufficient Vendor Security Management (MEDIUM)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What We Found - Vendor Access Gaps:</a:t>
            </a:r>
          </a:p>
          <a:p>
            <a:pPr>
              <a:defRPr sz="1100"/>
            </a:pPr>
            <a:r>
              <a:t>• 47 vendors with production system access</a:t>
            </a:r>
          </a:p>
          <a:p>
            <a:pPr>
              <a:defRPr sz="1100"/>
            </a:pPr>
            <a:r>
              <a:t>• 18 vendors with standing VPN access (should be just-in-time)</a:t>
            </a:r>
          </a:p>
          <a:p>
            <a:pPr>
              <a:defRPr sz="1100"/>
            </a:pPr>
            <a:r>
              <a:t>• 12 vendors sharing credentials (no individual accountability)</a:t>
            </a:r>
          </a:p>
          <a:p>
            <a:pPr>
              <a:defRPr sz="1100"/>
            </a:pPr>
            <a:r>
              <a:t>• 7 vendors with domain administrator privileges</a:t>
            </a:r>
          </a:p>
          <a:p>
            <a:pPr>
              <a:defRPr sz="1100"/>
            </a:pPr>
            <a:r>
              <a:t>• 8 terminated vendor contracts with active access (3-12 months post-termination)</a:t>
            </a:r>
          </a:p>
          <a:p>
            <a:pPr>
              <a:defRPr sz="1100"/>
            </a:pPr>
            <a:r>
              <a:t>• No ongoing vendor security monitoring or compliance validation</a:t>
            </a:r>
          </a:p>
          <a:p>
            <a:pPr>
              <a:defRPr sz="1100"/>
            </a:pPr>
            <a:r>
              <a:t>• No Cloud Service Provider (CSP) compliance reviews for AWS/Azure</a:t>
            </a:r>
          </a:p>
          <a:p>
            <a:pPr>
              <a:defRPr sz="1100"/>
            </a:pPr>
            <a:r>
              <a:t>• No Software Bill of Materials (SBOM) for third-party applications</a:t>
            </a:r>
          </a:p>
          <a:p>
            <a:pPr>
              <a:spcBef>
                <a:spcPts val="1200"/>
              </a:spcBef>
              <a:defRPr sz="1300" b="1"/>
            </a:pPr>
            <a:r>
              <a:t>Process Gaps:</a:t>
            </a:r>
          </a:p>
          <a:p>
            <a:pPr>
              <a:defRPr sz="1100"/>
            </a:pPr>
            <a:r>
              <a:t>• No formal vendor security assessment program</a:t>
            </a:r>
          </a:p>
          <a:p>
            <a:pPr>
              <a:defRPr sz="1100"/>
            </a:pPr>
            <a:r>
              <a:t>• Fragmented vendor management (IT, Procurement, Business Units)</a:t>
            </a:r>
          </a:p>
          <a:p>
            <a:pPr>
              <a:defRPr sz="1100"/>
            </a:pPr>
            <a:r>
              <a:t>• No dedicated Third-Party Risk Management (TPRM) team</a:t>
            </a:r>
          </a:p>
          <a:p>
            <a:pPr>
              <a:defRPr sz="1100"/>
            </a:pPr>
            <a:r>
              <a:t>• Vendor offboarding process non-existent</a:t>
            </a:r>
          </a:p>
          <a:p>
            <a:pPr>
              <a:spcBef>
                <a:spcPts val="1200"/>
              </a:spcBef>
              <a:defRPr sz="1300" b="1"/>
            </a:pPr>
            <a:r>
              <a:t>Business Impact:</a:t>
            </a:r>
          </a:p>
          <a:p>
            <a:pPr>
              <a:defRPr sz="1100"/>
            </a:pPr>
            <a:r>
              <a:t>Supply chain attack risk (30% of breaches via third parties) | Data breach exposure | CMMC Level 3 gap | SOX third-party service provider gap | FAR/DFARS flow-down non-compliance | $3-5M annual risk</a:t>
            </a:r>
          </a:p>
          <a:p>
            <a:pPr>
              <a:spcBef>
                <a:spcPts val="1200"/>
              </a:spcBef>
              <a:defRPr sz="1100" b="1"/>
            </a:pPr>
            <a:r>
              <a:t>Recommendations: Vendor access review (Dec 2025) | Risk tiering framework (Feb 2026) | TPRM platform (Jun 2026) | CSPM for cloud | Quarterly vendor assessments</a:t>
            </a:r>
          </a:p>
          <a:p>
            <a:pPr algn="ctr">
              <a:spcBef>
                <a:spcPts val="1200"/>
              </a:spcBef>
              <a:defRPr sz="1000">
                <a:solidFill>
                  <a:srgbClr val="6C757D"/>
                </a:solidFill>
              </a:defRPr>
            </a:pPr>
            <a:r>
              <a:t>[GRAPHIC PLACEHOLDER: Network diagram showing 47 vendors with access or funnel showing risk tiers]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CMMC Level 3 Compliance Risk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CERTIFICATION DEADLINE: Q2 2026 | Government-led DIBCAC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34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$2.3B</a:t>
            </a:r>
          </a:p>
          <a:p>
            <a:pPr algn="r">
              <a:defRPr sz="1000">
                <a:solidFill>
                  <a:srgbClr val="FFFFFF"/>
                </a:solidFill>
              </a:defRPr>
            </a:pPr>
            <a:r>
              <a:t>Contracts at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CMMC Level 3 Requirements:</a:t>
            </a:r>
          </a:p>
          <a:p>
            <a:pPr>
              <a:spcBef>
                <a:spcPts val="800"/>
              </a:spcBef>
              <a:defRPr sz="1200" b="1"/>
            </a:pPr>
            <a:r>
              <a:t>Level 2 Foundation (110 controls)</a:t>
            </a:r>
          </a:p>
          <a:p>
            <a:pPr lvl="1">
              <a:defRPr sz="1000"/>
            </a:pPr>
            <a:r>
              <a:t>• Complete NIST SP 800-171 implementation</a:t>
            </a:r>
          </a:p>
          <a:p>
            <a:pPr lvl="1">
              <a:defRPr sz="1000"/>
            </a:pPr>
            <a:r>
              <a:t>• Perfect score C3PAO assessment required first</a:t>
            </a:r>
          </a:p>
          <a:p>
            <a:pPr lvl="1">
              <a:defRPr sz="1000"/>
            </a:pPr>
            <a:r>
              <a:t>• No POA&amp;M items allowed before Level 3</a:t>
            </a:r>
          </a:p>
          <a:p>
            <a:pPr>
              <a:spcBef>
                <a:spcPts val="1000"/>
              </a:spcBef>
              <a:defRPr sz="1200" b="1"/>
            </a:pPr>
            <a:r>
              <a:t>Level 3 Enhanced (24 additional controls)</a:t>
            </a:r>
          </a:p>
          <a:p>
            <a:pPr lvl="1">
              <a:defRPr sz="1000"/>
            </a:pPr>
            <a:r>
              <a:t>• NIST SP 800-172 advanced requirements</a:t>
            </a:r>
          </a:p>
          <a:p>
            <a:pPr lvl="1">
              <a:defRPr sz="1000"/>
            </a:pPr>
            <a:r>
              <a:t>• Protection against APTs</a:t>
            </a:r>
          </a:p>
          <a:p>
            <a:pPr lvl="1">
              <a:defRPr sz="1000"/>
            </a:pPr>
            <a:r>
              <a:t>• Enhanced access control, network security, IR</a:t>
            </a:r>
          </a:p>
          <a:p>
            <a:pPr lvl="1">
              <a:defRPr sz="1000"/>
            </a:pPr>
            <a:r>
              <a:t>• Government-led DIBCAC assessment (not third-party)</a:t>
            </a:r>
          </a:p>
          <a:p>
            <a:pPr>
              <a:spcBef>
                <a:spcPts val="1200"/>
              </a:spcBef>
              <a:defRPr sz="1200" b="1">
                <a:solidFill>
                  <a:srgbClr val="E63946"/>
                </a:solidFill>
              </a:defRPr>
            </a:pPr>
            <a:r>
              <a:t>⚠ CURRENT STATUS:</a:t>
            </a:r>
          </a:p>
          <a:p>
            <a:pPr lvl="1">
              <a:defRPr sz="1000"/>
            </a:pPr>
            <a:r>
              <a:t>4 of 5 findings directly violate CMMC Level 3 requirements. Without immediate remediation, we will NOT achieve certification by Q2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CMMC Gaps by Finding:</a:t>
            </a:r>
          </a:p>
          <a:p>
            <a:pPr>
              <a:spcBef>
                <a:spcPts val="800"/>
              </a:spcBef>
              <a:defRPr sz="1100" b="1"/>
            </a:pPr>
            <a:r>
              <a:t>#1 MFA</a:t>
            </a:r>
          </a:p>
          <a:p>
            <a:pPr lvl="1">
              <a:defRPr sz="800">
                <a:solidFill>
                  <a:srgbClr val="6C757D"/>
                </a:solidFill>
              </a:defRPr>
            </a:pPr>
            <a:r>
              <a:t>NIST SP 800-171 Control 3.5.3</a:t>
            </a:r>
          </a:p>
          <a:p>
            <a:pPr lvl="1">
              <a:defRPr sz="900"/>
            </a:pPr>
            <a:r>
              <a:t>60.5% VPN gap</a:t>
            </a:r>
          </a:p>
          <a:p>
            <a:pPr>
              <a:spcBef>
                <a:spcPts val="800"/>
              </a:spcBef>
              <a:defRPr sz="1100" b="1"/>
            </a:pPr>
            <a:r>
              <a:t>#2 Privileged Access</a:t>
            </a:r>
          </a:p>
          <a:p>
            <a:pPr lvl="1">
              <a:defRPr sz="800">
                <a:solidFill>
                  <a:srgbClr val="6C757D"/>
                </a:solidFill>
              </a:defRPr>
            </a:pPr>
            <a:r>
              <a:t>SP 800-171 3.1.5 | SP 800-172 3.1.1e</a:t>
            </a:r>
          </a:p>
          <a:p>
            <a:pPr lvl="1">
              <a:defRPr sz="900"/>
            </a:pPr>
            <a:r>
              <a:t>No reviews in 30 months</a:t>
            </a:r>
          </a:p>
          <a:p>
            <a:pPr>
              <a:spcBef>
                <a:spcPts val="800"/>
              </a:spcBef>
              <a:defRPr sz="1100" b="1"/>
            </a:pPr>
            <a:r>
              <a:t>#3 Incident Response</a:t>
            </a:r>
          </a:p>
          <a:p>
            <a:pPr lvl="1">
              <a:defRPr sz="800">
                <a:solidFill>
                  <a:srgbClr val="6C757D"/>
                </a:solidFill>
              </a:defRPr>
            </a:pPr>
            <a:r>
              <a:t>IR.L2-3.6.1 | IR.L2-3.6.2</a:t>
            </a:r>
          </a:p>
          <a:p>
            <a:pPr lvl="1">
              <a:defRPr sz="900"/>
            </a:pPr>
            <a:r>
              <a:t>No formal CSIRT</a:t>
            </a:r>
          </a:p>
          <a:p>
            <a:pPr>
              <a:spcBef>
                <a:spcPts val="800"/>
              </a:spcBef>
              <a:defRPr sz="1100" b="1"/>
            </a:pPr>
            <a:r>
              <a:t>#4 Backup/DR</a:t>
            </a:r>
          </a:p>
          <a:p>
            <a:pPr lvl="1">
              <a:defRPr sz="800">
                <a:solidFill>
                  <a:srgbClr val="6C757D"/>
                </a:solidFill>
              </a:defRPr>
            </a:pPr>
            <a:r>
              <a:t>SP 800-172 3.14.1e (L3 SPECIFIC)</a:t>
            </a:r>
          </a:p>
          <a:p>
            <a:pPr lvl="1">
              <a:defRPr sz="900"/>
            </a:pPr>
            <a:r>
              <a:t>No air-gapped backups</a:t>
            </a:r>
          </a:p>
          <a:p>
            <a:pPr>
              <a:spcBef>
                <a:spcPts val="800"/>
              </a:spcBef>
              <a:defRPr sz="1100" b="1"/>
            </a:pPr>
            <a:r>
              <a:t>#5 Vendor Security</a:t>
            </a:r>
          </a:p>
          <a:p>
            <a:pPr lvl="1">
              <a:defRPr sz="800">
                <a:solidFill>
                  <a:srgbClr val="6C757D"/>
                </a:solidFill>
              </a:defRPr>
            </a:pPr>
            <a:r>
              <a:t>CA.L2-3.12.2 | SA.L2-3.13.1</a:t>
            </a:r>
          </a:p>
          <a:p>
            <a:pPr lvl="1">
              <a:defRPr sz="900"/>
            </a:pPr>
            <a:r>
              <a:t>No vendor assessments</a:t>
            </a:r>
          </a:p>
          <a:p>
            <a:pPr algn="ctr">
              <a:spcBef>
                <a:spcPts val="1200"/>
              </a:spcBef>
              <a:defRPr sz="900">
                <a:solidFill>
                  <a:srgbClr val="6C757D"/>
                </a:solidFill>
              </a:defRPr>
            </a:pPr>
            <a:r>
              <a:t>[GRAPHIC PLACEHOLDER: CMMC pyramid showing Level 2→Level 3 or traffic lights showing gaps]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Remediation Roadmap: Three-Phase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solidFill>
            <a:srgbClr val="F0F0F0"/>
          </a:solidFill>
          <a:ln w="25400">
            <a:solidFill>
              <a:srgbClr val="003D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0"/>
              </a:spcBef>
              <a:defRPr sz="1400" b="1">
                <a:solidFill>
                  <a:srgbClr val="6C757D"/>
                </a:solidFill>
              </a:defRPr>
            </a:pPr>
            <a:r>
              <a:t>📊 GANTT CHART / TIMELINE GRAPHIC PLACEHOLDER</a:t>
            </a:r>
          </a:p>
          <a:p>
            <a:pPr algn="ctr">
              <a:defRPr sz="1100">
                <a:solidFill>
                  <a:srgbClr val="6C757D"/>
                </a:solidFill>
              </a:defRPr>
            </a:pPr>
            <a:r>
              <a:t>Recommended: Gantt-style timeline showing all 5 findings with parallel remediation tracks</a:t>
            </a:r>
          </a:p>
          <a:p>
            <a:pPr algn="ctr">
              <a:defRPr sz="1000">
                <a:solidFill>
                  <a:srgbClr val="6C757D"/>
                </a:solidFill>
              </a:defRPr>
            </a:pPr>
            <a:r>
              <a:t>Timeline: Dec 2025 → Jun 2026 | Color-code by severity | Highlight Q2 2026 CMMC deadline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2651760" cy="2286000"/>
          </a:xfrm>
          <a:prstGeom prst="rect">
            <a:avLst/>
          </a:prstGeom>
          <a:solidFill>
            <a:srgbClr val="F8F9FA"/>
          </a:solidFill>
          <a:ln w="381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1187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3946"/>
                </a:solidFill>
              </a:defRPr>
            </a:pPr>
            <a:r>
              <a:t>IMMEDIATE (0-30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77639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/>
            </a:pPr>
            <a:r>
              <a:t>✓ Emergency MFA deployment</a:t>
            </a:r>
          </a:p>
          <a:p>
            <a:pPr>
              <a:spcAft>
                <a:spcPts val="200"/>
              </a:spcAft>
              <a:defRPr sz="900"/>
            </a:pPr>
            <a:r>
              <a:t>✓ Air-gapped backup infrastructure</a:t>
            </a:r>
          </a:p>
          <a:p>
            <a:pPr>
              <a:spcAft>
                <a:spcPts val="200"/>
              </a:spcAft>
              <a:defRPr sz="900"/>
            </a:pPr>
            <a:r>
              <a:t>✓ Privileged access emergency audit</a:t>
            </a:r>
          </a:p>
          <a:p>
            <a:pPr>
              <a:spcAft>
                <a:spcPts val="200"/>
              </a:spcAft>
              <a:defRPr sz="900"/>
            </a:pPr>
            <a:r>
              <a:t>✓ IR plan rapid update</a:t>
            </a:r>
          </a:p>
          <a:p>
            <a:pPr>
              <a:spcAft>
                <a:spcPts val="200"/>
              </a:spcAft>
              <a:defRPr sz="900"/>
            </a:pPr>
            <a:r>
              <a:t>✓ Vendor access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48640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Target: Dec 31,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3474720"/>
            <a:ext cx="2651760" cy="2286000"/>
          </a:xfrm>
          <a:prstGeom prst="rect">
            <a:avLst/>
          </a:prstGeom>
          <a:solidFill>
            <a:srgbClr val="F8F9FA"/>
          </a:solidFill>
          <a:ln w="38100">
            <a:solidFill>
              <a:srgbClr val="F7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361187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77F00"/>
                </a:solidFill>
              </a:defRPr>
            </a:pPr>
            <a:r>
              <a:t>SHORT-TERM (30-90 Days)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3977639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/>
            </a:pPr>
            <a:r>
              <a:t>✓ PAM solution deployment</a:t>
            </a:r>
          </a:p>
          <a:p>
            <a:pPr>
              <a:spcAft>
                <a:spcPts val="200"/>
              </a:spcAft>
              <a:defRPr sz="900"/>
            </a:pPr>
            <a:r>
              <a:t>✓ Off-site backup replication</a:t>
            </a:r>
          </a:p>
          <a:p>
            <a:pPr>
              <a:spcAft>
                <a:spcPts val="200"/>
              </a:spcAft>
              <a:defRPr sz="900"/>
            </a:pPr>
            <a:r>
              <a:t>✓ CSIRT formation &amp; training</a:t>
            </a:r>
          </a:p>
          <a:p>
            <a:pPr>
              <a:spcAft>
                <a:spcPts val="200"/>
              </a:spcAft>
              <a:defRPr sz="900"/>
            </a:pPr>
            <a:r>
              <a:t>✓ Backup restoration testing</a:t>
            </a:r>
          </a:p>
          <a:p>
            <a:pPr>
              <a:spcAft>
                <a:spcPts val="200"/>
              </a:spcAft>
              <a:defRPr sz="900"/>
            </a:pPr>
            <a:r>
              <a:t>✓ Vendor risk tiering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548640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Target: Mar 31,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474720"/>
            <a:ext cx="2651760" cy="2286000"/>
          </a:xfrm>
          <a:prstGeom prst="rect">
            <a:avLst/>
          </a:prstGeom>
          <a:solidFill>
            <a:srgbClr val="F8F9FA"/>
          </a:solidFill>
          <a:ln w="3810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61187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3D7A"/>
                </a:solidFill>
              </a:defRPr>
            </a:pPr>
            <a:r>
              <a:t>MEDIUM-TERM (90-180 Days)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977639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/>
            </a:pPr>
            <a:r>
              <a:t>✓ Zero Trust architecture</a:t>
            </a:r>
          </a:p>
          <a:p>
            <a:pPr>
              <a:spcAft>
                <a:spcPts val="200"/>
              </a:spcAft>
              <a:defRPr sz="900"/>
            </a:pPr>
            <a:r>
              <a:t>✓ Immutable backups</a:t>
            </a:r>
          </a:p>
          <a:p>
            <a:pPr>
              <a:spcAft>
                <a:spcPts val="200"/>
              </a:spcAft>
              <a:defRPr sz="900"/>
            </a:pPr>
            <a:r>
              <a:t>✓ SOAR platform deployment</a:t>
            </a:r>
          </a:p>
          <a:p>
            <a:pPr>
              <a:spcAft>
                <a:spcPts val="200"/>
              </a:spcAft>
              <a:defRPr sz="900"/>
            </a:pPr>
            <a:r>
              <a:t>✓ Business Impact Analysis</a:t>
            </a:r>
          </a:p>
          <a:p>
            <a:pPr>
              <a:spcAft>
                <a:spcPts val="200"/>
              </a:spcAft>
              <a:defRPr sz="900"/>
            </a:pPr>
            <a:r>
              <a:t>✓ TPRM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48640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/>
            </a:pPr>
            <a:r>
              <a:t>Target: Jun 30,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Remediation Roadmap: Detailed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Month-by-Month Breakdown:</a:t>
            </a:r>
          </a:p>
          <a:p>
            <a:pPr>
              <a:spcBef>
                <a:spcPts val="800"/>
              </a:spcBef>
              <a:defRPr sz="1100" b="1">
                <a:solidFill>
                  <a:srgbClr val="003D7A"/>
                </a:solidFill>
              </a:defRPr>
            </a:pPr>
            <a:r>
              <a:t>DECEMBER 2025</a:t>
            </a:r>
          </a:p>
          <a:p>
            <a:pPr lvl="1">
              <a:defRPr sz="900"/>
            </a:pPr>
            <a:r>
              <a:t>• Week 1: Executive approval and budget authorization</a:t>
            </a:r>
          </a:p>
          <a:p>
            <a:pPr lvl="1">
              <a:defRPr sz="900"/>
            </a:pPr>
            <a:r>
              <a:t>• Week 2-3: Emergency MFA deployment to VPN</a:t>
            </a:r>
          </a:p>
          <a:p>
            <a:pPr lvl="1">
              <a:defRPr sz="900"/>
            </a:pPr>
            <a:r>
              <a:t>• Week 3: Air-gapped backup procurement</a:t>
            </a:r>
          </a:p>
          <a:p>
            <a:pPr lvl="1">
              <a:defRPr sz="900"/>
            </a:pPr>
            <a:r>
              <a:t>• Week 3-4: Privileged access audit</a:t>
            </a:r>
          </a:p>
          <a:p>
            <a:pPr lvl="1">
              <a:defRPr sz="900"/>
            </a:pPr>
            <a:r>
              <a:t>• Week 4: Vendor access review</a:t>
            </a:r>
          </a:p>
          <a:p>
            <a:pPr>
              <a:spcBef>
                <a:spcPts val="800"/>
              </a:spcBef>
              <a:defRPr sz="1100" b="1">
                <a:solidFill>
                  <a:srgbClr val="003D7A"/>
                </a:solidFill>
              </a:defRPr>
            </a:pPr>
            <a:r>
              <a:t>JANUARY 2026</a:t>
            </a:r>
          </a:p>
          <a:p>
            <a:pPr lvl="1">
              <a:defRPr sz="900"/>
            </a:pPr>
            <a:r>
              <a:t>• Week 1-2: Air-gapped backup deployment</a:t>
            </a:r>
          </a:p>
          <a:p>
            <a:pPr lvl="1">
              <a:defRPr sz="900"/>
            </a:pPr>
            <a:r>
              <a:t>• Week 2-4: PAM solution evaluation</a:t>
            </a:r>
          </a:p>
          <a:p>
            <a:pPr lvl="1">
              <a:defRPr sz="900"/>
            </a:pPr>
            <a:r>
              <a:t>• Week 3: IR plan update completion</a:t>
            </a:r>
          </a:p>
          <a:p>
            <a:pPr lvl="1">
              <a:defRPr sz="900"/>
            </a:pPr>
            <a:r>
              <a:t>• Week 4: Backup monitoring deployment</a:t>
            </a:r>
          </a:p>
          <a:p>
            <a:pPr>
              <a:spcBef>
                <a:spcPts val="800"/>
              </a:spcBef>
              <a:defRPr sz="1100" b="1">
                <a:solidFill>
                  <a:srgbClr val="003D7A"/>
                </a:solidFill>
              </a:defRPr>
            </a:pPr>
            <a:r>
              <a:t>FEBRUARY 2026</a:t>
            </a:r>
          </a:p>
          <a:p>
            <a:pPr lvl="1">
              <a:defRPr sz="900"/>
            </a:pPr>
            <a:r>
              <a:t>• Week 1-2: PAM procurement</a:t>
            </a:r>
          </a:p>
          <a:p>
            <a:pPr lvl="1">
              <a:defRPr sz="900"/>
            </a:pPr>
            <a:r>
              <a:t>• Week 2: Off-site backup replication config</a:t>
            </a:r>
          </a:p>
          <a:p>
            <a:pPr lvl="1">
              <a:defRPr sz="900"/>
            </a:pPr>
            <a:r>
              <a:t>• Week 3-4: CSIRT team formation</a:t>
            </a:r>
          </a:p>
          <a:p>
            <a:pPr lvl="1">
              <a:defRPr sz="900"/>
            </a:pPr>
            <a:r>
              <a:t>• Week 4: First MUSE restoration test</a:t>
            </a:r>
          </a:p>
          <a:p>
            <a:pPr lvl="1">
              <a:defRPr sz="900"/>
            </a:pPr>
            <a:r>
              <a:t>• Week 4: Vendor risk tiering framework</a:t>
            </a:r>
          </a:p>
          <a:p>
            <a:pPr>
              <a:spcBef>
                <a:spcPts val="800"/>
              </a:spcBef>
              <a:defRPr sz="1100" b="1">
                <a:solidFill>
                  <a:srgbClr val="003D7A"/>
                </a:solidFill>
              </a:defRPr>
            </a:pPr>
            <a:r>
              <a:t>MARCH 2026</a:t>
            </a:r>
          </a:p>
          <a:p>
            <a:pPr lvl="1">
              <a:defRPr sz="900"/>
            </a:pPr>
            <a:r>
              <a:t>• Week 1-4: PAM deployment (phased)</a:t>
            </a:r>
          </a:p>
          <a:p>
            <a:pPr lvl="1">
              <a:defRPr sz="900"/>
            </a:pPr>
            <a:r>
              <a:t>• Week 2: CSIRT training completion</a:t>
            </a:r>
          </a:p>
          <a:p>
            <a:pPr lvl="1">
              <a:defRPr sz="900"/>
            </a:pPr>
            <a:r>
              <a:t>• Week 3: EDR expansion to 100%</a:t>
            </a:r>
          </a:p>
          <a:p>
            <a:pPr lvl="1">
              <a:defRPr sz="900"/>
            </a:pPr>
            <a:r>
              <a:t>• Week 4: First quarterly access review</a:t>
            </a:r>
          </a:p>
          <a:p>
            <a:pPr>
              <a:spcBef>
                <a:spcPts val="800"/>
              </a:spcBef>
              <a:defRPr sz="1100" b="1">
                <a:solidFill>
                  <a:srgbClr val="003D7A"/>
                </a:solidFill>
              </a:defRPr>
            </a:pPr>
            <a:r>
              <a:t>APRIL 2026</a:t>
            </a:r>
          </a:p>
          <a:p>
            <a:pPr lvl="1">
              <a:defRPr sz="900"/>
            </a:pPr>
            <a:r>
              <a:t>• Week 1-2: Zero Trust architecture design</a:t>
            </a:r>
          </a:p>
          <a:p>
            <a:pPr lvl="1">
              <a:defRPr sz="900"/>
            </a:pPr>
            <a:r>
              <a:t>• Week 2-4: Immutable backup configuration</a:t>
            </a:r>
          </a:p>
          <a:p>
            <a:pPr lvl="1">
              <a:defRPr sz="900"/>
            </a:pPr>
            <a:r>
              <a:t>• Week 3: SOAR platform vendor selection</a:t>
            </a:r>
          </a:p>
          <a:p>
            <a:pPr lvl="1">
              <a:defRPr sz="900"/>
            </a:pPr>
            <a:r>
              <a:t>• Week 4: Business Impact Analysis kickoff</a:t>
            </a:r>
          </a:p>
          <a:p>
            <a:pPr>
              <a:spcBef>
                <a:spcPts val="800"/>
              </a:spcBef>
              <a:defRPr sz="1100" b="1">
                <a:solidFill>
                  <a:srgbClr val="003D7A"/>
                </a:solidFill>
              </a:defRPr>
            </a:pPr>
            <a:r>
              <a:t>MAY 2026</a:t>
            </a:r>
          </a:p>
          <a:p>
            <a:pPr lvl="1">
              <a:defRPr sz="900"/>
            </a:pPr>
            <a:r>
              <a:t>• Week 1-3: SOAR platform deployment</a:t>
            </a:r>
          </a:p>
          <a:p>
            <a:pPr lvl="1">
              <a:defRPr sz="900"/>
            </a:pPr>
            <a:r>
              <a:t>• Week 2: BIA completion</a:t>
            </a:r>
          </a:p>
          <a:p>
            <a:pPr lvl="1">
              <a:defRPr sz="900"/>
            </a:pPr>
            <a:r>
              <a:t>• Week 3-4: TPRM platform procurement</a:t>
            </a:r>
          </a:p>
          <a:p>
            <a:pPr lvl="1">
              <a:defRPr sz="900"/>
            </a:pPr>
            <a:r>
              <a:t>• Week 4: First tabletop exercise</a:t>
            </a:r>
          </a:p>
          <a:p>
            <a:pPr>
              <a:spcBef>
                <a:spcPts val="800"/>
              </a:spcBef>
              <a:defRPr sz="1100" b="1">
                <a:solidFill>
                  <a:srgbClr val="003D7A"/>
                </a:solidFill>
              </a:defRPr>
            </a:pPr>
            <a:r>
              <a:t>JUNE 2026</a:t>
            </a:r>
          </a:p>
          <a:p>
            <a:pPr lvl="1">
              <a:defRPr sz="900"/>
            </a:pPr>
            <a:r>
              <a:t>• Week 1-2: TPRM platform deployment</a:t>
            </a:r>
          </a:p>
          <a:p>
            <a:pPr lvl="1">
              <a:defRPr sz="900"/>
            </a:pPr>
            <a:r>
              <a:t>• Week 2: CMMC Program Office establishment</a:t>
            </a:r>
          </a:p>
          <a:p>
            <a:pPr lvl="1">
              <a:defRPr sz="900"/>
            </a:pPr>
            <a:r>
              <a:t>• Week 3: Second quarterly access review</a:t>
            </a:r>
          </a:p>
          <a:p>
            <a:pPr lvl="1">
              <a:defRPr sz="900"/>
            </a:pPr>
            <a:r>
              <a:t>• Week 4: Final validation and CMMC prep</a:t>
            </a:r>
          </a:p>
          <a:p>
            <a:pPr algn="ctr">
              <a:spcBef>
                <a:spcPts val="1200"/>
              </a:spcBef>
              <a:defRPr sz="1000">
                <a:solidFill>
                  <a:srgbClr val="6C757D"/>
                </a:solidFill>
              </a:defRPr>
            </a:pPr>
            <a:r>
              <a:t>[GRAPHIC PLACEHOLDER: Calendar view or detailed Gantt chart showing monthly activities]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Investment Required &amp; ROI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D7A"/>
                </a:solidFill>
              </a:defRPr>
            </a:pPr>
            <a:r>
              <a:t>Estimated Investment: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E63946"/>
                </a:solidFill>
              </a:defRPr>
            </a:pPr>
            <a:r>
              <a:t>Total First-Year: $4.5M - $5.9M</a:t>
            </a:r>
          </a:p>
          <a:p>
            <a:pPr>
              <a:spcBef>
                <a:spcPts val="1000"/>
              </a:spcBef>
              <a:defRPr sz="1100" b="1"/>
            </a:pPr>
            <a:r>
              <a:t>Technology Solutions</a:t>
            </a:r>
          </a:p>
          <a:p>
            <a:pPr lvl="1">
              <a:defRPr sz="1200" b="1">
                <a:solidFill>
                  <a:srgbClr val="003D7A"/>
                </a:solidFill>
              </a:defRPr>
            </a:pPr>
            <a:r>
              <a:t>$2.8M - $3.5M</a:t>
            </a:r>
          </a:p>
          <a:p>
            <a:pPr lvl="2">
              <a:defRPr sz="900"/>
            </a:pPr>
            <a:r>
              <a:t>• PAM, SOAR, TPRM platforms</a:t>
            </a:r>
          </a:p>
          <a:p>
            <a:pPr lvl="2">
              <a:defRPr sz="900"/>
            </a:pPr>
            <a:r>
              <a:t>• Air-gapped backup infrastructure</a:t>
            </a:r>
          </a:p>
          <a:p>
            <a:pPr lvl="2">
              <a:defRPr sz="900"/>
            </a:pPr>
            <a:r>
              <a:t>• EDR, SIEM enhancements</a:t>
            </a:r>
          </a:p>
          <a:p>
            <a:pPr>
              <a:spcBef>
                <a:spcPts val="1000"/>
              </a:spcBef>
              <a:defRPr sz="1100" b="1"/>
            </a:pPr>
            <a:r>
              <a:t>Additional Staffing</a:t>
            </a:r>
          </a:p>
          <a:p>
            <a:pPr lvl="1">
              <a:defRPr sz="1200" b="1">
                <a:solidFill>
                  <a:srgbClr val="003D7A"/>
                </a:solidFill>
              </a:defRPr>
            </a:pPr>
            <a:r>
              <a:t>$850K - $1.2M/year</a:t>
            </a:r>
          </a:p>
          <a:p>
            <a:pPr lvl="2">
              <a:defRPr sz="900"/>
            </a:pPr>
            <a:r>
              <a:t>• Backup admins (2 FTEs)</a:t>
            </a:r>
          </a:p>
          <a:p>
            <a:pPr lvl="2">
              <a:defRPr sz="900"/>
            </a:pPr>
            <a:r>
              <a:t>• CSIRT members (4 FTEs)</a:t>
            </a:r>
          </a:p>
          <a:p>
            <a:pPr lvl="2">
              <a:defRPr sz="900"/>
            </a:pPr>
            <a:r>
              <a:t>• Vendor risk analysts (2 FTEs)</a:t>
            </a:r>
          </a:p>
          <a:p>
            <a:pPr>
              <a:spcBef>
                <a:spcPts val="1000"/>
              </a:spcBef>
              <a:defRPr sz="1100" b="1"/>
            </a:pPr>
            <a:r>
              <a:t>External Consultants</a:t>
            </a:r>
          </a:p>
          <a:p>
            <a:pPr lvl="1">
              <a:defRPr sz="1200" b="1">
                <a:solidFill>
                  <a:srgbClr val="003D7A"/>
                </a:solidFill>
              </a:defRPr>
            </a:pPr>
            <a:r>
              <a:t>$600K - $900K</a:t>
            </a:r>
          </a:p>
          <a:p>
            <a:pPr lvl="2">
              <a:defRPr sz="900"/>
            </a:pPr>
            <a:r>
              <a:t>• Forensic retainers</a:t>
            </a:r>
          </a:p>
          <a:p>
            <a:pPr lvl="2">
              <a:defRPr sz="900"/>
            </a:pPr>
            <a:r>
              <a:t>• CMMC readiness assessment</a:t>
            </a:r>
          </a:p>
          <a:p>
            <a:pPr lvl="2">
              <a:defRPr sz="900"/>
            </a:pPr>
            <a:r>
              <a:t>• Zero Trust design</a:t>
            </a:r>
          </a:p>
          <a:p>
            <a:pPr>
              <a:spcBef>
                <a:spcPts val="1000"/>
              </a:spcBef>
              <a:defRPr sz="1100" b="1"/>
            </a:pPr>
            <a:r>
              <a:t>Training &amp; Awareness</a:t>
            </a:r>
          </a:p>
          <a:p>
            <a:pPr lvl="1">
              <a:defRPr sz="1200" b="1">
                <a:solidFill>
                  <a:srgbClr val="003D7A"/>
                </a:solidFill>
              </a:defRPr>
            </a:pPr>
            <a:r>
              <a:t>$200K - $300K</a:t>
            </a:r>
          </a:p>
          <a:p>
            <a:pPr lvl="2">
              <a:defRPr sz="900"/>
            </a:pPr>
            <a:r>
              <a:t>• IR training &amp; tabletops</a:t>
            </a:r>
          </a:p>
          <a:p>
            <a:pPr lvl="2">
              <a:defRPr sz="900"/>
            </a:pPr>
            <a:r>
              <a:t>• Security awareness</a:t>
            </a:r>
          </a:p>
          <a:p>
            <a:pPr lvl="2">
              <a:defRPr sz="900"/>
            </a:pPr>
            <a:r>
              <a:t>• Technical 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D7A"/>
                </a:solidFill>
              </a:defRPr>
            </a:pPr>
            <a:r>
              <a:t>ROI Justification:</a:t>
            </a:r>
          </a:p>
          <a:p>
            <a:pPr>
              <a:spcBef>
                <a:spcPts val="800"/>
              </a:spcBef>
              <a:defRPr sz="1300" b="1"/>
            </a:pPr>
            <a:r>
              <a:t>Risk Mitigation Value:</a:t>
            </a:r>
          </a:p>
          <a:p>
            <a:pPr>
              <a:spcBef>
                <a:spcPts val="800"/>
              </a:spcBef>
              <a:defRPr sz="1000" b="1"/>
            </a:pPr>
            <a:r>
              <a:t>Defense Contracts Protected</a:t>
            </a:r>
          </a:p>
          <a:p>
            <a:pPr lvl="1">
              <a:defRPr sz="1400" b="1">
                <a:solidFill>
                  <a:srgbClr val="06A77D"/>
                </a:solidFill>
              </a:defRPr>
            </a:pPr>
            <a:r>
              <a:t>$2.3B</a:t>
            </a:r>
          </a:p>
          <a:p>
            <a:pPr lvl="1">
              <a:defRPr sz="900"/>
            </a:pPr>
            <a:r>
              <a:t>Maintaining CMMC Level 3 eligibility</a:t>
            </a:r>
          </a:p>
          <a:p>
            <a:pPr>
              <a:spcBef>
                <a:spcPts val="800"/>
              </a:spcBef>
              <a:defRPr sz="1000" b="1"/>
            </a:pPr>
            <a:r>
              <a:t>Future Incident Prevention</a:t>
            </a:r>
          </a:p>
          <a:p>
            <a:pPr lvl="1">
              <a:defRPr sz="1400" b="1">
                <a:solidFill>
                  <a:srgbClr val="06A77D"/>
                </a:solidFill>
              </a:defRPr>
            </a:pPr>
            <a:r>
              <a:t>$50-100M</a:t>
            </a:r>
          </a:p>
          <a:p>
            <a:pPr lvl="1">
              <a:defRPr sz="900"/>
            </a:pPr>
            <a:r>
              <a:t>Avoiding another ransomware attack</a:t>
            </a:r>
          </a:p>
          <a:p>
            <a:pPr>
              <a:spcBef>
                <a:spcPts val="800"/>
              </a:spcBef>
              <a:defRPr sz="1000" b="1"/>
            </a:pPr>
            <a:r>
              <a:t>Regulatory Penalty Avoidance</a:t>
            </a:r>
          </a:p>
          <a:p>
            <a:pPr lvl="1">
              <a:defRPr sz="1400" b="1">
                <a:solidFill>
                  <a:srgbClr val="06A77D"/>
                </a:solidFill>
              </a:defRPr>
            </a:pPr>
            <a:r>
              <a:t>$10-25M</a:t>
            </a:r>
          </a:p>
          <a:p>
            <a:pPr lvl="1">
              <a:defRPr sz="900"/>
            </a:pPr>
            <a:r>
              <a:t>GDPR, SOX, CMMC penalties</a:t>
            </a:r>
          </a:p>
          <a:p>
            <a:pPr>
              <a:spcBef>
                <a:spcPts val="800"/>
              </a:spcBef>
              <a:defRPr sz="1000" b="1"/>
            </a:pPr>
            <a:r>
              <a:t>Insurance Premium Savings</a:t>
            </a:r>
          </a:p>
          <a:p>
            <a:pPr lvl="1">
              <a:defRPr sz="1400" b="1">
                <a:solidFill>
                  <a:srgbClr val="06A77D"/>
                </a:solidFill>
              </a:defRPr>
            </a:pPr>
            <a:r>
              <a:t>$2-5M/year</a:t>
            </a:r>
          </a:p>
          <a:p>
            <a:pPr lvl="1">
              <a:defRPr sz="900"/>
            </a:pPr>
            <a:r>
              <a:t>Improved security posture</a:t>
            </a:r>
          </a:p>
          <a:p>
            <a:pPr>
              <a:spcBef>
                <a:spcPts val="800"/>
              </a:spcBef>
              <a:defRPr sz="1000" b="1"/>
            </a:pPr>
            <a:r>
              <a:t>Customer Retention</a:t>
            </a:r>
          </a:p>
          <a:p>
            <a:pPr lvl="1">
              <a:defRPr sz="1400" b="1">
                <a:solidFill>
                  <a:srgbClr val="06A77D"/>
                </a:solidFill>
              </a:defRPr>
            </a:pPr>
            <a:r>
              <a:t>$100M+</a:t>
            </a:r>
          </a:p>
          <a:p>
            <a:pPr lvl="1">
              <a:defRPr sz="900"/>
            </a:pPr>
            <a:r>
              <a:t>Maintaining trust with airports/airlines</a:t>
            </a:r>
          </a:p>
          <a:p>
            <a:pPr>
              <a:spcBef>
                <a:spcPts val="1200"/>
              </a:spcBef>
              <a:defRPr sz="1200" b="1">
                <a:solidFill>
                  <a:srgbClr val="E63946"/>
                </a:solidFill>
              </a:defRPr>
            </a:pPr>
            <a:r>
              <a:t>Simple ROI:</a:t>
            </a:r>
          </a:p>
          <a:p>
            <a:pPr lvl="1">
              <a:defRPr sz="1100"/>
            </a:pPr>
            <a:r>
              <a:t>Preventing just 0.2% of potential losses justifies 100% of investment</a:t>
            </a:r>
          </a:p>
          <a:p>
            <a:pPr algn="ctr">
              <a:spcBef>
                <a:spcPts val="1000"/>
              </a:spcBef>
              <a:defRPr sz="900">
                <a:solidFill>
                  <a:srgbClr val="6C757D"/>
                </a:solidFill>
              </a:defRPr>
            </a:pPr>
            <a:r>
              <a:t>[GRAPHIC PLACEHOLDER: Investment vs Risk comparison chart or ROI visual]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Recommendations &amp; Governance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D7A"/>
                </a:solidFill>
              </a:defRPr>
            </a:pPr>
            <a:r>
              <a:t>Management Recommendations:</a:t>
            </a:r>
          </a:p>
          <a:p>
            <a:pPr>
              <a:spcBef>
                <a:spcPts val="1000"/>
              </a:spcBef>
              <a:defRPr sz="1200" b="1">
                <a:solidFill>
                  <a:srgbClr val="003D7A"/>
                </a:solidFill>
              </a:defRPr>
            </a:pPr>
            <a:r>
              <a:t>1. IMMEDIATE ACTIONS (This Week)</a:t>
            </a:r>
          </a:p>
          <a:p>
            <a:pPr lvl="1">
              <a:spcAft>
                <a:spcPts val="200"/>
              </a:spcAft>
              <a:defRPr sz="1000"/>
            </a:pPr>
            <a:r>
              <a:t>• Approve emergency budget ($1.5M for Phase 1)</a:t>
            </a:r>
          </a:p>
          <a:p>
            <a:pPr lvl="1">
              <a:spcAft>
                <a:spcPts val="200"/>
              </a:spcAft>
              <a:defRPr sz="1000"/>
            </a:pPr>
            <a:r>
              <a:t>• Authorize emergency MFA and backup deployment</a:t>
            </a:r>
          </a:p>
          <a:p>
            <a:pPr lvl="1">
              <a:spcAft>
                <a:spcPts val="200"/>
              </a:spcAft>
              <a:defRPr sz="1000"/>
            </a:pPr>
            <a:r>
              <a:t>• Establish executive steering committee</a:t>
            </a:r>
          </a:p>
          <a:p>
            <a:pPr>
              <a:spcBef>
                <a:spcPts val="1000"/>
              </a:spcBef>
              <a:defRPr sz="1200" b="1">
                <a:solidFill>
                  <a:srgbClr val="003D7A"/>
                </a:solidFill>
              </a:defRPr>
            </a:pPr>
            <a:r>
              <a:t>2. GOVERNANCE &amp; ACCOUNTABILITY (Next 30 Days)</a:t>
            </a:r>
          </a:p>
          <a:p>
            <a:pPr lvl="1">
              <a:spcAft>
                <a:spcPts val="200"/>
              </a:spcAft>
              <a:defRPr sz="1000"/>
            </a:pPr>
            <a:r>
              <a:t>• Establish dedicated CMMC Program Office (CFO/CIO oversight)</a:t>
            </a:r>
          </a:p>
          <a:p>
            <a:pPr lvl="1">
              <a:spcAft>
                <a:spcPts val="200"/>
              </a:spcAft>
              <a:defRPr sz="1000"/>
            </a:pPr>
            <a:r>
              <a:t>• Assign clear ownership for each finding</a:t>
            </a:r>
          </a:p>
          <a:p>
            <a:pPr lvl="1">
              <a:spcAft>
                <a:spcPts val="200"/>
              </a:spcAft>
              <a:defRPr sz="1000"/>
            </a:pPr>
            <a:r>
              <a:t>• Implement KPI dashboard for remediation tracking</a:t>
            </a:r>
          </a:p>
          <a:p>
            <a:pPr lvl="1">
              <a:spcAft>
                <a:spcPts val="200"/>
              </a:spcAft>
              <a:defRPr sz="1000"/>
            </a:pPr>
            <a:r>
              <a:t>• Monthly Audit Committee reporting</a:t>
            </a:r>
          </a:p>
          <a:p>
            <a:pPr>
              <a:spcBef>
                <a:spcPts val="1000"/>
              </a:spcBef>
              <a:defRPr sz="1200" b="1">
                <a:solidFill>
                  <a:srgbClr val="003D7A"/>
                </a:solidFill>
              </a:defRPr>
            </a:pPr>
            <a:r>
              <a:t>3. STRATEGIC INITIATIVES (Next 90 Days)</a:t>
            </a:r>
          </a:p>
          <a:p>
            <a:pPr lvl="1">
              <a:spcAft>
                <a:spcPts val="200"/>
              </a:spcAft>
              <a:defRPr sz="1000"/>
            </a:pPr>
            <a:r>
              <a:t>• Conduct comprehensive Business Impact Analysis</a:t>
            </a:r>
          </a:p>
          <a:p>
            <a:pPr lvl="1">
              <a:spcAft>
                <a:spcPts val="200"/>
              </a:spcAft>
              <a:defRPr sz="1000"/>
            </a:pPr>
            <a:r>
              <a:t>• Develop Zero Trust architecture roadmap</a:t>
            </a:r>
          </a:p>
          <a:p>
            <a:pPr lvl="1">
              <a:spcAft>
                <a:spcPts val="200"/>
              </a:spcAft>
              <a:defRPr sz="1000"/>
            </a:pPr>
            <a:r>
              <a:t>• Re-evaluate security staffing (target: 20-25 FTEs)</a:t>
            </a:r>
          </a:p>
          <a:p>
            <a:pPr lvl="1">
              <a:spcAft>
                <a:spcPts val="200"/>
              </a:spcAft>
              <a:defRPr sz="1000"/>
            </a:pPr>
            <a:r>
              <a:t>• Establish Risk Management Committee at Board level</a:t>
            </a:r>
          </a:p>
          <a:p>
            <a:pPr>
              <a:spcBef>
                <a:spcPts val="1000"/>
              </a:spcBef>
              <a:defRPr sz="1200" b="1">
                <a:solidFill>
                  <a:srgbClr val="003D7A"/>
                </a:solidFill>
              </a:defRPr>
            </a:pPr>
            <a:r>
              <a:t>4. CULTURAL TRANSFORMATION (Ongoing)</a:t>
            </a:r>
          </a:p>
          <a:p>
            <a:pPr lvl="1">
              <a:spcAft>
                <a:spcPts val="200"/>
              </a:spcAft>
              <a:defRPr sz="1000"/>
            </a:pPr>
            <a:r>
              <a:t>• Shift from reactive to proactive security culture</a:t>
            </a:r>
          </a:p>
          <a:p>
            <a:pPr lvl="1">
              <a:spcAft>
                <a:spcPts val="200"/>
              </a:spcAft>
              <a:defRPr sz="1000"/>
            </a:pPr>
            <a:r>
              <a:t>• Elevate security to strategic business enabler</a:t>
            </a:r>
          </a:p>
          <a:p>
            <a:pPr lvl="1">
              <a:spcAft>
                <a:spcPts val="200"/>
              </a:spcAft>
              <a:defRPr sz="1000"/>
            </a:pPr>
            <a:r>
              <a:t>• Integrate security into all technology decisions</a:t>
            </a:r>
          </a:p>
          <a:p>
            <a:pPr lvl="1">
              <a:spcAft>
                <a:spcPts val="200"/>
              </a:spcAft>
              <a:defRPr sz="1000"/>
            </a:pPr>
            <a:r>
              <a:t>• Executive security awareness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212080"/>
            <a:ext cx="8229600" cy="6400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3492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Critical Success Factors: ✓ Executive Commitment  ✓ Adequate Resources  ✓ Clear Accountability  ✓ Monthly Tracking  ✓ CMMC Program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035040"/>
            <a:ext cx="8229600" cy="6400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DECISION REQUIRED: Approve emergency budget and authorize immediate remediation by December 15,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Positive Findings - What's Working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Technical Controls:</a:t>
            </a:r>
          </a:p>
          <a:p>
            <a:pPr>
              <a:spcBef>
                <a:spcPts val="800"/>
              </a:spcBef>
              <a:defRPr sz="1100" b="1"/>
            </a:pPr>
            <a:r>
              <a:t>Network Security</a:t>
            </a:r>
          </a:p>
          <a:p>
            <a:pPr lvl="1">
              <a:defRPr sz="900"/>
            </a:pPr>
            <a:r>
              <a:t>Strong segmentation; DMZ properly configured; IPS actively blocking threats</a:t>
            </a:r>
          </a:p>
          <a:p>
            <a:pPr>
              <a:spcBef>
                <a:spcPts val="800"/>
              </a:spcBef>
              <a:defRPr sz="1100" b="1"/>
            </a:pPr>
            <a:r>
              <a:t>Patch Management</a:t>
            </a:r>
          </a:p>
          <a:p>
            <a:pPr lvl="1">
              <a:defRPr sz="900"/>
            </a:pPr>
            <a:r>
              <a:t>94% compliance within 30 days; automated patching; well-documented processes</a:t>
            </a:r>
          </a:p>
          <a:p>
            <a:pPr>
              <a:spcBef>
                <a:spcPts val="800"/>
              </a:spcBef>
              <a:defRPr sz="1100" b="1"/>
            </a:pPr>
            <a:r>
              <a:t>Encryption</a:t>
            </a:r>
          </a:p>
          <a:p>
            <a:pPr lvl="1">
              <a:defRPr sz="900"/>
            </a:pPr>
            <a:r>
              <a:t>Data-at-rest encryption (AES-256); TLS 1.2+ enforced; proper key management</a:t>
            </a:r>
          </a:p>
          <a:p>
            <a:pPr>
              <a:spcBef>
                <a:spcPts val="800"/>
              </a:spcBef>
              <a:defRPr sz="1100" b="1"/>
            </a:pPr>
            <a:r>
              <a:t>Active Directory</a:t>
            </a:r>
          </a:p>
          <a:p>
            <a:pPr lvl="1">
              <a:defRPr sz="900"/>
            </a:pPr>
            <a:r>
              <a:t>Well-structured OU design; GPOs properly configured; password complexity meets NIST</a:t>
            </a:r>
          </a:p>
          <a:p>
            <a:pPr>
              <a:spcBef>
                <a:spcPts val="800"/>
              </a:spcBef>
              <a:defRPr sz="1100" b="1"/>
            </a:pPr>
            <a:r>
              <a:t>Physical Security</a:t>
            </a:r>
          </a:p>
          <a:p>
            <a:pPr lvl="1">
              <a:defRPr sz="900"/>
            </a:pPr>
            <a:r>
              <a:t>Badge access; CCTV monitoring; visitor escort; proper equipment disposal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D7A"/>
                </a:solidFill>
              </a:defRPr>
            </a:pPr>
            <a:r>
              <a:t>Process &amp; Culture:</a:t>
            </a:r>
          </a:p>
          <a:p>
            <a:pPr>
              <a:spcBef>
                <a:spcPts val="800"/>
              </a:spcBef>
              <a:defRPr sz="1100" b="1"/>
            </a:pPr>
            <a:r>
              <a:t>Security Awareness</a:t>
            </a:r>
          </a:p>
          <a:p>
            <a:pPr lvl="1">
              <a:defRPr sz="900"/>
            </a:pPr>
            <a:r>
              <a:t>98% training completion; monthly phishing simulations; improving scores</a:t>
            </a:r>
          </a:p>
          <a:p>
            <a:pPr>
              <a:spcBef>
                <a:spcPts val="800"/>
              </a:spcBef>
              <a:defRPr sz="1100" b="1"/>
            </a:pPr>
            <a:r>
              <a:t>Change Management</a:t>
            </a:r>
          </a:p>
          <a:p>
            <a:pPr lvl="1">
              <a:defRPr sz="900"/>
            </a:pPr>
            <a:r>
              <a:t>Formal CAB with weekly meetings; security review required; rollback procedures tested</a:t>
            </a:r>
          </a:p>
          <a:p>
            <a:pPr>
              <a:spcBef>
                <a:spcPts val="800"/>
              </a:spcBef>
              <a:defRPr sz="1100" b="1"/>
            </a:pPr>
            <a:r>
              <a:t>Vulnerability Management</a:t>
            </a:r>
          </a:p>
          <a:p>
            <a:pPr lvl="1">
              <a:defRPr sz="900"/>
            </a:pPr>
            <a:r>
              <a:t>Quarterly scans; annual penetration testing; prioritization by CVSS; remediation tracking</a:t>
            </a:r>
          </a:p>
          <a:p>
            <a:pPr>
              <a:spcBef>
                <a:spcPts val="800"/>
              </a:spcBef>
              <a:defRPr sz="1100" b="1"/>
            </a:pPr>
            <a:r>
              <a:t>Documentation</a:t>
            </a:r>
          </a:p>
          <a:p>
            <a:pPr lvl="1">
              <a:defRPr sz="900"/>
            </a:pPr>
            <a:r>
              <a:t>IT policies documented; system architecture diagrams available; DR procedures documented</a:t>
            </a:r>
          </a:p>
          <a:p>
            <a:pPr>
              <a:spcBef>
                <a:spcPts val="1200"/>
              </a:spcBef>
              <a:defRPr sz="1200" b="1">
                <a:solidFill>
                  <a:srgbClr val="06A77D"/>
                </a:solidFill>
              </a:defRPr>
            </a:pPr>
            <a:r>
              <a:t>Areas of Excellence:</a:t>
            </a:r>
          </a:p>
          <a:p>
            <a:pPr lvl="1">
              <a:defRPr sz="1000"/>
            </a:pPr>
            <a:r>
              <a:t>Encryption exceeds standards | Network segmentation reduces blast radius | Patch management is mature | Security awareness participation is excellent</a:t>
            </a:r>
          </a:p>
          <a:p>
            <a:pPr>
              <a:spcBef>
                <a:spcPts val="1000"/>
              </a:spcBef>
              <a:defRPr sz="1000" b="1"/>
            </a:pPr>
            <a:r>
              <a:t>These strengths provide a solid foundation for remediation. The team is capable and committed; they need resources and executive support.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Contact Information: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Noble Antwi</a:t>
            </a:r>
          </a:p>
          <a:p>
            <a:pPr algn="ctr">
              <a:spcAft>
                <a:spcPts val="1600"/>
              </a:spcAft>
              <a:defRPr sz="1400">
                <a:solidFill>
                  <a:srgbClr val="FFFFFF"/>
                </a:solidFill>
              </a:defRPr>
            </a:pPr>
            <a:r>
              <a:t>Lead IT Auditor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Krupa Prakash Panchal</a:t>
            </a:r>
          </a:p>
          <a:p>
            <a:pPr algn="ctr">
              <a:spcAft>
                <a:spcPts val="1600"/>
              </a:spcAft>
              <a:defRPr sz="1400">
                <a:solidFill>
                  <a:srgbClr val="FFFFFF"/>
                </a:solidFill>
              </a:defRPr>
            </a:pPr>
            <a:r>
              <a:t>Senior IT Auditor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Illinois Institute of Technology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Master's in Cybersecurity &amp; Digital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